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embeddedFontLst>
    <p:embeddedFont>
      <p:font typeface="Poppins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1" roundtripDataSignature="AMtx7miT6Vx8j5FChh73iNyEsIIdZF3x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Poppins-bold.fntdata"/><Relationship Id="rId23" Type="http://schemas.openxmlformats.org/officeDocument/2006/relationships/font" Target="fonts/Poppi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-boldItalic.fntdata"/><Relationship Id="rId25" Type="http://schemas.openxmlformats.org/officeDocument/2006/relationships/font" Target="fonts/Poppins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customschemas.google.com/relationships/presentationmetadata" Target="metadata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There are three activities this week.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First, apply the six-check Validation Checklist to a real AI-generated QA artifact.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Second, find a real example where AI was wrong.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Third, practice validating AI output before accepting a higher-stakes QA change or decision.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These activities build one habit: stop, validate, then act.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I will use Login with OTP/2FA because it is familiar and gives us useful positive, negative, authentication, and security scenarios.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For manual testers, we can validate AI-generated test cases and expected results.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For automation testers, we can validate generated scripts, selectors, assertions, waits, and suggested fixes.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important point is that this is only a demonstration. Your async artifact comes from your own real work.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These are the six checks participants must remember.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Source asks where the information came from.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Scope asks whether the output matches the actual feature and context.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Spec checks the requirements.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Cross-check looks for independent evidence.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Run means actually executing the important manual steps or automated test.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Log means recording what happened while the work was being performed.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For Activity 1, participants select a real AI-generated artifact.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Examples include a test script, suggested fix, generated assertion, test case, exploratory artifact, or defect analysis.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six checks must all be performed and documented. At least one check must actually catch something. The activity must be logged the same day, not reconstructed later.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participant's artifact should come from actual QA work.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Manual examples include test cases, exploratory charters, expected results, and defect analysis.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Automation examples include test scripts, assertions, selectors, test data, suggested fixes, or framework code.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Login example from class is not the required deliverable.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There are four minimum requirements.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First, it must be a real AI-generated artifact.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Second, all six checks must have documented outcomes.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Third, at least one check must actually catch something. This could be a fabricated selector, wrong assertion, scope issue, missing edge case, or incorrect expected result.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Fourth, the activity must be logged the same day.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second activity is not about proving that AI is bad. It is about developing the ability to recognize when AI is wrong.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Look for an actual mistake while working: an incorrect expected result, fabricated selector, hallucinated API, flaky assertion, missing edge case, or incorrect suggested fix.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Capture the exact output and the evidence that disproves it.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A good failure case should be reproducible and evidence-based.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Do not paraphrase what AI said. Capture the exact output.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Then show what was actually true and how you proved it.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Finally explain what you did differently because of the discovery.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Activity 3 changes the timing of validation.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Post-hoc means we accept the AI output first and discover problems later.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Pre-acceptance means we decide what must be confirmed before accepting the output.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This is especially important for shared automation, CI, common helpers, and fixes that other testers depend on. It also applies to manual QA artifacts used for sign-off or release decisions.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Choose one real shared-suite or CI-facing change.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Before merging or accepting it, state what the change will touch and where it will run.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Then perform the appropriate validation. Document whether you caught something or confirmed that it was safe.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important behavior is that the validation happens before acceptance.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checklist does not belong to automation only.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A manual tester can validate an AI-generated test case, expected result, exploratory charter, defect analysis, or sign-off recommendation.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An automation tester can validate generated scripts, assertions, selectors, fixes, test data, or CI-related changes.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Both roles must verify source, scope, specification, cross-check evidence, run the work where applicable, and log the result.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This is the suggested one-hour structure.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We start by establishing the validation mindset. Then we teach the six-check checklist. The Login + OTP/2FA scenario is used only as the classroom demonstration.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Next, we perform a controlled failure hunt using an intentionally imperfect AI artifact. We then practice pre-acceptance and finish by explaining the async work and Gate.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" name="Google Shape;26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Participants should complete the three activities asynchronously during the week.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Session 1: complete the six-check validation run.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Session 2: document the AI-wrong case.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Session 3: complete the pre-acceptance check.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daily log should be updated while the work is happening. Evidence should be uploaded to the team's designated folder.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Gate is based on evidence from the three activities.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Participants need daily-log entries, a completed validation run, a concrete AI-wrong case, and a pre-acceptance check.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They also need to recall the six checks from memory and explain how they found their AI mistake.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phrase 'AI has never been wrong' is explicitly a red flag because the training is teaching skepticism and evidence-based validation.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During the Gate review, the participant should be able to explain the artifact, the six checks, the AI mistake, and the pre-acceptance decision.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coach should listen for evidence-based reasoning. We want to hear what AI said, what was actually true, what evidence proved the difference, and what the tester did next.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Presenter Script: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central lesson of Week 2 is that AI-generated does not mean validated.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Login + OTP/2FA example is only the classroom demonstration.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400">
                <a:solidFill>
                  <a:schemeClr val="dk1"/>
                </a:solidFill>
              </a:rPr>
              <a:t>The actual skill is transferable: use AI to accelerate work, then validate it before relying on it. Manual and automation testers use different artifacts, but the validation discipline is the same.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2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2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/>
        </p:nvSpPr>
        <p:spPr>
          <a:xfrm>
            <a:off x="731526" y="461950"/>
            <a:ext cx="6742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WEEK 2 — AI-OUTPUT VALIDATION</a:t>
            </a:r>
            <a:br>
              <a:rPr b="0" i="0" lang="en" sz="3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</a:br>
            <a:r>
              <a:rPr b="0" i="0" lang="en" sz="12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1-hour synchronous class + async execution • Manual + Automation Testers</a:t>
            </a:r>
            <a:endParaRPr b="0" i="0" sz="12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5" name="Google Shape;55;p1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43480" y="-74536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"/>
          <p:cNvPicPr preferRelativeResize="0"/>
          <p:nvPr/>
        </p:nvPicPr>
        <p:blipFill rotWithShape="1">
          <a:blip r:embed="rId4">
            <a:alphaModFix amt="30000"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"/>
          <p:cNvSpPr txBox="1"/>
          <p:nvPr/>
        </p:nvSpPr>
        <p:spPr>
          <a:xfrm>
            <a:off x="731520" y="2997775"/>
            <a:ext cx="7946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❖"/>
            </a:pPr>
            <a:r>
              <a:rPr b="0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Audience: Manual + Automation Testers</a:t>
            </a:r>
            <a:endParaRPr b="0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❖"/>
            </a:pPr>
            <a:r>
              <a:rPr b="0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 work • Real evidence • Real QA judgment</a:t>
            </a:r>
            <a:endParaRPr b="0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❖"/>
            </a:pPr>
            <a:r>
              <a:rPr b="0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Sample feature: Login with OTP / 2FA</a:t>
            </a:r>
            <a:endParaRPr b="0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Char char="❖"/>
            </a:pPr>
            <a:r>
              <a:rPr b="0" i="0" lang="en" sz="1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Actual assignment: a real feature from your own work</a:t>
            </a:r>
            <a:endParaRPr b="0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731795" y="2247038"/>
            <a:ext cx="60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Validate AI before you trust it.</a:t>
            </a:r>
            <a:endParaRPr b="0" i="0" sz="18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60" name="Google Shape;60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"/>
          <p:cNvSpPr txBox="1"/>
          <p:nvPr/>
        </p:nvSpPr>
        <p:spPr>
          <a:xfrm>
            <a:off x="731795" y="1697088"/>
            <a:ext cx="3561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September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2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69" name="Google Shape;6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2"/>
          <p:cNvSpPr txBox="1"/>
          <p:nvPr/>
        </p:nvSpPr>
        <p:spPr>
          <a:xfrm>
            <a:off x="731520" y="461950"/>
            <a:ext cx="5277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Week 2 Objectives</a:t>
            </a:r>
            <a:endParaRPr b="0" i="0" sz="30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71" name="Google Shape;71;p2"/>
          <p:cNvSpPr txBox="1"/>
          <p:nvPr/>
        </p:nvSpPr>
        <p:spPr>
          <a:xfrm>
            <a:off x="731800" y="1014300"/>
            <a:ext cx="7542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By the end of the week, participants should demonstrate validation—not blind acceptance.</a:t>
            </a:r>
            <a:endParaRPr b="0" i="0" sz="12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823100" y="1653775"/>
            <a:ext cx="3608700" cy="13425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/>
              <a:t>Activity</a:t>
            </a: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Validation Checklist</a:t>
            </a:r>
            <a:br>
              <a:rPr b="0" i="0" lang="en" sz="1250" u="none" cap="none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250" u="none" cap="none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Run all 6 checks against a real AI-generated manual QA artifact.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702850" y="1653775"/>
            <a:ext cx="3608700" cy="1342500"/>
          </a:xfrm>
          <a:prstGeom prst="roundRect">
            <a:avLst>
              <a:gd fmla="val 16667" name="adj"/>
            </a:avLst>
          </a:prstGeom>
          <a:solidFill>
            <a:srgbClr val="99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Activity </a:t>
            </a: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lang="en" sz="12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AI Output Error Detection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Find and document at least one concrete AI mistake.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823100" y="3172388"/>
            <a:ext cx="3608700" cy="1342500"/>
          </a:xfrm>
          <a:prstGeom prst="roundRect">
            <a:avLst>
              <a:gd fmla="val 16667" name="adj"/>
            </a:avLst>
          </a:prstGeom>
          <a:solidFill>
            <a:srgbClr val="1C458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chemeClr val="lt1"/>
                </a:solidFill>
              </a:rPr>
              <a:t>Activity </a:t>
            </a: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Pre-acceptance vs Post-hoc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Validate before making a higher-stakes QA decision.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4702850" y="3172388"/>
            <a:ext cx="3608700" cy="13425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Gate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Prove the skill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Recall the checklist, explain the failure, and pass coach review.</a:t>
            </a:r>
            <a:endParaRPr b="0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3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3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83" name="Google Shape;8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3"/>
          <p:cNvSpPr txBox="1"/>
          <p:nvPr/>
        </p:nvSpPr>
        <p:spPr>
          <a:xfrm>
            <a:off x="731527" y="461950"/>
            <a:ext cx="723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 Scenario Only: Secure Login + OTP/2FA</a:t>
            </a:r>
            <a:endParaRPr b="0" i="0" sz="23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731799" y="1014300"/>
            <a:ext cx="6047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demonstration feature only — participants do not have to use Login for their actual assignment.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860475" y="1900500"/>
            <a:ext cx="2021700" cy="27531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BF9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47625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MANUAL QA EXAMPLE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AI-generated test cases</a:t>
            </a:r>
            <a:endParaRPr b="1" i="0" sz="1250" u="none" cap="none" strike="noStrike">
              <a:solidFill>
                <a:srgbClr val="5A64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Expected results</a:t>
            </a:r>
            <a:endParaRPr b="1" i="0" sz="1250" u="none" cap="none" strike="noStrike">
              <a:solidFill>
                <a:srgbClr val="5A64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Exploratory scenarios</a:t>
            </a:r>
            <a:endParaRPr b="1" i="0" sz="1250" u="none" cap="none" strike="noStrike">
              <a:solidFill>
                <a:srgbClr val="5A64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Negative paths</a:t>
            </a:r>
            <a:endParaRPr b="1" i="0" sz="1250" u="none" cap="none" strike="noStrike">
              <a:solidFill>
                <a:srgbClr val="5A647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rgbClr val="5A6473"/>
                </a:solidFill>
                <a:latin typeface="Calibri"/>
                <a:ea typeface="Calibri"/>
                <a:cs typeface="Calibri"/>
                <a:sym typeface="Calibri"/>
              </a:rPr>
              <a:t>Edge cases</a:t>
            </a:r>
            <a:endParaRPr b="1" i="0" sz="1250" u="none" cap="none" strike="noStrike">
              <a:solidFill>
                <a:srgbClr val="5A647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3339575" y="1900500"/>
            <a:ext cx="2021700" cy="2753100"/>
          </a:xfrm>
          <a:prstGeom prst="roundRect">
            <a:avLst>
              <a:gd fmla="val 16667" name="adj"/>
            </a:avLst>
          </a:prstGeom>
          <a:solidFill>
            <a:srgbClr val="9900FF"/>
          </a:solidFill>
          <a:ln cap="flat" cmpd="sng" w="952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47625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AUTOMATION EXAMPLE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Generated test script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Selectors / locators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Assertions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Waits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Test data / fixtures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818675" y="1900500"/>
            <a:ext cx="2021700" cy="2753100"/>
          </a:xfrm>
          <a:prstGeom prst="roundRect">
            <a:avLst>
              <a:gd fmla="val 16667" name="adj"/>
            </a:avLst>
          </a:prstGeom>
          <a:solidFill>
            <a:srgbClr val="274E13"/>
          </a:solidFill>
          <a:ln cap="flat" cmpd="sng" w="952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1800000" dist="47625">
              <a:srgbClr val="000000">
                <a:alpha val="2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SHARED VALIDATION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Actual application behavior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Execution evidence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" sz="12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Logs / screenshots</a:t>
            </a:r>
            <a:endParaRPr b="1" i="0" sz="12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4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96" name="Google Shape;9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 txBox="1"/>
          <p:nvPr/>
        </p:nvSpPr>
        <p:spPr>
          <a:xfrm>
            <a:off x="731527" y="461950"/>
            <a:ext cx="723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6-Check Validation Checklist</a:t>
            </a:r>
            <a:endParaRPr b="0" i="0" sz="23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98" name="Google Shape;98;p4"/>
          <p:cNvSpPr txBox="1"/>
          <p:nvPr/>
        </p:nvSpPr>
        <p:spPr>
          <a:xfrm>
            <a:off x="731799" y="1014300"/>
            <a:ext cx="604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Apply every check; document the outcome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99" name="Google Shape;99;p4"/>
          <p:cNvGrpSpPr/>
          <p:nvPr/>
        </p:nvGrpSpPr>
        <p:grpSpPr>
          <a:xfrm>
            <a:off x="860475" y="1638825"/>
            <a:ext cx="2234700" cy="1285500"/>
            <a:chOff x="860475" y="1638825"/>
            <a:chExt cx="2234700" cy="1285500"/>
          </a:xfrm>
        </p:grpSpPr>
        <p:sp>
          <p:nvSpPr>
            <p:cNvPr id="100" name="Google Shape;100;p4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FFFF00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"/>
            <p:cNvSpPr/>
            <p:nvPr/>
          </p:nvSpPr>
          <p:spPr>
            <a:xfrm>
              <a:off x="953250" y="1724000"/>
              <a:ext cx="452400" cy="429900"/>
            </a:xfrm>
            <a:prstGeom prst="ellipse">
              <a:avLst/>
            </a:prstGeom>
            <a:solidFill>
              <a:srgbClr val="FCE5CD"/>
            </a:solidFill>
            <a:ln cap="flat" cmpd="sng" w="110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rPr b="0" i="0" lang="en" sz="1629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62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"/>
            <p:cNvSpPr txBox="1"/>
            <p:nvPr/>
          </p:nvSpPr>
          <p:spPr>
            <a:xfrm>
              <a:off x="1458532" y="1723998"/>
              <a:ext cx="1218300" cy="4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Source</a:t>
              </a:r>
              <a:endParaRPr b="1" i="0" sz="139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"/>
            <p:cNvSpPr txBox="1"/>
            <p:nvPr/>
          </p:nvSpPr>
          <p:spPr>
            <a:xfrm>
              <a:off x="953250" y="2198750"/>
              <a:ext cx="1922100" cy="5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4"/>
                <a:buFont typeface="Arial"/>
                <a:buNone/>
              </a:pPr>
              <a:r>
                <a:rPr b="0" i="0" lang="en" sz="1164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Where did the AI get this from?</a:t>
              </a:r>
              <a:endParaRPr b="0" i="0" sz="1164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4"/>
          <p:cNvGrpSpPr/>
          <p:nvPr/>
        </p:nvGrpSpPr>
        <p:grpSpPr>
          <a:xfrm>
            <a:off x="3375300" y="1638825"/>
            <a:ext cx="2234700" cy="1285500"/>
            <a:chOff x="860475" y="1638825"/>
            <a:chExt cx="2234700" cy="1285500"/>
          </a:xfrm>
        </p:grpSpPr>
        <p:sp>
          <p:nvSpPr>
            <p:cNvPr id="105" name="Google Shape;105;p4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2D5FAA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953250" y="1724000"/>
              <a:ext cx="452400" cy="429900"/>
            </a:xfrm>
            <a:prstGeom prst="ellipse">
              <a:avLst/>
            </a:prstGeom>
            <a:solidFill>
              <a:srgbClr val="FFF2CC"/>
            </a:solidFill>
            <a:ln cap="flat" cmpd="sng" w="110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rPr b="0" i="0" lang="en" sz="1629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62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4"/>
            <p:cNvSpPr txBox="1"/>
            <p:nvPr/>
          </p:nvSpPr>
          <p:spPr>
            <a:xfrm>
              <a:off x="1458532" y="1723998"/>
              <a:ext cx="1218300" cy="429900"/>
            </a:xfrm>
            <a:prstGeom prst="rect">
              <a:avLst/>
            </a:prstGeom>
            <a:solidFill>
              <a:srgbClr val="2D5FAA"/>
            </a:solidFill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Scope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4"/>
            <p:cNvSpPr txBox="1"/>
            <p:nvPr/>
          </p:nvSpPr>
          <p:spPr>
            <a:xfrm>
              <a:off x="953250" y="2198750"/>
              <a:ext cx="1922100" cy="573000"/>
            </a:xfrm>
            <a:prstGeom prst="rect">
              <a:avLst/>
            </a:prstGeom>
            <a:solidFill>
              <a:srgbClr val="2D5FAA"/>
            </a:solidFill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4"/>
                <a:buFont typeface="Arial"/>
                <a:buNone/>
              </a:pPr>
              <a:r>
                <a:rPr b="0" i="0" lang="en" sz="1164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Does it match the actual feature/build?</a:t>
              </a:r>
              <a:endParaRPr b="0" i="0" sz="1164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" name="Google Shape;109;p4"/>
          <p:cNvGrpSpPr/>
          <p:nvPr/>
        </p:nvGrpSpPr>
        <p:grpSpPr>
          <a:xfrm>
            <a:off x="5890125" y="1638825"/>
            <a:ext cx="2234700" cy="1285500"/>
            <a:chOff x="860475" y="1638825"/>
            <a:chExt cx="2234700" cy="1285500"/>
          </a:xfrm>
        </p:grpSpPr>
        <p:sp>
          <p:nvSpPr>
            <p:cNvPr id="110" name="Google Shape;110;p4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9900FF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953250" y="1724000"/>
              <a:ext cx="452400" cy="429900"/>
            </a:xfrm>
            <a:prstGeom prst="ellipse">
              <a:avLst/>
            </a:prstGeom>
            <a:solidFill>
              <a:srgbClr val="FFF2CC"/>
            </a:solidFill>
            <a:ln cap="flat" cmpd="sng" w="110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rPr b="0" i="0" lang="en" sz="1629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62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4"/>
            <p:cNvSpPr txBox="1"/>
            <p:nvPr/>
          </p:nvSpPr>
          <p:spPr>
            <a:xfrm>
              <a:off x="1458532" y="1723998"/>
              <a:ext cx="1218300" cy="429900"/>
            </a:xfrm>
            <a:prstGeom prst="rect">
              <a:avLst/>
            </a:prstGeom>
            <a:solidFill>
              <a:srgbClr val="9900FF"/>
            </a:solidFill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Spec</a:t>
              </a:r>
              <a:endParaRPr b="1" i="0" sz="1396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4"/>
            <p:cNvSpPr txBox="1"/>
            <p:nvPr/>
          </p:nvSpPr>
          <p:spPr>
            <a:xfrm>
              <a:off x="953250" y="2198750"/>
              <a:ext cx="1922100" cy="553500"/>
            </a:xfrm>
            <a:prstGeom prst="rect">
              <a:avLst/>
            </a:prstGeom>
            <a:solidFill>
              <a:srgbClr val="9900FF"/>
            </a:solidFill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0" i="0" lang="en" sz="11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Does it match requirements and acceptance criteria?</a:t>
              </a:r>
              <a:endParaRPr b="0" i="0" sz="1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" name="Google Shape;114;p4"/>
          <p:cNvGrpSpPr/>
          <p:nvPr/>
        </p:nvGrpSpPr>
        <p:grpSpPr>
          <a:xfrm>
            <a:off x="860475" y="3235925"/>
            <a:ext cx="2234700" cy="1285500"/>
            <a:chOff x="860475" y="1638825"/>
            <a:chExt cx="2234700" cy="1285500"/>
          </a:xfrm>
        </p:grpSpPr>
        <p:sp>
          <p:nvSpPr>
            <p:cNvPr id="115" name="Google Shape;115;p4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>
              <a:off x="953250" y="1724000"/>
              <a:ext cx="452400" cy="429900"/>
            </a:xfrm>
            <a:prstGeom prst="ellipse">
              <a:avLst/>
            </a:prstGeom>
            <a:solidFill>
              <a:srgbClr val="FCE5CD"/>
            </a:solidFill>
            <a:ln cap="flat" cmpd="sng" w="110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rPr b="0" i="0" lang="en" sz="1629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62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"/>
            <p:cNvSpPr txBox="1"/>
            <p:nvPr/>
          </p:nvSpPr>
          <p:spPr>
            <a:xfrm>
              <a:off x="1458524" y="1724000"/>
              <a:ext cx="1416900" cy="4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Cross-check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 txBox="1"/>
            <p:nvPr/>
          </p:nvSpPr>
          <p:spPr>
            <a:xfrm>
              <a:off x="953250" y="2198750"/>
              <a:ext cx="1922100" cy="52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Can another source/evidence confirm it?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" name="Google Shape;119;p4"/>
          <p:cNvGrpSpPr/>
          <p:nvPr/>
        </p:nvGrpSpPr>
        <p:grpSpPr>
          <a:xfrm>
            <a:off x="3375300" y="3235925"/>
            <a:ext cx="2234700" cy="1285500"/>
            <a:chOff x="860475" y="1638825"/>
            <a:chExt cx="2234700" cy="1285500"/>
          </a:xfrm>
        </p:grpSpPr>
        <p:sp>
          <p:nvSpPr>
            <p:cNvPr id="120" name="Google Shape;120;p4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A61C00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953250" y="1724000"/>
              <a:ext cx="452400" cy="429900"/>
            </a:xfrm>
            <a:prstGeom prst="ellipse">
              <a:avLst/>
            </a:prstGeom>
            <a:solidFill>
              <a:srgbClr val="FCE5CD"/>
            </a:solidFill>
            <a:ln cap="flat" cmpd="sng" w="110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rPr b="0" i="0" lang="en" sz="1629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62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 txBox="1"/>
            <p:nvPr/>
          </p:nvSpPr>
          <p:spPr>
            <a:xfrm>
              <a:off x="1458532" y="1723998"/>
              <a:ext cx="1218300" cy="4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Run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 txBox="1"/>
            <p:nvPr/>
          </p:nvSpPr>
          <p:spPr>
            <a:xfrm>
              <a:off x="953250" y="2198750"/>
              <a:ext cx="1922100" cy="5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4"/>
                <a:buFont typeface="Arial"/>
                <a:buNone/>
              </a:pPr>
              <a:r>
                <a:rPr b="0" i="0" lang="en" sz="1164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Did you execute the important steps yourself?</a:t>
              </a:r>
              <a:endParaRPr b="0" i="0" sz="1164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" name="Google Shape;124;p4"/>
          <p:cNvGrpSpPr/>
          <p:nvPr/>
        </p:nvGrpSpPr>
        <p:grpSpPr>
          <a:xfrm>
            <a:off x="5890125" y="3235925"/>
            <a:ext cx="2234700" cy="1285500"/>
            <a:chOff x="860475" y="1638825"/>
            <a:chExt cx="2234700" cy="1285500"/>
          </a:xfrm>
        </p:grpSpPr>
        <p:sp>
          <p:nvSpPr>
            <p:cNvPr id="125" name="Google Shape;125;p4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38761D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>
              <a:off x="953250" y="1724000"/>
              <a:ext cx="452400" cy="429900"/>
            </a:xfrm>
            <a:prstGeom prst="ellipse">
              <a:avLst/>
            </a:prstGeom>
            <a:solidFill>
              <a:srgbClr val="FCE5CD"/>
            </a:solidFill>
            <a:ln cap="flat" cmpd="sng" w="11075">
              <a:solidFill>
                <a:srgbClr val="FF00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06375" lIns="106375" spcFirstLastPara="1" rIns="106375" wrap="square" tIns="1063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rPr b="0" i="0" lang="en" sz="1629" u="none" cap="none" strike="noStrike">
                  <a:solidFill>
                    <a:schemeClr val="dk2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629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 txBox="1"/>
            <p:nvPr/>
          </p:nvSpPr>
          <p:spPr>
            <a:xfrm>
              <a:off x="1458532" y="1723998"/>
              <a:ext cx="1218300" cy="42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Log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 txBox="1"/>
            <p:nvPr/>
          </p:nvSpPr>
          <p:spPr>
            <a:xfrm>
              <a:off x="953250" y="2198750"/>
              <a:ext cx="1922100" cy="57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64"/>
                <a:buFont typeface="Arial"/>
                <a:buNone/>
              </a:pPr>
              <a:r>
                <a:rPr b="0" i="0" lang="en" sz="1164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Did you record what happened at the time?</a:t>
              </a:r>
              <a:endParaRPr b="0" i="0" sz="1164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5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6" name="Google Shape;13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5"/>
          <p:cNvSpPr txBox="1"/>
          <p:nvPr/>
        </p:nvSpPr>
        <p:spPr>
          <a:xfrm>
            <a:off x="731527" y="461950"/>
            <a:ext cx="723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Activity </a:t>
            </a:r>
            <a:r>
              <a:rPr b="0" i="0" lang="en" sz="23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 — Validation Checklist</a:t>
            </a:r>
            <a:endParaRPr b="0" i="0" sz="23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38" name="Google Shape;138;p5"/>
          <p:cNvSpPr txBox="1"/>
          <p:nvPr/>
        </p:nvSpPr>
        <p:spPr>
          <a:xfrm>
            <a:off x="731800" y="1014300"/>
            <a:ext cx="7831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Objective: apply all 6 checks to a real AI-generated artifact from your own work.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865050" y="1758450"/>
            <a:ext cx="7413900" cy="2761500"/>
          </a:xfrm>
          <a:prstGeom prst="roundRect">
            <a:avLst>
              <a:gd fmla="val 16667" name="adj"/>
            </a:avLst>
          </a:prstGeom>
          <a:solidFill>
            <a:srgbClr val="2D5FAA"/>
          </a:solidFill>
          <a:ln cap="flat" cmpd="sng" w="11075">
            <a:solidFill>
              <a:srgbClr val="A4C2F4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ctr" bIns="106375" lIns="106375" spcFirstLastPara="1" rIns="106375" wrap="square" tIns="1063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In the sync class, walk through the six-check checklist with the QA Coach.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Async: choose a real AI-generated artifact from your own work.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Run Source, Scope, Spec, Cross-check, Run, and Log.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Document the outcome of every check.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 Log the activity in the daily-log file.</a:t>
            </a:r>
            <a:b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DELIVERABLE</a:t>
            </a:r>
            <a:r>
              <a:rPr b="0" i="0" lang="en" sz="1400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: One documented Validation Checklist run against a real AI-generated QA artifact.</a:t>
            </a:r>
            <a:endParaRPr b="0" i="0" sz="1400" u="none" cap="none" strike="noStrike">
              <a:solidFill>
                <a:srgbClr val="CC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6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6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47" name="Google Shape;147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6"/>
          <p:cNvSpPr txBox="1"/>
          <p:nvPr/>
        </p:nvSpPr>
        <p:spPr>
          <a:xfrm>
            <a:off x="731527" y="461950"/>
            <a:ext cx="723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Activity 1 — What Counts as a Real Artifact?</a:t>
            </a:r>
            <a:endParaRPr b="0" i="0" sz="23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731800" y="1014300"/>
            <a:ext cx="712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Use something produced by AI for actual work—not a demo artifact.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0" name="Google Shape;150;p6"/>
          <p:cNvGrpSpPr/>
          <p:nvPr/>
        </p:nvGrpSpPr>
        <p:grpSpPr>
          <a:xfrm>
            <a:off x="823076" y="1758422"/>
            <a:ext cx="3580213" cy="2736572"/>
            <a:chOff x="860475" y="1638825"/>
            <a:chExt cx="2234700" cy="1285500"/>
          </a:xfrm>
        </p:grpSpPr>
        <p:sp>
          <p:nvSpPr>
            <p:cNvPr id="151" name="Google Shape;151;p6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 txBox="1"/>
            <p:nvPr/>
          </p:nvSpPr>
          <p:spPr>
            <a:xfrm>
              <a:off x="976594" y="1737059"/>
              <a:ext cx="1416900" cy="2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MANUAL TESTING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 txBox="1"/>
            <p:nvPr/>
          </p:nvSpPr>
          <p:spPr>
            <a:xfrm>
              <a:off x="976594" y="1938956"/>
              <a:ext cx="1922100" cy="7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AI-generated test case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AI-generated expected result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Exploratory charter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Defect/root-cause note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Test-data suggestion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" name="Google Shape;154;p6"/>
          <p:cNvGrpSpPr/>
          <p:nvPr/>
        </p:nvGrpSpPr>
        <p:grpSpPr>
          <a:xfrm>
            <a:off x="4571995" y="1758422"/>
            <a:ext cx="3580213" cy="2736572"/>
            <a:chOff x="860475" y="1638825"/>
            <a:chExt cx="2234700" cy="1285500"/>
          </a:xfrm>
        </p:grpSpPr>
        <p:sp>
          <p:nvSpPr>
            <p:cNvPr id="155" name="Google Shape;155;p6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A61C00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6"/>
            <p:cNvSpPr txBox="1"/>
            <p:nvPr/>
          </p:nvSpPr>
          <p:spPr>
            <a:xfrm>
              <a:off x="986581" y="1739928"/>
              <a:ext cx="1855500" cy="2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AUTOMATION TESTING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"/>
            <p:cNvSpPr txBox="1"/>
            <p:nvPr/>
          </p:nvSpPr>
          <p:spPr>
            <a:xfrm>
              <a:off x="986581" y="1941827"/>
              <a:ext cx="1922100" cy="9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AI-generated test script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Generated assertion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Selector / locator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Suggested fix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Test data / fixture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31115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Arial"/>
                <a:buChar char="❖"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Automation helper code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7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65" name="Google Shape;165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7"/>
          <p:cNvSpPr txBox="1"/>
          <p:nvPr/>
        </p:nvSpPr>
        <p:spPr>
          <a:xfrm>
            <a:off x="731527" y="461950"/>
            <a:ext cx="723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Activity 1 — Floor / Minimum Standard</a:t>
            </a:r>
            <a:endParaRPr b="0" i="0" sz="23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67" name="Google Shape;167;p7"/>
          <p:cNvSpPr txBox="1"/>
          <p:nvPr/>
        </p:nvSpPr>
        <p:spPr>
          <a:xfrm>
            <a:off x="731800" y="1014300"/>
            <a:ext cx="7128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 checklist run only counts when it produces evidence.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29350" y="1634325"/>
            <a:ext cx="7037100" cy="27408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110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ctr" bIns="106375" lIns="106375" spcFirstLastPara="1" rIns="106375" wrap="square" tIns="1063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rPr b="0" i="0" lang="en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✓ Real AI-generated artifact from actual work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rPr b="0" i="0" lang="en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✓ All 6 checks completed with specific outcomes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rPr b="0" i="0" lang="en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✓ At least one check caught a real issue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rPr b="0" i="0" lang="en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✓ Logged the same day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t/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9"/>
              <a:buFont typeface="Arial"/>
              <a:buNone/>
            </a:pPr>
            <a:r>
              <a:rPr b="1" i="0" lang="en" sz="1429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Examples of findings:</a:t>
            </a:r>
            <a:r>
              <a:rPr b="0" i="0" lang="en" sz="1429" u="none" cap="none" strike="noStrik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fabricated selector, wrong assertion, scope mismatch, missing edge case, incorrect expected result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8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8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76" name="Google Shape;176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 txBox="1"/>
          <p:nvPr/>
        </p:nvSpPr>
        <p:spPr>
          <a:xfrm>
            <a:off x="731527" y="461950"/>
            <a:ext cx="723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3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Activity </a:t>
            </a:r>
            <a:r>
              <a:rPr b="0" i="0" lang="en" sz="23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 — </a:t>
            </a:r>
            <a:r>
              <a:rPr lang="en" sz="23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AI Output Error Detection</a:t>
            </a:r>
            <a:endParaRPr b="0" i="0" sz="23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78" name="Google Shape;178;p8"/>
          <p:cNvSpPr txBox="1"/>
          <p:nvPr/>
        </p:nvSpPr>
        <p:spPr>
          <a:xfrm>
            <a:off x="731799" y="1014300"/>
            <a:ext cx="6047400" cy="6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objective is not to prove AI is bad; it is to prove you can catch when it is wrong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79" name="Google Shape;179;p8"/>
          <p:cNvGrpSpPr/>
          <p:nvPr/>
        </p:nvGrpSpPr>
        <p:grpSpPr>
          <a:xfrm>
            <a:off x="823174" y="1758422"/>
            <a:ext cx="2272913" cy="2736572"/>
            <a:chOff x="860475" y="1638825"/>
            <a:chExt cx="2234700" cy="1285500"/>
          </a:xfrm>
        </p:grpSpPr>
        <p:sp>
          <p:nvSpPr>
            <p:cNvPr id="180" name="Google Shape;180;p8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976591" y="1737063"/>
              <a:ext cx="1988700" cy="2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Watch for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8"/>
            <p:cNvSpPr txBox="1"/>
            <p:nvPr/>
          </p:nvSpPr>
          <p:spPr>
            <a:xfrm>
              <a:off x="1009888" y="1977974"/>
              <a:ext cx="1922100" cy="60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Wrong expected result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Fabricated selector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Hallucinated API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Flaky assertion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Missing edge case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" name="Google Shape;183;p8"/>
          <p:cNvGrpSpPr/>
          <p:nvPr/>
        </p:nvGrpSpPr>
        <p:grpSpPr>
          <a:xfrm>
            <a:off x="3333580" y="1758422"/>
            <a:ext cx="2272913" cy="2736572"/>
            <a:chOff x="860475" y="1638825"/>
            <a:chExt cx="2234700" cy="1285500"/>
          </a:xfrm>
        </p:grpSpPr>
        <p:sp>
          <p:nvSpPr>
            <p:cNvPr id="184" name="Google Shape;184;p8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A61C00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8"/>
            <p:cNvSpPr txBox="1"/>
            <p:nvPr/>
          </p:nvSpPr>
          <p:spPr>
            <a:xfrm>
              <a:off x="986581" y="1720950"/>
              <a:ext cx="1855500" cy="2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Prove it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8"/>
            <p:cNvSpPr txBox="1"/>
            <p:nvPr/>
          </p:nvSpPr>
          <p:spPr>
            <a:xfrm>
              <a:off x="1016777" y="1977980"/>
              <a:ext cx="1922100" cy="60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Exact AI output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Actual behavior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Test run / screenshot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Requirement or log evidence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" name="Google Shape;187;p8"/>
          <p:cNvGrpSpPr/>
          <p:nvPr/>
        </p:nvGrpSpPr>
        <p:grpSpPr>
          <a:xfrm>
            <a:off x="5844005" y="1758422"/>
            <a:ext cx="2272913" cy="2736572"/>
            <a:chOff x="860475" y="1638825"/>
            <a:chExt cx="2234700" cy="1285500"/>
          </a:xfrm>
        </p:grpSpPr>
        <p:sp>
          <p:nvSpPr>
            <p:cNvPr id="188" name="Google Shape;188;p8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274E13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8"/>
            <p:cNvSpPr txBox="1"/>
            <p:nvPr/>
          </p:nvSpPr>
          <p:spPr>
            <a:xfrm>
              <a:off x="986581" y="1720950"/>
              <a:ext cx="1855500" cy="2019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Respond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8"/>
            <p:cNvSpPr txBox="1"/>
            <p:nvPr/>
          </p:nvSpPr>
          <p:spPr>
            <a:xfrm>
              <a:off x="1016777" y="1977980"/>
              <a:ext cx="1922100" cy="607200"/>
            </a:xfrm>
            <a:prstGeom prst="rect">
              <a:avLst/>
            </a:prstGeom>
            <a:solidFill>
              <a:srgbClr val="274E13"/>
            </a:solidFill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Fix it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Reject it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Re-prompt AI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Char char="❖"/>
              </a:pPr>
              <a:r>
                <a:rPr b="0" i="0" lang="en" sz="10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Document what changed</a:t>
              </a:r>
              <a:endParaRPr b="0" i="0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9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9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98" name="Google Shape;19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9"/>
          <p:cNvSpPr txBox="1"/>
          <p:nvPr/>
        </p:nvSpPr>
        <p:spPr>
          <a:xfrm>
            <a:off x="731527" y="461950"/>
            <a:ext cx="72378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" sz="23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Activity 2 — Failure Case Template</a:t>
            </a:r>
            <a:endParaRPr b="0" i="0" sz="23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731799" y="1014300"/>
            <a:ext cx="604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Use this structure for the async failure-hunt post.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95603" y="1648100"/>
            <a:ext cx="7237800" cy="27366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110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ctr" bIns="106375" lIns="106375" spcFirstLastPara="1" rIns="106375" wrap="square" tIns="1063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rPr b="0" i="0" lang="en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Exact AI output that was wrong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rPr b="0" i="0" lang="en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What was actually true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rPr b="0" i="0" lang="en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Evidence: test run, screenshot, application behavior, log, requirement, or code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rPr b="0" i="0" lang="en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How you caught the gap — which checklist check or other signal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rPr b="0" i="0" lang="en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 What you did afterward — fixed, rejected, or re-prompted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9"/>
              <a:buFont typeface="Arial"/>
              <a:buNone/>
            </a:pPr>
            <a:r>
              <a:rPr b="0" i="0" lang="en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6. Posted in the team's async failure-hunt thread</a:t>
            </a:r>
            <a:endParaRPr b="0" i="0" sz="1629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0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0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09" name="Google Shape;209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0"/>
          <p:cNvSpPr txBox="1"/>
          <p:nvPr/>
        </p:nvSpPr>
        <p:spPr>
          <a:xfrm>
            <a:off x="731527" y="461950"/>
            <a:ext cx="7237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Activity 3 — Pre-acceptance Check vs Post-hoc Check</a:t>
            </a:r>
            <a:endParaRPr b="0" i="0" sz="21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731799" y="1014300"/>
            <a:ext cx="604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Validate AI output before it enters shared QA assets or affects CI.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12" name="Google Shape;212;p10"/>
          <p:cNvGrpSpPr/>
          <p:nvPr/>
        </p:nvGrpSpPr>
        <p:grpSpPr>
          <a:xfrm>
            <a:off x="823076" y="1758422"/>
            <a:ext cx="3580213" cy="2736572"/>
            <a:chOff x="860475" y="1638825"/>
            <a:chExt cx="2234700" cy="1285500"/>
          </a:xfrm>
        </p:grpSpPr>
        <p:sp>
          <p:nvSpPr>
            <p:cNvPr id="213" name="Google Shape;213;p10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10"/>
            <p:cNvSpPr txBox="1"/>
            <p:nvPr/>
          </p:nvSpPr>
          <p:spPr>
            <a:xfrm>
              <a:off x="976594" y="1737059"/>
              <a:ext cx="1416900" cy="2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Post-hoc thinking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10"/>
            <p:cNvSpPr txBox="1"/>
            <p:nvPr/>
          </p:nvSpPr>
          <p:spPr>
            <a:xfrm>
              <a:off x="976594" y="1938956"/>
              <a:ext cx="1922100" cy="80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Merge first.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Run later.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Discover a problem after other people may already depend on the change.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6" name="Google Shape;216;p10"/>
          <p:cNvGrpSpPr/>
          <p:nvPr/>
        </p:nvGrpSpPr>
        <p:grpSpPr>
          <a:xfrm>
            <a:off x="4571995" y="1758422"/>
            <a:ext cx="3580213" cy="2736572"/>
            <a:chOff x="860475" y="1638825"/>
            <a:chExt cx="2234700" cy="1285500"/>
          </a:xfrm>
        </p:grpSpPr>
        <p:sp>
          <p:nvSpPr>
            <p:cNvPr id="217" name="Google Shape;217;p10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A61C00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0"/>
            <p:cNvSpPr txBox="1"/>
            <p:nvPr/>
          </p:nvSpPr>
          <p:spPr>
            <a:xfrm>
              <a:off x="986581" y="1739928"/>
              <a:ext cx="1855500" cy="2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Pre-acceptance thinking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0"/>
            <p:cNvSpPr txBox="1"/>
            <p:nvPr/>
          </p:nvSpPr>
          <p:spPr>
            <a:xfrm>
              <a:off x="986581" y="1941827"/>
              <a:ext cx="1922100" cy="7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Ask first:</a:t>
              </a:r>
              <a:endParaRPr b="1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“What exactly will this touch, and where does it run?”</a:t>
              </a:r>
              <a:endParaRPr b="1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1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1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Validate before accepting.</a:t>
              </a:r>
              <a:endParaRPr b="1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11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1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27" name="Google Shape;22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 txBox="1"/>
          <p:nvPr/>
        </p:nvSpPr>
        <p:spPr>
          <a:xfrm>
            <a:off x="731527" y="461950"/>
            <a:ext cx="7237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Activity 3 — Pre-acceptance Check</a:t>
            </a:r>
            <a:endParaRPr b="0" i="0" sz="19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731799" y="1014300"/>
            <a:ext cx="604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Practice on one higher-stakes QA action from your real work.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860471" y="1568522"/>
            <a:ext cx="7237800" cy="2736600"/>
          </a:xfrm>
          <a:prstGeom prst="roundRect">
            <a:avLst>
              <a:gd fmla="val 16667" name="adj"/>
            </a:avLst>
          </a:prstGeom>
          <a:solidFill>
            <a:srgbClr val="A61C00"/>
          </a:solidFill>
          <a:ln cap="flat" cmpd="sng" w="110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ctr" bIns="106375" lIns="106375" spcFirstLastPara="1" rIns="106375" wrap="square" tIns="1063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Select a real AI-generated test, fix, or QA change.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Before accepting: “What exactly will this touch, and where does it run?”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Check affected tests, helpers, framework components, environment, and CI where applicable.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Execute or inspect the appropriate validation.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5. Document what the check caught or confirmed.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6. Log the result in the daily tracker.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2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2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38" name="Google Shape;238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2"/>
          <p:cNvSpPr txBox="1"/>
          <p:nvPr/>
        </p:nvSpPr>
        <p:spPr>
          <a:xfrm>
            <a:off x="731527" y="461950"/>
            <a:ext cx="72378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n" sz="21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Manual Tester vs Automation Tester</a:t>
            </a:r>
            <a:endParaRPr b="0" i="0" sz="21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731799" y="1014300"/>
            <a:ext cx="604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Different artifacts, same validation discipline.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41" name="Google Shape;241;p12"/>
          <p:cNvGrpSpPr/>
          <p:nvPr/>
        </p:nvGrpSpPr>
        <p:grpSpPr>
          <a:xfrm>
            <a:off x="823076" y="1758422"/>
            <a:ext cx="3580213" cy="2736572"/>
            <a:chOff x="860475" y="1638825"/>
            <a:chExt cx="2234700" cy="1285500"/>
          </a:xfrm>
        </p:grpSpPr>
        <p:sp>
          <p:nvSpPr>
            <p:cNvPr id="242" name="Google Shape;242;p12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A64D79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2"/>
            <p:cNvSpPr txBox="1"/>
            <p:nvPr/>
          </p:nvSpPr>
          <p:spPr>
            <a:xfrm>
              <a:off x="976594" y="1737059"/>
              <a:ext cx="1416900" cy="2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MANUAL TESTER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2"/>
            <p:cNvSpPr txBox="1"/>
            <p:nvPr/>
          </p:nvSpPr>
          <p:spPr>
            <a:xfrm>
              <a:off x="976594" y="1938956"/>
              <a:ext cx="1922100" cy="70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Validate test steps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Validate expected results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Check requirements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Execute against real behavior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Capture evidence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" sz="14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Challenge AI conclusions</a:t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" name="Google Shape;245;p12"/>
          <p:cNvGrpSpPr/>
          <p:nvPr/>
        </p:nvGrpSpPr>
        <p:grpSpPr>
          <a:xfrm>
            <a:off x="4571995" y="1758422"/>
            <a:ext cx="3580213" cy="2736572"/>
            <a:chOff x="860475" y="1638825"/>
            <a:chExt cx="2234700" cy="1285500"/>
          </a:xfrm>
        </p:grpSpPr>
        <p:sp>
          <p:nvSpPr>
            <p:cNvPr id="246" name="Google Shape;246;p12"/>
            <p:cNvSpPr/>
            <p:nvPr/>
          </p:nvSpPr>
          <p:spPr>
            <a:xfrm>
              <a:off x="860475" y="1638825"/>
              <a:ext cx="2234700" cy="1285500"/>
            </a:xfrm>
            <a:prstGeom prst="roundRect">
              <a:avLst>
                <a:gd fmla="val 16667" name="adj"/>
              </a:avLst>
            </a:prstGeom>
            <a:solidFill>
              <a:srgbClr val="A61C00"/>
            </a:solidFill>
            <a:ln cap="flat" cmpd="sng" w="11075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99744" rotWithShape="0" algn="bl" dir="3900000" dist="55414">
                <a:srgbClr val="000000">
                  <a:alpha val="21176"/>
                </a:srgbClr>
              </a:outerShdw>
            </a:effectLst>
          </p:spPr>
          <p:txBody>
            <a:bodyPr anchorCtr="0" anchor="t" bIns="106375" lIns="106375" spcFirstLastPara="1" rIns="106375" wrap="square" tIns="1063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29"/>
                <a:buFont typeface="Arial"/>
                <a:buNone/>
              </a:pPr>
              <a:r>
                <a:t/>
              </a:r>
              <a:endParaRPr b="1" i="0" sz="162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2"/>
            <p:cNvSpPr txBox="1"/>
            <p:nvPr/>
          </p:nvSpPr>
          <p:spPr>
            <a:xfrm>
              <a:off x="986581" y="1739928"/>
              <a:ext cx="1855500" cy="20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6"/>
                <a:buFont typeface="Arial"/>
                <a:buNone/>
              </a:pPr>
              <a:r>
                <a:rPr b="1" i="0" lang="en" sz="1396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AUTOMATION TESTER</a:t>
              </a:r>
              <a:endParaRPr b="1" i="0" sz="1396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2"/>
            <p:cNvSpPr txBox="1"/>
            <p:nvPr/>
          </p:nvSpPr>
          <p:spPr>
            <a:xfrm>
              <a:off x="986581" y="1941827"/>
              <a:ext cx="1922100" cy="73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06375" lIns="106375" spcFirstLastPara="1" rIns="106375" wrap="square" tIns="106375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Validate selectors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Review assertions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Execute scripts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Check framework conventions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Review CI impact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rPr b="0" i="0" lang="en" sz="13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Investigate failures</a:t>
              </a:r>
              <a:endPara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13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3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56" name="Google Shape;25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3"/>
          <p:cNvSpPr txBox="1"/>
          <p:nvPr/>
        </p:nvSpPr>
        <p:spPr>
          <a:xfrm>
            <a:off x="731527" y="461950"/>
            <a:ext cx="7237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1-Hour Synchronous Class</a:t>
            </a:r>
            <a:endParaRPr b="0" i="0" sz="19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731799" y="1014300"/>
            <a:ext cx="604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Suggested live-session agenda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814850" y="1739150"/>
            <a:ext cx="7237800" cy="4620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3540000" dist="66675">
              <a:srgbClr val="000000">
                <a:alpha val="3922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0–10 min</a:t>
            </a:r>
            <a:br>
              <a:rPr b="1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Set context — Why validation matters; introduce the login + OTP/2FA scenario.</a:t>
            </a:r>
            <a:endParaRPr b="0" i="0" sz="1000" u="none" cap="none" strike="noStrike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814850" y="2363975"/>
            <a:ext cx="7237800" cy="462000"/>
          </a:xfrm>
          <a:prstGeom prst="roundRect">
            <a:avLst>
              <a:gd fmla="val 16667" name="adj"/>
            </a:avLst>
          </a:prstGeom>
          <a:solidFill>
            <a:srgbClr val="A64D79"/>
          </a:solidFill>
          <a:ln cap="flat" cmpd="sng" w="952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3540000" dist="66675">
              <a:srgbClr val="000000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10–25 min</a:t>
            </a:r>
            <a:endParaRPr b="1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Walk the 6 checks — Apply Source → Scope → Spec → Cross-check → Run → Log.</a:t>
            </a:r>
            <a:endParaRPr b="0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814850" y="2980373"/>
            <a:ext cx="7237800" cy="4620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3540000" dist="66675">
              <a:srgbClr val="000000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25–40 min</a:t>
            </a:r>
            <a:b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Live failure hunt — Review an intentionally imperfect AI-generated login test case.</a:t>
            </a:r>
            <a:endParaRPr b="0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814850" y="3596775"/>
            <a:ext cx="7237800" cy="462000"/>
          </a:xfrm>
          <a:prstGeom prst="roundRect">
            <a:avLst>
              <a:gd fmla="val 16667" name="adj"/>
            </a:avLst>
          </a:prstGeom>
          <a:solidFill>
            <a:srgbClr val="666666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3540000" dist="66675">
              <a:srgbClr val="000000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40–50 min</a:t>
            </a:r>
            <a:b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Pre-acceptance — Practice the question before a sign-off decision.</a:t>
            </a:r>
            <a:endParaRPr b="0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814850" y="4214900"/>
            <a:ext cx="7237800" cy="462000"/>
          </a:xfrm>
          <a:prstGeom prst="roundRect">
            <a:avLst>
              <a:gd fmla="val 16667" name="adj"/>
            </a:avLst>
          </a:prstGeom>
          <a:solidFill>
            <a:srgbClr val="CC0000"/>
          </a:solidFill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3540000" dist="66675">
              <a:srgbClr val="000000">
                <a:alpha val="392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50–60 min</a:t>
            </a:r>
            <a:b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" sz="1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Assignment + Gate — Explain async outputs, evidence standards, and Friday gate.</a:t>
            </a:r>
            <a:endParaRPr b="0" i="0" sz="10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14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4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71" name="Google Shape;27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4"/>
          <p:cNvSpPr txBox="1"/>
          <p:nvPr/>
        </p:nvSpPr>
        <p:spPr>
          <a:xfrm>
            <a:off x="731527" y="461950"/>
            <a:ext cx="7237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Async Execution Plan</a:t>
            </a:r>
            <a:endParaRPr b="0" i="0" sz="19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731799" y="1014300"/>
            <a:ext cx="604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Three work sessions + continuous logging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p14"/>
          <p:cNvSpPr/>
          <p:nvPr/>
        </p:nvSpPr>
        <p:spPr>
          <a:xfrm>
            <a:off x="860475" y="1787088"/>
            <a:ext cx="2118000" cy="2197800"/>
          </a:xfrm>
          <a:prstGeom prst="roundRect">
            <a:avLst>
              <a:gd fmla="val 16667" name="adj"/>
            </a:avLst>
          </a:prstGeom>
          <a:solidFill>
            <a:srgbClr val="B45F06"/>
          </a:solidFill>
          <a:ln cap="flat" cmpd="sng" w="110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t" bIns="106375" lIns="106375" spcFirstLastPara="1" rIns="106375" wrap="square" tIns="1063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SESSION 1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Select real AI artifact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Run all 6 checks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Document findings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Log the activity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"/>
          <p:cNvSpPr/>
          <p:nvPr/>
        </p:nvSpPr>
        <p:spPr>
          <a:xfrm>
            <a:off x="3443375" y="1787088"/>
            <a:ext cx="2118000" cy="2197800"/>
          </a:xfrm>
          <a:prstGeom prst="roundRect">
            <a:avLst>
              <a:gd fmla="val 16667" name="adj"/>
            </a:avLst>
          </a:prstGeom>
          <a:solidFill>
            <a:srgbClr val="2D5FAA"/>
          </a:solidFill>
          <a:ln cap="flat" cmpd="sng" w="110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t" bIns="106375" lIns="106375" spcFirstLastPara="1" rIns="106375" wrap="square" tIns="1063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SESSION 2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Find AI mistake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Capture exact output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Prove actual behavior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Post failure case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4"/>
          <p:cNvSpPr/>
          <p:nvPr/>
        </p:nvSpPr>
        <p:spPr>
          <a:xfrm>
            <a:off x="6026250" y="1787088"/>
            <a:ext cx="2118000" cy="2197800"/>
          </a:xfrm>
          <a:prstGeom prst="roundRect">
            <a:avLst>
              <a:gd fmla="val 16667" name="adj"/>
            </a:avLst>
          </a:prstGeom>
          <a:solidFill>
            <a:srgbClr val="4C1130"/>
          </a:solidFill>
          <a:ln cap="flat" cmpd="sng" w="110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t" bIns="106375" lIns="106375" spcFirstLastPara="1" rIns="106375" wrap="square" tIns="1063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SESSION 3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Select higher-stakes change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Run pre-acceptance check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Document result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Update tracker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7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15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15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84" name="Google Shape;28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5"/>
          <p:cNvSpPr txBox="1"/>
          <p:nvPr/>
        </p:nvSpPr>
        <p:spPr>
          <a:xfrm>
            <a:off x="731527" y="461950"/>
            <a:ext cx="7237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Week 2 Gate</a:t>
            </a:r>
            <a:endParaRPr b="0" i="0" sz="19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731799" y="1014300"/>
            <a:ext cx="604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Evidence that the skill has been internalized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860475" y="1568525"/>
            <a:ext cx="3515100" cy="3030000"/>
          </a:xfrm>
          <a:prstGeom prst="roundRect">
            <a:avLst>
              <a:gd fmla="val 16667" name="adj"/>
            </a:avLst>
          </a:prstGeom>
          <a:solidFill>
            <a:srgbClr val="B45F06"/>
          </a:solidFill>
          <a:ln cap="flat" cmpd="sng" w="110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t" bIns="106375" lIns="106375" spcFirstLastPara="1" rIns="106375" wrap="square" tIns="1063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Required evidence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✓ Daily-log entries for all three sessions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✓ One complete 6-check validation run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✓ One concrete AI-wrong case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✓ One pre-acceptance check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✓ Checklist recall recording or quick coach check-in</a:t>
            </a:r>
            <a:endParaRPr b="0" i="0" sz="12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5"/>
          <p:cNvSpPr/>
          <p:nvPr/>
        </p:nvSpPr>
        <p:spPr>
          <a:xfrm>
            <a:off x="4818925" y="1568525"/>
            <a:ext cx="3515100" cy="3030000"/>
          </a:xfrm>
          <a:prstGeom prst="roundRect">
            <a:avLst>
              <a:gd fmla="val 16667" name="adj"/>
            </a:avLst>
          </a:prstGeom>
          <a:solidFill>
            <a:srgbClr val="2D5FAA"/>
          </a:solidFill>
          <a:ln cap="flat" cmpd="sng" w="110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t" bIns="106375" lIns="106375" spcFirstLastPara="1" rIns="106375" wrap="square" tIns="1063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Pass criteria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≥1 concrete AI-wrong case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 recite the 6 checks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Evidence shows how it was caught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Validation checklist still in use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✓ </a:t>
            </a:r>
            <a:r>
              <a:rPr b="0" i="0" lang="en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Coach review passed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8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8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8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8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8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8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28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16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6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296" name="Google Shape;29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6"/>
          <p:cNvSpPr txBox="1"/>
          <p:nvPr/>
        </p:nvSpPr>
        <p:spPr>
          <a:xfrm>
            <a:off x="731527" y="461950"/>
            <a:ext cx="7237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Gate Walkthrough — What the Coach Should Hear</a:t>
            </a:r>
            <a:endParaRPr b="0" i="0" sz="19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731799" y="1014300"/>
            <a:ext cx="604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Focus on reasoning, not just the artifact.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860475" y="1568525"/>
            <a:ext cx="7108800" cy="3030000"/>
          </a:xfrm>
          <a:prstGeom prst="roundRect">
            <a:avLst>
              <a:gd fmla="val 16667" name="adj"/>
            </a:avLst>
          </a:prstGeom>
          <a:solidFill>
            <a:srgbClr val="351C75"/>
          </a:solidFill>
          <a:ln cap="flat" cmpd="sng" w="110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ctr" bIns="106375" lIns="106375" spcFirstLastPara="1" rIns="106375" wrap="square" tIns="106375">
            <a:noAutofit/>
          </a:bodyPr>
          <a:lstStyle/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❖"/>
            </a:pPr>
            <a:r>
              <a:rPr b="0" i="0" lang="en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“This is the AI-generated artifact I validated.”</a:t>
            </a:r>
            <a:endParaRPr b="0" i="0" sz="13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❖"/>
            </a:pPr>
            <a:r>
              <a:rPr b="0" i="0" lang="en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“Here is what I found under Source, Scope, Spec, Cross-check, Run, and Log.”</a:t>
            </a:r>
            <a:endParaRPr b="0" i="0" sz="13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❖"/>
            </a:pPr>
            <a:r>
              <a:rPr b="0" i="0" lang="en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“This is the exact thing AI got wrong.”</a:t>
            </a:r>
            <a:endParaRPr b="0" i="0" sz="13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❖"/>
            </a:pPr>
            <a:r>
              <a:rPr b="0" i="0" lang="en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“This evidence shows what was actually true.”</a:t>
            </a:r>
            <a:endParaRPr b="0" i="0" sz="13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❖"/>
            </a:pPr>
            <a:r>
              <a:rPr b="0" i="0" lang="en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“Because of that finding, I fixed / rejected / re-prompted.”</a:t>
            </a:r>
            <a:endParaRPr b="0" i="0" sz="13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rial"/>
              <a:buChar char="❖"/>
            </a:pPr>
            <a:r>
              <a:rPr b="0" i="0" lang="en" sz="13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“Before accepting this change, I checked what it would touch and where it would run.”</a:t>
            </a:r>
            <a:endParaRPr b="0" i="0" sz="13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C4E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17"/>
          <p:cNvPicPr preferRelativeResize="0"/>
          <p:nvPr/>
        </p:nvPicPr>
        <p:blipFill rotWithShape="1">
          <a:blip r:embed="rId3">
            <a:alphaModFix amt="5000"/>
          </a:blip>
          <a:srcRect b="0" l="0" r="0" t="0"/>
          <a:stretch/>
        </p:blipFill>
        <p:spPr>
          <a:xfrm>
            <a:off x="3592905" y="-647761"/>
            <a:ext cx="5662948" cy="609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7800" y="4833018"/>
            <a:ext cx="781539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7"/>
          <p:cNvSpPr/>
          <p:nvPr/>
        </p:nvSpPr>
        <p:spPr>
          <a:xfrm>
            <a:off x="0" y="0"/>
            <a:ext cx="860467" cy="461961"/>
          </a:xfrm>
          <a:custGeom>
            <a:rect b="b" l="l" r="r" t="t"/>
            <a:pathLst>
              <a:path extrusionOk="0" h="1527143" w="1428161">
                <a:moveTo>
                  <a:pt x="0" y="0"/>
                </a:moveTo>
                <a:lnTo>
                  <a:pt x="1428161" y="0"/>
                </a:lnTo>
                <a:lnTo>
                  <a:pt x="1428161" y="1527143"/>
                </a:lnTo>
                <a:lnTo>
                  <a:pt x="0" y="152714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07" name="Google Shape;30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74176" y="74417"/>
            <a:ext cx="781550" cy="78155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7"/>
          <p:cNvSpPr txBox="1"/>
          <p:nvPr/>
        </p:nvSpPr>
        <p:spPr>
          <a:xfrm>
            <a:off x="731527" y="461950"/>
            <a:ext cx="7237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" sz="1900" u="none" cap="none" strike="noStrike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Week 2 Takeaway — Transfer the Method to Real Work</a:t>
            </a:r>
            <a:endParaRPr b="0" i="0" sz="1900" u="none" cap="none" strike="noStrike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309" name="Google Shape;309;p17"/>
          <p:cNvSpPr txBox="1"/>
          <p:nvPr/>
        </p:nvSpPr>
        <p:spPr>
          <a:xfrm>
            <a:off x="731799" y="1014300"/>
            <a:ext cx="6047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The target behavior</a:t>
            </a:r>
            <a:endParaRPr b="0" i="0" sz="14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0" name="Google Shape;310;p17"/>
          <p:cNvSpPr/>
          <p:nvPr/>
        </p:nvSpPr>
        <p:spPr>
          <a:xfrm>
            <a:off x="860475" y="1568525"/>
            <a:ext cx="7108800" cy="3030000"/>
          </a:xfrm>
          <a:prstGeom prst="roundRect">
            <a:avLst>
              <a:gd fmla="val 16667" name="adj"/>
            </a:avLst>
          </a:prstGeom>
          <a:solidFill>
            <a:srgbClr val="351C75"/>
          </a:solidFill>
          <a:ln cap="flat" cmpd="sng" w="1107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  <a:effectLst>
            <a:outerShdw blurRad="99744" rotWithShape="0" algn="bl" dir="3900000" dist="55414">
              <a:srgbClr val="000000">
                <a:alpha val="21176"/>
              </a:srgbClr>
            </a:outerShdw>
          </a:effectLst>
        </p:spPr>
        <p:txBody>
          <a:bodyPr anchorCtr="0" anchor="ctr" bIns="106375" lIns="106375" spcFirstLastPara="1" rIns="106375" wrap="square" tIns="1063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“AI generated it” is not evidence.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B6D7A8"/>
                </a:solidFill>
                <a:latin typeface="Arial"/>
                <a:ea typeface="Arial"/>
                <a:cs typeface="Arial"/>
                <a:sym typeface="Arial"/>
              </a:rPr>
              <a:t>Validate → Execute → Compare → Log → Decide</a:t>
            </a:r>
            <a:endParaRPr b="1" i="0" sz="1600" u="none" cap="none" strike="noStrike">
              <a:solidFill>
                <a:srgbClr val="B6D7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rgbClr val="B6D7A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D9D9D9"/>
                </a:solidFill>
                <a:latin typeface="Arial"/>
                <a:ea typeface="Arial"/>
                <a:cs typeface="Arial"/>
                <a:sym typeface="Arial"/>
              </a:rPr>
              <a:t>Manual or Automation — same QA responsibility.</a:t>
            </a:r>
            <a:endParaRPr b="0" i="0" sz="1400" u="none" cap="none" strike="noStrike">
              <a:solidFill>
                <a:srgbClr val="D9D9D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