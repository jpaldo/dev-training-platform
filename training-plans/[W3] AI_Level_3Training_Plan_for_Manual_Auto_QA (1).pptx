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Poppins"/>
      <p:regular r:id="rId23"/>
      <p:bold r:id="rId24"/>
      <p:italic r:id="rId25"/>
      <p:boldItalic r:id="rId26"/>
    </p:embeddedFont>
    <p:embeddedFont>
      <p:font typeface="Poppins SemiBold"/>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1" roundtripDataSignature="AMtx7mgMBpmSnohgvWLzmhM2zvtMFJMm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oppins-bold.fntdata"/><Relationship Id="rId23" Type="http://schemas.openxmlformats.org/officeDocument/2006/relationships/font" Target="fonts/Poppi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boldItalic.fntdata"/><Relationship Id="rId25" Type="http://schemas.openxmlformats.org/officeDocument/2006/relationships/font" Target="fonts/Poppins-italic.fntdata"/><Relationship Id="rId28" Type="http://schemas.openxmlformats.org/officeDocument/2006/relationships/font" Target="fonts/PoppinsSemiBold-bold.fntdata"/><Relationship Id="rId27" Type="http://schemas.openxmlformats.org/officeDocument/2006/relationships/font" Target="fonts/PoppinsSemiBold-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SemiBold-italic.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PoppinsSemiBold-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400">
                <a:solidFill>
                  <a:schemeClr val="dk1"/>
                </a:solidFill>
              </a:rPr>
              <a:t>Presenter Script:</a:t>
            </a:r>
            <a:endParaRPr sz="1400">
              <a:solidFill>
                <a:schemeClr val="dk1"/>
              </a:solidFill>
            </a:endParaRPr>
          </a:p>
          <a:p>
            <a:pPr indent="0" lvl="0" marL="0" rtl="0" algn="l">
              <a:lnSpc>
                <a:spcPct val="100000"/>
              </a:lnSpc>
              <a:spcBef>
                <a:spcPts val="0"/>
              </a:spcBef>
              <a:spcAft>
                <a:spcPts val="0"/>
              </a:spcAft>
              <a:buSzPts val="1100"/>
              <a:buNone/>
            </a:pPr>
            <a:r>
              <a:rPr lang="en" sz="1400">
                <a:solidFill>
                  <a:schemeClr val="dk1"/>
                </a:solidFill>
              </a:rPr>
              <a:t>By the end of this week, participants should have used at least three distinct L3 skills on real work. Activity 1 develops AI-assisted root-cause analysis. Activity 2 connects requirements to executable tests. Activity 3 uses AI to prioritize regression and find coverage gaps. Manual and automation testers can follow different execution paths while learning the same validation discipline.</a:t>
            </a:r>
            <a:endParaRPr sz="140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400">
                <a:solidFill>
                  <a:schemeClr val="dk1"/>
                </a:solidFill>
              </a:rPr>
              <a:t>Presenter Script:</a:t>
            </a:r>
            <a:endParaRPr sz="1400">
              <a:solidFill>
                <a:schemeClr val="dk1"/>
              </a:solidFill>
            </a:endParaRPr>
          </a:p>
          <a:p>
            <a:pPr indent="0" lvl="0" marL="0" rtl="0" algn="l">
              <a:lnSpc>
                <a:spcPct val="100000"/>
              </a:lnSpc>
              <a:spcBef>
                <a:spcPts val="0"/>
              </a:spcBef>
              <a:spcAft>
                <a:spcPts val="0"/>
              </a:spcAft>
              <a:buSzPts val="1100"/>
              <a:buNone/>
            </a:pPr>
            <a:r>
              <a:rPr lang="en" sz="1400">
                <a:solidFill>
                  <a:schemeClr val="dk1"/>
                </a:solidFill>
              </a:rPr>
              <a:t>Use this model for every activity: start with real inputs, ask AI to analyze or generate, validate the output against evidence, make the QA decision, and log the process. AI can propose a root cause, generate code, or rank tests. It does not own the final conclusion.</a:t>
            </a:r>
            <a:endParaRPr sz="1400">
              <a:solidFill>
                <a:schemeClr val="dk1"/>
              </a:solidFill>
            </a:endParaRPr>
          </a:p>
          <a:p>
            <a:pPr indent="0" lvl="0" marL="0" rtl="0" algn="l">
              <a:lnSpc>
                <a:spcPct val="100000"/>
              </a:lnSpc>
              <a:spcBef>
                <a:spcPts val="0"/>
              </a:spcBef>
              <a:spcAft>
                <a:spcPts val="0"/>
              </a:spcAft>
              <a:buSzPts val="1100"/>
              <a:buNone/>
            </a:pPr>
            <a:r>
              <a:t/>
            </a:r>
            <a:endParaRPr sz="140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400">
                <a:solidFill>
                  <a:schemeClr val="dk1"/>
                </a:solidFill>
              </a:rPr>
              <a:t>Presenter Script:</a:t>
            </a:r>
            <a:endParaRPr sz="1400">
              <a:solidFill>
                <a:schemeClr val="dk1"/>
              </a:solidFill>
            </a:endParaRPr>
          </a:p>
          <a:p>
            <a:pPr indent="0" lvl="0" marL="0" rtl="0" algn="l">
              <a:lnSpc>
                <a:spcPct val="100000"/>
              </a:lnSpc>
              <a:spcBef>
                <a:spcPts val="0"/>
              </a:spcBef>
              <a:spcAft>
                <a:spcPts val="0"/>
              </a:spcAft>
              <a:buSzPts val="1100"/>
              <a:buNone/>
            </a:pPr>
            <a:r>
              <a:rPr lang="en" sz="1400">
                <a:solidFill>
                  <a:schemeClr val="dk1"/>
                </a:solidFill>
              </a:rPr>
              <a:t>For Activity 1, pull five failed test runs from your own suite or use the coach-provided shared set. Give AI the relevant logs and stack traces. Ask it to identify patterns and possible common causes. Then validate each claim against the actual evidence and, where possible, code. The final report must distinguish a supported root cause from a hypothesis.</a:t>
            </a:r>
            <a:endParaRPr sz="140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400">
                <a:solidFill>
                  <a:schemeClr val="dk1"/>
                </a:solidFill>
              </a:rPr>
              <a:t>Presenter Script:</a:t>
            </a:r>
            <a:endParaRPr sz="1400">
              <a:solidFill>
                <a:schemeClr val="dk1"/>
              </a:solidFill>
            </a:endParaRPr>
          </a:p>
          <a:p>
            <a:pPr indent="0" lvl="0" marL="0" rtl="0" algn="l">
              <a:lnSpc>
                <a:spcPct val="100000"/>
              </a:lnSpc>
              <a:spcBef>
                <a:spcPts val="0"/>
              </a:spcBef>
              <a:spcAft>
                <a:spcPts val="0"/>
              </a:spcAft>
              <a:buSzPts val="1100"/>
              <a:buNone/>
            </a:pPr>
            <a:r>
              <a:rPr lang="en" sz="1400">
                <a:solidFill>
                  <a:schemeClr val="dk1"/>
                </a:solidFill>
              </a:rPr>
              <a:t>The RCA floor has four requirements. First, concrete evidence behind each claim. Second, a stated root cause or explicit no-shared-cause conclusion. Third, severity and blast radius. Fourth, a suggested fix or next diagnostic step. A strong report is evidence-driven rather than a polished AI narrative.</a:t>
            </a:r>
            <a:endParaRPr sz="140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400">
                <a:solidFill>
                  <a:schemeClr val="dk1"/>
                </a:solidFill>
              </a:rPr>
              <a:t>Presenter Script:</a:t>
            </a:r>
            <a:endParaRPr sz="14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400">
                <a:solidFill>
                  <a:schemeClr val="dk1"/>
                </a:solidFill>
              </a:rPr>
              <a:t>For the live demonstration, AI may see two timeout failures and suggest a common UI initialization issue. We will treat that as a hypothesis. We will compare timestamps, screenshots, logs, application behavior, recent changes, and other failed runs. The lesson is simple: AI can spot patterns quickly, but evidence determines the root cause.</a:t>
            </a:r>
            <a:endParaRPr sz="1400">
              <a:solidFill>
                <a:schemeClr val="dk1"/>
              </a:solidFill>
            </a:endParaRPr>
          </a:p>
          <a:p>
            <a:pPr indent="0" lvl="0" marL="0" rtl="0" algn="l">
              <a:lnSpc>
                <a:spcPct val="100000"/>
              </a:lnSpc>
              <a:spcBef>
                <a:spcPts val="0"/>
              </a:spcBef>
              <a:spcAft>
                <a:spcPts val="0"/>
              </a:spcAft>
              <a:buSzPts val="1100"/>
              <a:buNone/>
            </a:pPr>
            <a:r>
              <a:t/>
            </a:r>
            <a:endParaRPr sz="14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400">
                <a:solidFill>
                  <a:schemeClr val="dk1"/>
                </a:solidFill>
              </a:rPr>
              <a:t>Presenter Script:</a:t>
            </a:r>
            <a:endParaRPr sz="1400">
              <a:solidFill>
                <a:schemeClr val="dk1"/>
              </a:solidFill>
            </a:endParaRPr>
          </a:p>
          <a:p>
            <a:pPr indent="0" lvl="0" marL="0" rtl="0" algn="l">
              <a:lnSpc>
                <a:spcPct val="100000"/>
              </a:lnSpc>
              <a:spcBef>
                <a:spcPts val="0"/>
              </a:spcBef>
              <a:spcAft>
                <a:spcPts val="0"/>
              </a:spcAft>
              <a:buSzPts val="1100"/>
              <a:buNone/>
            </a:pPr>
            <a:r>
              <a:rPr lang="en" sz="1400">
                <a:solidFill>
                  <a:schemeClr val="dk1"/>
                </a:solidFill>
              </a:rPr>
              <a:t>Start from a real ticket or requirement. Ask AI to generate a test in your team's framework, such as Playwright, Robot, AccelQ, or an equivalent. Run the generated test against a real application or environment. Review the assertions, capture evidence, and document anything you fixed or rejected.</a:t>
            </a:r>
            <a:endParaRPr sz="1400">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400">
                <a:solidFill>
                  <a:schemeClr val="dk1"/>
                </a:solidFill>
              </a:rPr>
              <a:t>Presenter Script:</a:t>
            </a:r>
            <a:endParaRPr sz="1400">
              <a:solidFill>
                <a:schemeClr val="dk1"/>
              </a:solidFill>
            </a:endParaRPr>
          </a:p>
          <a:p>
            <a:pPr indent="0" lvl="0" marL="0" rtl="0" algn="l">
              <a:lnSpc>
                <a:spcPct val="100000"/>
              </a:lnSpc>
              <a:spcBef>
                <a:spcPts val="0"/>
              </a:spcBef>
              <a:spcAft>
                <a:spcPts val="0"/>
              </a:spcAft>
              <a:buSzPts val="1100"/>
              <a:buNone/>
            </a:pPr>
            <a:r>
              <a:rPr lang="en" sz="1400">
                <a:solidFill>
                  <a:schemeClr val="dk1"/>
                </a:solidFill>
              </a:rPr>
              <a:t>Automation testers should generate real framework code and execute it. Manual testers should use the real requirement to create structured test steps and expected results; if the team has an automation framework available, they can also generate and execute automation. The shared objective is traceability, correct expected behavior, and validation.</a:t>
            </a:r>
            <a:endParaRPr sz="1400">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400">
                <a:solidFill>
                  <a:schemeClr val="dk1"/>
                </a:solidFill>
              </a:rPr>
              <a:t>Presenter Script:</a:t>
            </a:r>
            <a:endParaRPr sz="14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400">
                <a:solidFill>
                  <a:schemeClr val="dk1"/>
                </a:solidFill>
              </a:rPr>
              <a:t>The deliverable should show the whole loop, not just the final script. We should be able to trace the test to the ticket, see real assertions, see execution evidence, and understand what was fixed or rejected. We can ask whether an approved free AI tool or existing integration can connect to Jira or Trello. If not, an MD file is an acceptable fallback.</a:t>
            </a:r>
            <a:endParaRPr sz="1400">
              <a:solidFill>
                <a:schemeClr val="dk1"/>
              </a:solidFill>
            </a:endParaRPr>
          </a:p>
          <a:p>
            <a:pPr indent="0" lvl="0" marL="0" rtl="0" algn="l">
              <a:lnSpc>
                <a:spcPct val="100000"/>
              </a:lnSpc>
              <a:spcBef>
                <a:spcPts val="0"/>
              </a:spcBef>
              <a:spcAft>
                <a:spcPts val="0"/>
              </a:spcAft>
              <a:buSzPts val="1100"/>
              <a:buNone/>
            </a:pPr>
            <a:r>
              <a:t/>
            </a:r>
            <a:endParaRPr sz="1400">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400">
                <a:solidFill>
                  <a:schemeClr val="dk1"/>
                </a:solidFill>
              </a:rPr>
              <a:t>Presenter Script:</a:t>
            </a:r>
            <a:endParaRPr sz="14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400">
                <a:solidFill>
                  <a:schemeClr val="dk1"/>
                </a:solidFill>
              </a:rPr>
              <a:t>Take a real PR's changed files and the current regression suite, or use a coach-provided sample. Ask AI to prioritize tests based on changed behavior. Then ask AI to identify coverage gaps against the stated requirements. Validate the recommendations against the actual PR diff and requirements. Optional extensions include flaky-test analysis or exploratory charters.</a:t>
            </a:r>
            <a:endParaRPr sz="1400">
              <a:solidFill>
                <a:schemeClr val="dk1"/>
              </a:solidFill>
            </a:endParaRPr>
          </a:p>
          <a:p>
            <a:pPr indent="0" lvl="0" marL="0" rtl="0" algn="l">
              <a:lnSpc>
                <a:spcPct val="100000"/>
              </a:lnSpc>
              <a:spcBef>
                <a:spcPts val="0"/>
              </a:spcBef>
              <a:spcAft>
                <a:spcPts val="0"/>
              </a:spcAft>
              <a:buSzPts val="1100"/>
              <a:buNone/>
            </a:pPr>
            <a:r>
              <a:t/>
            </a:r>
            <a:endParaRPr sz="140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400">
                <a:solidFill>
                  <a:schemeClr val="dk1"/>
                </a:solidFill>
              </a:rPr>
              <a:t>Presenter Script:</a:t>
            </a:r>
            <a:endParaRPr sz="14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400">
                <a:solidFill>
                  <a:schemeClr val="dk1"/>
                </a:solidFill>
              </a:rPr>
              <a:t>For the classroom example, suppose a PR changes authentication and session handling. AI may rank login, protected routes, logout, and session timeout highly. We then inspect the actual changed code paths and requirements. We may accept, reorder, or reject AI's ranking based on evidence.</a:t>
            </a:r>
            <a:endParaRPr sz="1400">
              <a:solidFill>
                <a:schemeClr val="dk1"/>
              </a:solidFill>
            </a:endParaRPr>
          </a:p>
          <a:p>
            <a:pPr indent="0" lvl="0" marL="0" rtl="0" algn="l">
              <a:lnSpc>
                <a:spcPct val="100000"/>
              </a:lnSpc>
              <a:spcBef>
                <a:spcPts val="0"/>
              </a:spcBef>
              <a:spcAft>
                <a:spcPts val="0"/>
              </a:spcAft>
              <a:buSzPts val="1100"/>
              <a:buNone/>
            </a:pPr>
            <a:r>
              <a:t/>
            </a:r>
            <a:endParaRPr sz="140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400">
                <a:solidFill>
                  <a:schemeClr val="dk1"/>
                </a:solidFill>
              </a:rPr>
              <a:t>Presenter Script:</a:t>
            </a:r>
            <a:endParaRPr sz="1400">
              <a:solidFill>
                <a:schemeClr val="dk1"/>
              </a:solidFill>
            </a:endParaRPr>
          </a:p>
          <a:p>
            <a:pPr indent="0" lvl="0" marL="0" rtl="0" algn="l">
              <a:lnSpc>
                <a:spcPct val="100000"/>
              </a:lnSpc>
              <a:spcBef>
                <a:spcPts val="0"/>
              </a:spcBef>
              <a:spcAft>
                <a:spcPts val="0"/>
              </a:spcAft>
              <a:buSzPts val="1100"/>
              <a:buNone/>
            </a:pPr>
            <a:r>
              <a:rPr lang="en" sz="1400">
                <a:solidFill>
                  <a:schemeClr val="dk1"/>
                </a:solidFill>
              </a:rPr>
              <a:t>Coverage analysis is different from regression prioritization. Here we ask whether the requirements are adequately represented by the existing suite.</a:t>
            </a:r>
            <a:endParaRPr sz="1400">
              <a:solidFill>
                <a:schemeClr val="dk1"/>
              </a:solidFill>
            </a:endParaRPr>
          </a:p>
          <a:p>
            <a:pPr indent="0" lvl="0" marL="0" rtl="0" algn="l">
              <a:lnSpc>
                <a:spcPct val="100000"/>
              </a:lnSpc>
              <a:spcBef>
                <a:spcPts val="0"/>
              </a:spcBef>
              <a:spcAft>
                <a:spcPts val="0"/>
              </a:spcAft>
              <a:buSzPts val="1100"/>
              <a:buNone/>
            </a:pPr>
            <a:r>
              <a:t/>
            </a:r>
            <a:endParaRPr sz="1400">
              <a:solidFill>
                <a:schemeClr val="dk1"/>
              </a:solidFill>
            </a:endParaRPr>
          </a:p>
          <a:p>
            <a:pPr indent="0" lvl="0" marL="0" rtl="0" algn="l">
              <a:lnSpc>
                <a:spcPct val="100000"/>
              </a:lnSpc>
              <a:spcBef>
                <a:spcPts val="0"/>
              </a:spcBef>
              <a:spcAft>
                <a:spcPts val="0"/>
              </a:spcAft>
              <a:buSzPts val="1100"/>
              <a:buNone/>
            </a:pPr>
            <a:r>
              <a:rPr lang="en" sz="1400">
                <a:solidFill>
                  <a:schemeClr val="dk1"/>
                </a:solidFill>
              </a:rPr>
              <a:t>For this example, we have four concrete requirements: successful login, invalid-login handling, protected-page access, and session expiration.</a:t>
            </a:r>
            <a:endParaRPr sz="1400">
              <a:solidFill>
                <a:schemeClr val="dk1"/>
              </a:solidFill>
            </a:endParaRPr>
          </a:p>
          <a:p>
            <a:pPr indent="0" lvl="0" marL="0" rtl="0" algn="l">
              <a:lnSpc>
                <a:spcPct val="100000"/>
              </a:lnSpc>
              <a:spcBef>
                <a:spcPts val="0"/>
              </a:spcBef>
              <a:spcAft>
                <a:spcPts val="0"/>
              </a:spcAft>
              <a:buSzPts val="1100"/>
              <a:buNone/>
            </a:pPr>
            <a:r>
              <a:t/>
            </a:r>
            <a:endParaRPr sz="1400">
              <a:solidFill>
                <a:schemeClr val="dk1"/>
              </a:solidFill>
            </a:endParaRPr>
          </a:p>
          <a:p>
            <a:pPr indent="0" lvl="0" marL="0" rtl="0" algn="l">
              <a:lnSpc>
                <a:spcPct val="100000"/>
              </a:lnSpc>
              <a:spcBef>
                <a:spcPts val="0"/>
              </a:spcBef>
              <a:spcAft>
                <a:spcPts val="0"/>
              </a:spcAft>
              <a:buSzPts val="1100"/>
              <a:buNone/>
            </a:pPr>
            <a:r>
              <a:rPr lang="en" sz="1400">
                <a:solidFill>
                  <a:schemeClr val="dk1"/>
                </a:solidFill>
              </a:rPr>
              <a:t>The current suite covers the first two, has no adequate test for protected-page access, and only partially covers session expiration.</a:t>
            </a:r>
            <a:endParaRPr sz="1400">
              <a:solidFill>
                <a:schemeClr val="dk1"/>
              </a:solidFill>
            </a:endParaRPr>
          </a:p>
          <a:p>
            <a:pPr indent="0" lvl="0" marL="0" rtl="0" algn="l">
              <a:lnSpc>
                <a:spcPct val="100000"/>
              </a:lnSpc>
              <a:spcBef>
                <a:spcPts val="0"/>
              </a:spcBef>
              <a:spcAft>
                <a:spcPts val="0"/>
              </a:spcAft>
              <a:buSzPts val="1100"/>
              <a:buNone/>
            </a:pPr>
            <a:r>
              <a:t/>
            </a:r>
            <a:endParaRPr sz="1400">
              <a:solidFill>
                <a:schemeClr val="dk1"/>
              </a:solidFill>
            </a:endParaRPr>
          </a:p>
          <a:p>
            <a:pPr indent="0" lvl="0" marL="0" rtl="0" algn="l">
              <a:lnSpc>
                <a:spcPct val="100000"/>
              </a:lnSpc>
              <a:spcBef>
                <a:spcPts val="0"/>
              </a:spcBef>
              <a:spcAft>
                <a:spcPts val="0"/>
              </a:spcAft>
              <a:buSzPts val="1100"/>
              <a:buNone/>
            </a:pPr>
            <a:r>
              <a:rPr lang="en" sz="1400">
                <a:solidFill>
                  <a:schemeClr val="dk1"/>
                </a:solidFill>
              </a:rPr>
              <a:t>AI can help map requirements to tests and identify those gaps. We still validate every mapping against the actual requirement and existing test behavior. The goal is not to accept AI's gap report automatically, but to use it to focus our QA investigation.</a:t>
            </a:r>
            <a:endParaRPr sz="1400">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400">
                <a:solidFill>
                  <a:schemeClr val="dk1"/>
                </a:solidFill>
              </a:rPr>
              <a:t>Presenter Script:</a:t>
            </a:r>
            <a:endParaRPr sz="1400">
              <a:solidFill>
                <a:schemeClr val="dk1"/>
              </a:solidFill>
            </a:endParaRPr>
          </a:p>
          <a:p>
            <a:pPr indent="0" lvl="0" marL="0" rtl="0" algn="l">
              <a:lnSpc>
                <a:spcPct val="100000"/>
              </a:lnSpc>
              <a:spcBef>
                <a:spcPts val="0"/>
              </a:spcBef>
              <a:spcAft>
                <a:spcPts val="0"/>
              </a:spcAft>
              <a:buSzPts val="1100"/>
              <a:buNone/>
            </a:pPr>
            <a:r>
              <a:rPr lang="en" sz="1400">
                <a:solidFill>
                  <a:schemeClr val="dk1"/>
                </a:solidFill>
              </a:rPr>
              <a:t>The live session starts with the Week 3 operating model. We then spend most of the session on two hands-on demonstrations: failure RCA and requirement-to-test generation. We finish with regression prioritization and the async/Gate instructions.</a:t>
            </a:r>
            <a:endParaRPr sz="1400">
              <a:solidFill>
                <a:schemeClr val="dk1"/>
              </a:solidFill>
            </a:endParaRPr>
          </a:p>
          <a:p>
            <a:pPr indent="0" lvl="0" marL="0" rtl="0" algn="l">
              <a:lnSpc>
                <a:spcPct val="100000"/>
              </a:lnSpc>
              <a:spcBef>
                <a:spcPts val="0"/>
              </a:spcBef>
              <a:spcAft>
                <a:spcPts val="0"/>
              </a:spcAft>
              <a:buSzPts val="1100"/>
              <a:buNone/>
            </a:pPr>
            <a:r>
              <a:t/>
            </a:r>
            <a:endParaRPr sz="1400">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400">
                <a:solidFill>
                  <a:schemeClr val="dk1"/>
                </a:solidFill>
              </a:rPr>
              <a:t>Presenter Script:</a:t>
            </a:r>
            <a:endParaRPr sz="1400">
              <a:solidFill>
                <a:schemeClr val="dk1"/>
              </a:solidFill>
            </a:endParaRPr>
          </a:p>
          <a:p>
            <a:pPr indent="0" lvl="0" marL="0" rtl="0" algn="l">
              <a:lnSpc>
                <a:spcPct val="100000"/>
              </a:lnSpc>
              <a:spcBef>
                <a:spcPts val="0"/>
              </a:spcBef>
              <a:spcAft>
                <a:spcPts val="0"/>
              </a:spcAft>
              <a:buSzPts val="1100"/>
              <a:buNone/>
            </a:pPr>
            <a:r>
              <a:rPr lang="en" sz="1400">
                <a:solidFill>
                  <a:schemeClr val="dk1"/>
                </a:solidFill>
              </a:rPr>
              <a:t>Session 1: complete the five-run RCA. </a:t>
            </a:r>
            <a:endParaRPr sz="1400">
              <a:solidFill>
                <a:schemeClr val="dk1"/>
              </a:solidFill>
            </a:endParaRPr>
          </a:p>
          <a:p>
            <a:pPr indent="0" lvl="0" marL="0" rtl="0" algn="l">
              <a:lnSpc>
                <a:spcPct val="100000"/>
              </a:lnSpc>
              <a:spcBef>
                <a:spcPts val="0"/>
              </a:spcBef>
              <a:spcAft>
                <a:spcPts val="0"/>
              </a:spcAft>
              <a:buSzPts val="1100"/>
              <a:buNone/>
            </a:pPr>
            <a:r>
              <a:rPr lang="en" sz="1400">
                <a:solidFill>
                  <a:schemeClr val="dk1"/>
                </a:solidFill>
              </a:rPr>
              <a:t>Session 2: generate and execute a test from a real ticket. </a:t>
            </a:r>
            <a:endParaRPr sz="1400">
              <a:solidFill>
                <a:schemeClr val="dk1"/>
              </a:solidFill>
            </a:endParaRPr>
          </a:p>
          <a:p>
            <a:pPr indent="0" lvl="0" marL="0" rtl="0" algn="l">
              <a:lnSpc>
                <a:spcPct val="100000"/>
              </a:lnSpc>
              <a:spcBef>
                <a:spcPts val="0"/>
              </a:spcBef>
              <a:spcAft>
                <a:spcPts val="0"/>
              </a:spcAft>
              <a:buSzPts val="1100"/>
              <a:buNone/>
            </a:pPr>
            <a:r>
              <a:rPr lang="en" sz="1400">
                <a:solidFill>
                  <a:schemeClr val="dk1"/>
                </a:solidFill>
              </a:rPr>
              <a:t>Session 3: analyze a real PR and regression suite. </a:t>
            </a:r>
            <a:endParaRPr sz="1400">
              <a:solidFill>
                <a:schemeClr val="dk1"/>
              </a:solidFill>
            </a:endParaRPr>
          </a:p>
          <a:p>
            <a:pPr indent="0" lvl="0" marL="0" rtl="0" algn="l">
              <a:lnSpc>
                <a:spcPct val="100000"/>
              </a:lnSpc>
              <a:spcBef>
                <a:spcPts val="0"/>
              </a:spcBef>
              <a:spcAft>
                <a:spcPts val="0"/>
              </a:spcAft>
              <a:buSzPts val="1100"/>
              <a:buNone/>
            </a:pPr>
            <a:r>
              <a:t/>
            </a:r>
            <a:endParaRPr sz="14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400">
                <a:solidFill>
                  <a:schemeClr val="dk1"/>
                </a:solidFill>
              </a:rPr>
              <a:t>Participants should update the tracker as they work and upload evidence to the Drive folder. Coach-provided samples are acceptable when real project access is unavailable.</a:t>
            </a:r>
            <a:endParaRPr sz="1400">
              <a:solidFill>
                <a:schemeClr val="dk1"/>
              </a:solidFill>
            </a:endParaRPr>
          </a:p>
          <a:p>
            <a:pPr indent="0" lvl="0" marL="0" rtl="0" algn="l">
              <a:lnSpc>
                <a:spcPct val="100000"/>
              </a:lnSpc>
              <a:spcBef>
                <a:spcPts val="0"/>
              </a:spcBef>
              <a:spcAft>
                <a:spcPts val="0"/>
              </a:spcAft>
              <a:buSzPts val="1100"/>
              <a:buNone/>
            </a:pPr>
            <a:r>
              <a:t/>
            </a:r>
            <a:endParaRPr sz="1400">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400">
                <a:solidFill>
                  <a:schemeClr val="dk1"/>
                </a:solidFill>
              </a:rPr>
              <a:t>Presenter Script:</a:t>
            </a:r>
            <a:endParaRPr sz="14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400">
                <a:solidFill>
                  <a:schemeClr val="dk1"/>
                </a:solidFill>
              </a:rPr>
              <a:t>The Gate checks whether the participant can explain the process. The packet should include the tracker, RCA report, executed AI-generated test with evidence, regression and coverage report, and Loom. Passing requires at least three distinct L3 skills on real work, continued use of the validation checklist, and a coach-approved review.</a:t>
            </a:r>
            <a:endParaRPr sz="1400">
              <a:solidFill>
                <a:schemeClr val="dk1"/>
              </a:solidFill>
            </a:endParaRPr>
          </a:p>
          <a:p>
            <a:pPr indent="0" lvl="0" marL="0" rtl="0" algn="l">
              <a:lnSpc>
                <a:spcPct val="100000"/>
              </a:lnSpc>
              <a:spcBef>
                <a:spcPts val="0"/>
              </a:spcBef>
              <a:spcAft>
                <a:spcPts val="0"/>
              </a:spcAft>
              <a:buSzPts val="1100"/>
              <a:buNone/>
            </a:pPr>
            <a:r>
              <a:t/>
            </a:r>
            <a:endParaRPr sz="1400">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400">
                <a:solidFill>
                  <a:schemeClr val="dk1"/>
                </a:solidFill>
              </a:rPr>
              <a:t>Presenter Script:</a:t>
            </a:r>
            <a:endParaRPr sz="14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400">
                <a:solidFill>
                  <a:schemeClr val="dk1"/>
                </a:solidFill>
              </a:rPr>
              <a:t>For the Loom, participants should show the real work item, prompts and important iterations, AI output, accepted and rejected parts, evidence, and the final decision. The goal is to demonstrate QA judgment and learning—not simply present polished artifacts.</a:t>
            </a:r>
            <a:endParaRPr sz="1400">
              <a:solidFill>
                <a:schemeClr val="dk1"/>
              </a:solidFill>
            </a:endParaRPr>
          </a:p>
          <a:p>
            <a:pPr indent="0" lvl="0" marL="0" rtl="0" algn="l">
              <a:lnSpc>
                <a:spcPct val="100000"/>
              </a:lnSpc>
              <a:spcBef>
                <a:spcPts val="0"/>
              </a:spcBef>
              <a:spcAft>
                <a:spcPts val="0"/>
              </a:spcAft>
              <a:buSzPts val="1100"/>
              <a:buNone/>
            </a:pPr>
            <a:r>
              <a:t/>
            </a:r>
            <a:endParaRPr sz="1400">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400">
                <a:solidFill>
                  <a:schemeClr val="dk1"/>
                </a:solidFill>
              </a:rPr>
              <a:t>Presenter Script:</a:t>
            </a:r>
            <a:endParaRPr sz="1400">
              <a:solidFill>
                <a:schemeClr val="dk1"/>
              </a:solidFill>
            </a:endParaRPr>
          </a:p>
          <a:p>
            <a:pPr indent="0" lvl="0" marL="0" rtl="0" algn="l">
              <a:lnSpc>
                <a:spcPct val="100000"/>
              </a:lnSpc>
              <a:spcBef>
                <a:spcPts val="0"/>
              </a:spcBef>
              <a:spcAft>
                <a:spcPts val="0"/>
              </a:spcAft>
              <a:buSzPts val="1100"/>
              <a:buNone/>
            </a:pPr>
            <a:r>
              <a:rPr lang="en" sz="1400">
                <a:solidFill>
                  <a:schemeClr val="dk1"/>
                </a:solidFill>
              </a:rPr>
              <a:t>AI can help us analyze failures, generate tests, and prioritize regression. Whether you are a manual or automation tester, the core behavior is the same: use AI for speed, validate with evidence, execute where needed, investigate discrepancies, and make the final QA decision based on facts.</a:t>
            </a:r>
            <a:endParaRPr sz="1400">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2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2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2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2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2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53" name="Shape 53"/>
        <p:cNvGrpSpPr/>
        <p:nvPr/>
      </p:nvGrpSpPr>
      <p:grpSpPr>
        <a:xfrm>
          <a:off x="0" y="0"/>
          <a:ext cx="0" cy="0"/>
          <a:chOff x="0" y="0"/>
          <a:chExt cx="0" cy="0"/>
        </a:xfrm>
      </p:grpSpPr>
      <p:sp>
        <p:nvSpPr>
          <p:cNvPr id="54" name="Google Shape;54;p1"/>
          <p:cNvSpPr txBox="1"/>
          <p:nvPr/>
        </p:nvSpPr>
        <p:spPr>
          <a:xfrm>
            <a:off x="731526" y="461950"/>
            <a:ext cx="67425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chemeClr val="lt1"/>
                </a:solidFill>
                <a:latin typeface="Poppins SemiBold"/>
                <a:ea typeface="Poppins SemiBold"/>
                <a:cs typeface="Poppins SemiBold"/>
                <a:sym typeface="Poppins SemiBold"/>
              </a:rPr>
              <a:t>WEEK 3 TRAINING PLAN</a:t>
            </a:r>
            <a:br>
              <a:rPr b="0" i="0" lang="en" sz="3000" u="none" cap="none" strike="noStrike">
                <a:solidFill>
                  <a:schemeClr val="lt1"/>
                </a:solidFill>
                <a:latin typeface="Poppins SemiBold"/>
                <a:ea typeface="Poppins SemiBold"/>
                <a:cs typeface="Poppins SemiBold"/>
                <a:sym typeface="Poppins SemiBold"/>
              </a:rPr>
            </a:br>
            <a:r>
              <a:rPr b="0" i="0" lang="en" sz="1200" u="none" cap="none" strike="noStrike">
                <a:solidFill>
                  <a:schemeClr val="lt1"/>
                </a:solidFill>
                <a:latin typeface="Poppins SemiBold"/>
                <a:ea typeface="Poppins SemiBold"/>
                <a:cs typeface="Poppins SemiBold"/>
                <a:sym typeface="Poppins SemiBold"/>
              </a:rPr>
              <a:t>AI-Assisted Failure Analysis, Test Generation &amp; Regression Intelligence</a:t>
            </a:r>
            <a:endParaRPr b="0" i="0" sz="1200" u="none" cap="none" strike="noStrike">
              <a:solidFill>
                <a:schemeClr val="lt1"/>
              </a:solidFill>
              <a:latin typeface="Poppins SemiBold"/>
              <a:ea typeface="Poppins SemiBold"/>
              <a:cs typeface="Poppins SemiBold"/>
              <a:sym typeface="Poppins SemiBold"/>
            </a:endParaRPr>
          </a:p>
        </p:txBody>
      </p:sp>
      <p:pic>
        <p:nvPicPr>
          <p:cNvPr id="55" name="Google Shape;55;p1"/>
          <p:cNvPicPr preferRelativeResize="0"/>
          <p:nvPr/>
        </p:nvPicPr>
        <p:blipFill rotWithShape="1">
          <a:blip r:embed="rId3">
            <a:alphaModFix amt="5000"/>
          </a:blip>
          <a:srcRect b="0" l="0" r="0" t="0"/>
          <a:stretch/>
        </p:blipFill>
        <p:spPr>
          <a:xfrm>
            <a:off x="3543480" y="-74536"/>
            <a:ext cx="5662948" cy="6097674"/>
          </a:xfrm>
          <a:prstGeom prst="rect">
            <a:avLst/>
          </a:prstGeom>
          <a:noFill/>
          <a:ln>
            <a:noFill/>
          </a:ln>
        </p:spPr>
      </p:pic>
      <p:pic>
        <p:nvPicPr>
          <p:cNvPr id="56" name="Google Shape;56;p1"/>
          <p:cNvPicPr preferRelativeResize="0"/>
          <p:nvPr/>
        </p:nvPicPr>
        <p:blipFill rotWithShape="1">
          <a:blip r:embed="rId4">
            <a:alphaModFix amt="30000"/>
          </a:blip>
          <a:srcRect b="0" l="0" r="0" t="0"/>
          <a:stretch/>
        </p:blipFill>
        <p:spPr>
          <a:xfrm>
            <a:off x="147800" y="4833018"/>
            <a:ext cx="781539" cy="182880"/>
          </a:xfrm>
          <a:prstGeom prst="rect">
            <a:avLst/>
          </a:prstGeom>
          <a:noFill/>
          <a:ln>
            <a:noFill/>
          </a:ln>
        </p:spPr>
      </p:pic>
      <p:sp>
        <p:nvSpPr>
          <p:cNvPr id="57" name="Google Shape;57;p1"/>
          <p:cNvSpPr txBox="1"/>
          <p:nvPr/>
        </p:nvSpPr>
        <p:spPr>
          <a:xfrm>
            <a:off x="731520" y="2997775"/>
            <a:ext cx="7946100" cy="9234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50000"/>
              </a:lnSpc>
              <a:spcBef>
                <a:spcPts val="0"/>
              </a:spcBef>
              <a:spcAft>
                <a:spcPts val="0"/>
              </a:spcAft>
              <a:buClr>
                <a:srgbClr val="FFFFFF"/>
              </a:buClr>
              <a:buSzPts val="1200"/>
              <a:buFont typeface="Poppins"/>
              <a:buChar char="❖"/>
            </a:pPr>
            <a:r>
              <a:rPr b="0" i="0" lang="en" sz="1200" u="none" cap="none" strike="noStrike">
                <a:solidFill>
                  <a:srgbClr val="FFFFFF"/>
                </a:solidFill>
                <a:latin typeface="Poppins"/>
                <a:ea typeface="Poppins"/>
                <a:cs typeface="Poppins"/>
                <a:sym typeface="Poppins"/>
              </a:rPr>
              <a:t>1-hour synchronous class + async execution</a:t>
            </a:r>
            <a:endParaRPr b="0" i="0" sz="1200" u="none" cap="none" strike="noStrike">
              <a:solidFill>
                <a:srgbClr val="FFFFFF"/>
              </a:solidFill>
              <a:latin typeface="Poppins"/>
              <a:ea typeface="Poppins"/>
              <a:cs typeface="Poppins"/>
              <a:sym typeface="Poppins"/>
            </a:endParaRPr>
          </a:p>
          <a:p>
            <a:pPr indent="-304800" lvl="0" marL="457200" marR="0" rtl="0" algn="l">
              <a:lnSpc>
                <a:spcPct val="150000"/>
              </a:lnSpc>
              <a:spcBef>
                <a:spcPts val="0"/>
              </a:spcBef>
              <a:spcAft>
                <a:spcPts val="0"/>
              </a:spcAft>
              <a:buClr>
                <a:srgbClr val="FFFFFF"/>
              </a:buClr>
              <a:buSzPts val="1200"/>
              <a:buFont typeface="Poppins"/>
              <a:buChar char="❖"/>
            </a:pPr>
            <a:r>
              <a:rPr b="0" i="0" lang="en" sz="1200" u="none" cap="none" strike="noStrike">
                <a:solidFill>
                  <a:srgbClr val="FFFFFF"/>
                </a:solidFill>
                <a:latin typeface="Poppins"/>
                <a:ea typeface="Poppins"/>
                <a:cs typeface="Poppins"/>
                <a:sym typeface="Poppins"/>
              </a:rPr>
              <a:t>Audience: Manual + Automation Testers</a:t>
            </a:r>
            <a:endParaRPr b="0" i="0" sz="1200" u="none" cap="none" strike="noStrike">
              <a:solidFill>
                <a:srgbClr val="FFFFFF"/>
              </a:solidFill>
              <a:latin typeface="Poppins"/>
              <a:ea typeface="Poppins"/>
              <a:cs typeface="Poppins"/>
              <a:sym typeface="Poppins"/>
            </a:endParaRPr>
          </a:p>
          <a:p>
            <a:pPr indent="-304800" lvl="0" marL="457200" marR="0" rtl="0" algn="l">
              <a:lnSpc>
                <a:spcPct val="150000"/>
              </a:lnSpc>
              <a:spcBef>
                <a:spcPts val="0"/>
              </a:spcBef>
              <a:spcAft>
                <a:spcPts val="0"/>
              </a:spcAft>
              <a:buClr>
                <a:srgbClr val="FFFFFF"/>
              </a:buClr>
              <a:buSzPts val="1200"/>
              <a:buFont typeface="Poppins"/>
              <a:buChar char="❖"/>
            </a:pPr>
            <a:r>
              <a:rPr b="0" i="0" lang="en" sz="1200" u="none" cap="none" strike="noStrike">
                <a:solidFill>
                  <a:srgbClr val="FFFFFF"/>
                </a:solidFill>
                <a:latin typeface="Poppins"/>
                <a:ea typeface="Poppins"/>
                <a:cs typeface="Poppins"/>
                <a:sym typeface="Poppins"/>
              </a:rPr>
              <a:t>Real project artifacts are preferred; coach-provided samples may be used</a:t>
            </a:r>
            <a:endParaRPr b="0" i="0" sz="1200" u="none" cap="none" strike="noStrike">
              <a:solidFill>
                <a:srgbClr val="FFFFFF"/>
              </a:solidFill>
              <a:latin typeface="Poppins"/>
              <a:ea typeface="Poppins"/>
              <a:cs typeface="Poppins"/>
              <a:sym typeface="Poppins"/>
            </a:endParaRPr>
          </a:p>
        </p:txBody>
      </p:sp>
      <p:sp>
        <p:nvSpPr>
          <p:cNvPr id="58" name="Google Shape;58;p1"/>
          <p:cNvSpPr txBox="1"/>
          <p:nvPr/>
        </p:nvSpPr>
        <p:spPr>
          <a:xfrm>
            <a:off x="731795" y="2247038"/>
            <a:ext cx="6096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Poppins SemiBold"/>
                <a:ea typeface="Poppins SemiBold"/>
                <a:cs typeface="Poppins SemiBold"/>
                <a:sym typeface="Poppins SemiBold"/>
              </a:rPr>
              <a:t>Validate AI before you trust it.</a:t>
            </a:r>
            <a:endParaRPr b="0" i="0" sz="1800" u="none" cap="none" strike="noStrike">
              <a:solidFill>
                <a:schemeClr val="lt1"/>
              </a:solidFill>
              <a:latin typeface="Poppins SemiBold"/>
              <a:ea typeface="Poppins SemiBold"/>
              <a:cs typeface="Poppins SemiBold"/>
              <a:sym typeface="Poppins SemiBold"/>
            </a:endParaRPr>
          </a:p>
        </p:txBody>
      </p:sp>
      <p:sp>
        <p:nvSpPr>
          <p:cNvPr id="59" name="Google Shape;59;p1"/>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60" name="Google Shape;60;p1"/>
          <p:cNvPicPr preferRelativeResize="0"/>
          <p:nvPr/>
        </p:nvPicPr>
        <p:blipFill rotWithShape="1">
          <a:blip r:embed="rId6">
            <a:alphaModFix/>
          </a:blip>
          <a:srcRect b="0" l="0" r="0" t="0"/>
          <a:stretch/>
        </p:blipFill>
        <p:spPr>
          <a:xfrm>
            <a:off x="8274176" y="74417"/>
            <a:ext cx="781550" cy="781550"/>
          </a:xfrm>
          <a:prstGeom prst="rect">
            <a:avLst/>
          </a:prstGeom>
          <a:noFill/>
          <a:ln>
            <a:noFill/>
          </a:ln>
        </p:spPr>
      </p:pic>
      <p:sp>
        <p:nvSpPr>
          <p:cNvPr id="61" name="Google Shape;61;p1"/>
          <p:cNvSpPr txBox="1"/>
          <p:nvPr/>
        </p:nvSpPr>
        <p:spPr>
          <a:xfrm>
            <a:off x="731795" y="1697088"/>
            <a:ext cx="3561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Poppins"/>
                <a:ea typeface="Poppins"/>
                <a:cs typeface="Poppins"/>
                <a:sym typeface="Poppins"/>
              </a:rPr>
              <a:t>September</a:t>
            </a:r>
            <a:endParaRPr b="0" i="0" sz="1400" u="none" cap="none" strike="noStrike">
              <a:solidFill>
                <a:schemeClr val="lt1"/>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65" name="Shape 65"/>
        <p:cNvGrpSpPr/>
        <p:nvPr/>
      </p:nvGrpSpPr>
      <p:grpSpPr>
        <a:xfrm>
          <a:off x="0" y="0"/>
          <a:ext cx="0" cy="0"/>
          <a:chOff x="0" y="0"/>
          <a:chExt cx="0" cy="0"/>
        </a:xfrm>
      </p:grpSpPr>
      <p:pic>
        <p:nvPicPr>
          <p:cNvPr id="66" name="Google Shape;66;p2"/>
          <p:cNvPicPr preferRelativeResize="0"/>
          <p:nvPr/>
        </p:nvPicPr>
        <p:blipFill rotWithShape="1">
          <a:blip r:embed="rId3">
            <a:alphaModFix amt="5000"/>
          </a:blip>
          <a:srcRect b="0" l="0" r="0" t="0"/>
          <a:stretch/>
        </p:blipFill>
        <p:spPr>
          <a:xfrm>
            <a:off x="3592905" y="-647761"/>
            <a:ext cx="5662948" cy="6097674"/>
          </a:xfrm>
          <a:prstGeom prst="rect">
            <a:avLst/>
          </a:prstGeom>
          <a:noFill/>
          <a:ln>
            <a:noFill/>
          </a:ln>
        </p:spPr>
      </p:pic>
      <p:pic>
        <p:nvPicPr>
          <p:cNvPr id="67" name="Google Shape;67;p2"/>
          <p:cNvPicPr preferRelativeResize="0"/>
          <p:nvPr/>
        </p:nvPicPr>
        <p:blipFill rotWithShape="1">
          <a:blip r:embed="rId4">
            <a:alphaModFix/>
          </a:blip>
          <a:srcRect b="0" l="0" r="0" t="0"/>
          <a:stretch/>
        </p:blipFill>
        <p:spPr>
          <a:xfrm>
            <a:off x="147800" y="4833018"/>
            <a:ext cx="781539" cy="182880"/>
          </a:xfrm>
          <a:prstGeom prst="rect">
            <a:avLst/>
          </a:prstGeom>
          <a:noFill/>
          <a:ln>
            <a:noFill/>
          </a:ln>
        </p:spPr>
      </p:pic>
      <p:sp>
        <p:nvSpPr>
          <p:cNvPr id="68" name="Google Shape;68;p2"/>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69" name="Google Shape;69;p2"/>
          <p:cNvPicPr preferRelativeResize="0"/>
          <p:nvPr/>
        </p:nvPicPr>
        <p:blipFill rotWithShape="1">
          <a:blip r:embed="rId6">
            <a:alphaModFix/>
          </a:blip>
          <a:srcRect b="0" l="0" r="0" t="0"/>
          <a:stretch/>
        </p:blipFill>
        <p:spPr>
          <a:xfrm>
            <a:off x="8274176" y="74417"/>
            <a:ext cx="781550" cy="781550"/>
          </a:xfrm>
          <a:prstGeom prst="rect">
            <a:avLst/>
          </a:prstGeom>
          <a:noFill/>
          <a:ln>
            <a:noFill/>
          </a:ln>
        </p:spPr>
      </p:pic>
      <p:sp>
        <p:nvSpPr>
          <p:cNvPr id="70" name="Google Shape;70;p2"/>
          <p:cNvSpPr txBox="1"/>
          <p:nvPr/>
        </p:nvSpPr>
        <p:spPr>
          <a:xfrm>
            <a:off x="731527" y="461950"/>
            <a:ext cx="77313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chemeClr val="lt1"/>
                </a:solidFill>
                <a:latin typeface="Poppins SemiBold"/>
                <a:ea typeface="Poppins SemiBold"/>
                <a:cs typeface="Poppins SemiBold"/>
                <a:sym typeface="Poppins SemiBold"/>
              </a:rPr>
              <a:t>Week 3 Learning Outcomes</a:t>
            </a:r>
            <a:endParaRPr b="0" i="0" sz="3000" u="none" cap="none" strike="noStrike">
              <a:solidFill>
                <a:schemeClr val="lt1"/>
              </a:solidFill>
              <a:latin typeface="Poppins SemiBold"/>
              <a:ea typeface="Poppins SemiBold"/>
              <a:cs typeface="Poppins SemiBold"/>
              <a:sym typeface="Poppins SemiBold"/>
            </a:endParaRPr>
          </a:p>
        </p:txBody>
      </p:sp>
      <p:sp>
        <p:nvSpPr>
          <p:cNvPr id="71" name="Google Shape;71;p2"/>
          <p:cNvSpPr txBox="1"/>
          <p:nvPr/>
        </p:nvSpPr>
        <p:spPr>
          <a:xfrm>
            <a:off x="731800" y="1014300"/>
            <a:ext cx="75423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30000"/>
              </a:lnSpc>
              <a:spcBef>
                <a:spcPts val="0"/>
              </a:spcBef>
              <a:spcAft>
                <a:spcPts val="0"/>
              </a:spcAft>
              <a:buClr>
                <a:srgbClr val="000000"/>
              </a:buClr>
              <a:buSzPts val="1200"/>
              <a:buFont typeface="Arial"/>
              <a:buNone/>
            </a:pPr>
            <a:r>
              <a:rPr b="0" i="0" lang="en" sz="1200" u="none" cap="none" strike="noStrike">
                <a:solidFill>
                  <a:schemeClr val="lt1"/>
                </a:solidFill>
                <a:latin typeface="Poppins"/>
                <a:ea typeface="Poppins"/>
                <a:cs typeface="Poppins"/>
                <a:sym typeface="Poppins"/>
              </a:rPr>
              <a:t>By the end of the week, participants should demonstrate validation—not blind acceptance.</a:t>
            </a:r>
            <a:endParaRPr b="0" i="0" sz="1200" u="none" cap="none" strike="noStrike">
              <a:solidFill>
                <a:schemeClr val="lt1"/>
              </a:solidFill>
              <a:latin typeface="Poppins"/>
              <a:ea typeface="Poppins"/>
              <a:cs typeface="Poppins"/>
              <a:sym typeface="Poppins"/>
            </a:endParaRPr>
          </a:p>
        </p:txBody>
      </p:sp>
      <p:sp>
        <p:nvSpPr>
          <p:cNvPr id="72" name="Google Shape;72;p2"/>
          <p:cNvSpPr/>
          <p:nvPr/>
        </p:nvSpPr>
        <p:spPr>
          <a:xfrm>
            <a:off x="823100" y="1653775"/>
            <a:ext cx="3608700" cy="13425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1 • Failure RCA</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50"/>
              <a:buFont typeface="Arial"/>
              <a:buNone/>
            </a:pPr>
            <a:r>
              <a:rPr b="0" i="0" lang="en" sz="1250" u="none" cap="none" strike="noStrike">
                <a:solidFill>
                  <a:srgbClr val="5A6473"/>
                </a:solidFill>
                <a:latin typeface="Calibri"/>
                <a:ea typeface="Calibri"/>
                <a:cs typeface="Calibri"/>
                <a:sym typeface="Calibri"/>
              </a:rPr>
              <a:t>Analyze 5 failed runs; trace AI claims to logs, stack traces and code; assess blast radius. </a:t>
            </a:r>
            <a:endParaRPr b="0" i="0" sz="1400" u="none" cap="none" strike="noStrike">
              <a:solidFill>
                <a:srgbClr val="000000"/>
              </a:solidFill>
              <a:latin typeface="Arial"/>
              <a:ea typeface="Arial"/>
              <a:cs typeface="Arial"/>
              <a:sym typeface="Arial"/>
            </a:endParaRPr>
          </a:p>
        </p:txBody>
      </p:sp>
      <p:sp>
        <p:nvSpPr>
          <p:cNvPr id="73" name="Google Shape;73;p2"/>
          <p:cNvSpPr/>
          <p:nvPr/>
        </p:nvSpPr>
        <p:spPr>
          <a:xfrm>
            <a:off x="4702850" y="1653775"/>
            <a:ext cx="3608700" cy="1342500"/>
          </a:xfrm>
          <a:prstGeom prst="roundRect">
            <a:avLst>
              <a:gd fmla="val 16667" name="adj"/>
            </a:avLst>
          </a:prstGeom>
          <a:solidFill>
            <a:srgbClr val="990000"/>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2 • Script from Description</a:t>
            </a:r>
            <a:endParaRPr b="1"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50"/>
              <a:buFont typeface="Arial"/>
              <a:buNone/>
            </a:pPr>
            <a:r>
              <a:rPr b="0" i="0" lang="en" sz="1250" u="none" cap="none" strike="noStrike">
                <a:solidFill>
                  <a:schemeClr val="lt1"/>
                </a:solidFill>
                <a:latin typeface="Calibri"/>
                <a:ea typeface="Calibri"/>
                <a:cs typeface="Calibri"/>
                <a:sym typeface="Calibri"/>
              </a:rPr>
              <a:t>Turn a real requirement into a working test in the team's framework, then execute and validate it.</a:t>
            </a:r>
            <a:endParaRPr b="0" i="0" sz="125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50"/>
              <a:buFont typeface="Arial"/>
              <a:buNone/>
            </a:pPr>
            <a:r>
              <a:t/>
            </a:r>
            <a:endParaRPr b="1" i="0" sz="125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lt1"/>
              </a:solidFill>
              <a:latin typeface="Arial"/>
              <a:ea typeface="Arial"/>
              <a:cs typeface="Arial"/>
              <a:sym typeface="Arial"/>
            </a:endParaRPr>
          </a:p>
        </p:txBody>
      </p:sp>
      <p:sp>
        <p:nvSpPr>
          <p:cNvPr id="74" name="Google Shape;74;p2"/>
          <p:cNvSpPr/>
          <p:nvPr/>
        </p:nvSpPr>
        <p:spPr>
          <a:xfrm>
            <a:off x="2767650" y="3314438"/>
            <a:ext cx="3608700" cy="1342500"/>
          </a:xfrm>
          <a:prstGeom prst="round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3 • Regression Intelligence</a:t>
            </a:r>
            <a:endParaRPr b="1"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50"/>
              <a:buFont typeface="Arial"/>
              <a:buNone/>
            </a:pPr>
            <a:r>
              <a:rPr b="0" i="0" lang="en" sz="1250" u="none" cap="none" strike="noStrike">
                <a:solidFill>
                  <a:schemeClr val="lt1"/>
                </a:solidFill>
                <a:latin typeface="Calibri"/>
                <a:ea typeface="Calibri"/>
                <a:cs typeface="Calibri"/>
                <a:sym typeface="Calibri"/>
              </a:rPr>
              <a:t>Use a real PR and requirements to prioritize regression and expose coverage gaps.</a:t>
            </a:r>
            <a:endParaRPr b="0" i="0" sz="125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
                                        </p:tgtEl>
                                        <p:attrNameLst>
                                          <p:attrName>style.visibility</p:attrName>
                                        </p:attrNameLst>
                                      </p:cBhvr>
                                      <p:to>
                                        <p:strVal val="visible"/>
                                      </p:to>
                                    </p:set>
                                    <p:animEffect filter="fade" transition="in">
                                      <p:cBhvr>
                                        <p:cTn dur="1000"/>
                                        <p:tgtEl>
                                          <p:spTgt spid="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gtEl>
                                        <p:attrNameLst>
                                          <p:attrName>style.visibility</p:attrName>
                                        </p:attrNameLst>
                                      </p:cBhvr>
                                      <p:to>
                                        <p:strVal val="visible"/>
                                      </p:to>
                                    </p:set>
                                    <p:animEffect filter="fade" transition="in">
                                      <p:cBhvr>
                                        <p:cTn dur="1000"/>
                                        <p:tgtEl>
                                          <p:spTgt spid="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gtEl>
                                        <p:attrNameLst>
                                          <p:attrName>style.visibility</p:attrName>
                                        </p:attrNameLst>
                                      </p:cBhvr>
                                      <p:to>
                                        <p:strVal val="visible"/>
                                      </p:to>
                                    </p:set>
                                    <p:animEffect filter="fade" transition="in">
                                      <p:cBhvr>
                                        <p:cTn dur="1000"/>
                                        <p:tgtEl>
                                          <p:spTgt spid="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78" name="Shape 78"/>
        <p:cNvGrpSpPr/>
        <p:nvPr/>
      </p:nvGrpSpPr>
      <p:grpSpPr>
        <a:xfrm>
          <a:off x="0" y="0"/>
          <a:ext cx="0" cy="0"/>
          <a:chOff x="0" y="0"/>
          <a:chExt cx="0" cy="0"/>
        </a:xfrm>
      </p:grpSpPr>
      <p:pic>
        <p:nvPicPr>
          <p:cNvPr id="79" name="Google Shape;79;p3"/>
          <p:cNvPicPr preferRelativeResize="0"/>
          <p:nvPr/>
        </p:nvPicPr>
        <p:blipFill rotWithShape="1">
          <a:blip r:embed="rId3">
            <a:alphaModFix amt="5000"/>
          </a:blip>
          <a:srcRect b="0" l="0" r="0" t="0"/>
          <a:stretch/>
        </p:blipFill>
        <p:spPr>
          <a:xfrm>
            <a:off x="3592905" y="-647761"/>
            <a:ext cx="5662948" cy="6097674"/>
          </a:xfrm>
          <a:prstGeom prst="rect">
            <a:avLst/>
          </a:prstGeom>
          <a:noFill/>
          <a:ln>
            <a:noFill/>
          </a:ln>
        </p:spPr>
      </p:pic>
      <p:pic>
        <p:nvPicPr>
          <p:cNvPr id="80" name="Google Shape;80;p3"/>
          <p:cNvPicPr preferRelativeResize="0"/>
          <p:nvPr/>
        </p:nvPicPr>
        <p:blipFill rotWithShape="1">
          <a:blip r:embed="rId4">
            <a:alphaModFix/>
          </a:blip>
          <a:srcRect b="0" l="0" r="0" t="0"/>
          <a:stretch/>
        </p:blipFill>
        <p:spPr>
          <a:xfrm>
            <a:off x="147800" y="4833018"/>
            <a:ext cx="781539" cy="182880"/>
          </a:xfrm>
          <a:prstGeom prst="rect">
            <a:avLst/>
          </a:prstGeom>
          <a:noFill/>
          <a:ln>
            <a:noFill/>
          </a:ln>
        </p:spPr>
      </p:pic>
      <p:sp>
        <p:nvSpPr>
          <p:cNvPr id="81" name="Google Shape;81;p3"/>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82" name="Google Shape;82;p3"/>
          <p:cNvPicPr preferRelativeResize="0"/>
          <p:nvPr/>
        </p:nvPicPr>
        <p:blipFill rotWithShape="1">
          <a:blip r:embed="rId6">
            <a:alphaModFix/>
          </a:blip>
          <a:srcRect b="0" l="0" r="0" t="0"/>
          <a:stretch/>
        </p:blipFill>
        <p:spPr>
          <a:xfrm>
            <a:off x="8274176" y="74417"/>
            <a:ext cx="781550" cy="781550"/>
          </a:xfrm>
          <a:prstGeom prst="rect">
            <a:avLst/>
          </a:prstGeom>
          <a:noFill/>
          <a:ln>
            <a:noFill/>
          </a:ln>
        </p:spPr>
      </p:pic>
      <p:sp>
        <p:nvSpPr>
          <p:cNvPr id="83" name="Google Shape;83;p3"/>
          <p:cNvSpPr txBox="1"/>
          <p:nvPr/>
        </p:nvSpPr>
        <p:spPr>
          <a:xfrm>
            <a:off x="731527" y="461950"/>
            <a:ext cx="72378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0" i="0" lang="en" sz="2300" u="none" cap="none" strike="noStrike">
                <a:solidFill>
                  <a:schemeClr val="lt1"/>
                </a:solidFill>
                <a:latin typeface="Poppins SemiBold"/>
                <a:ea typeface="Poppins SemiBold"/>
                <a:cs typeface="Poppins SemiBold"/>
                <a:sym typeface="Poppins SemiBold"/>
              </a:rPr>
              <a:t>The Week 3 Operating Model</a:t>
            </a:r>
            <a:endParaRPr b="0" i="0" sz="2300" u="none" cap="none" strike="noStrike">
              <a:solidFill>
                <a:schemeClr val="lt1"/>
              </a:solidFill>
              <a:latin typeface="Poppins SemiBold"/>
              <a:ea typeface="Poppins SemiBold"/>
              <a:cs typeface="Poppins SemiBold"/>
              <a:sym typeface="Poppins SemiBold"/>
            </a:endParaRPr>
          </a:p>
        </p:txBody>
      </p:sp>
      <p:sp>
        <p:nvSpPr>
          <p:cNvPr id="84" name="Google Shape;84;p3"/>
          <p:cNvSpPr txBox="1"/>
          <p:nvPr/>
        </p:nvSpPr>
        <p:spPr>
          <a:xfrm>
            <a:off x="731799" y="1014300"/>
            <a:ext cx="6047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30000"/>
              </a:lnSpc>
              <a:spcBef>
                <a:spcPts val="0"/>
              </a:spcBef>
              <a:spcAft>
                <a:spcPts val="0"/>
              </a:spcAft>
              <a:buClr>
                <a:srgbClr val="000000"/>
              </a:buClr>
              <a:buSzPts val="1400"/>
              <a:buFont typeface="Arial"/>
              <a:buNone/>
            </a:pPr>
            <a:r>
              <a:rPr b="0" i="0" lang="en" sz="1400" u="none" cap="none" strike="noStrike">
                <a:solidFill>
                  <a:schemeClr val="lt1"/>
                </a:solidFill>
                <a:latin typeface="Poppins"/>
                <a:ea typeface="Poppins"/>
                <a:cs typeface="Poppins"/>
                <a:sym typeface="Poppins"/>
              </a:rPr>
              <a:t>AI assists the work; the tester owns the conclusion</a:t>
            </a:r>
            <a:endParaRPr b="0" i="0" sz="1400" u="none" cap="none" strike="noStrike">
              <a:solidFill>
                <a:schemeClr val="lt1"/>
              </a:solidFill>
              <a:latin typeface="Poppins"/>
              <a:ea typeface="Poppins"/>
              <a:cs typeface="Poppins"/>
              <a:sym typeface="Poppins"/>
            </a:endParaRPr>
          </a:p>
        </p:txBody>
      </p:sp>
      <p:sp>
        <p:nvSpPr>
          <p:cNvPr id="85" name="Google Shape;85;p3"/>
          <p:cNvSpPr/>
          <p:nvPr/>
        </p:nvSpPr>
        <p:spPr>
          <a:xfrm>
            <a:off x="698200" y="1900500"/>
            <a:ext cx="1380300" cy="2084100"/>
          </a:xfrm>
          <a:prstGeom prst="roundRect">
            <a:avLst>
              <a:gd fmla="val 16667" name="adj"/>
            </a:avLst>
          </a:prstGeom>
          <a:solidFill>
            <a:srgbClr val="FFFF00"/>
          </a:solidFill>
          <a:ln cap="flat" cmpd="sng" w="9525">
            <a:solidFill>
              <a:srgbClr val="BF9000"/>
            </a:solidFill>
            <a:prstDash val="solid"/>
            <a:round/>
            <a:headEnd len="sm" w="sm" type="none"/>
            <a:tailEnd len="sm" w="sm" type="none"/>
          </a:ln>
          <a:effectLst>
            <a:outerShdw blurRad="57150" rotWithShape="0" algn="bl" dir="1800000" dist="47625">
              <a:srgbClr val="000000">
                <a:alpha val="20000"/>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INPUT</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5A6473"/>
                </a:solidFill>
                <a:latin typeface="Calibri"/>
                <a:ea typeface="Calibri"/>
                <a:cs typeface="Calibri"/>
                <a:sym typeface="Calibri"/>
              </a:rPr>
              <a:t>Logs, tickets, requirements, PR diff, suite</a:t>
            </a:r>
            <a:endParaRPr b="0" i="0" sz="1000" u="none" cap="none" strike="noStrike">
              <a:solidFill>
                <a:srgbClr val="5A6473"/>
              </a:solidFill>
              <a:latin typeface="Calibri"/>
              <a:ea typeface="Calibri"/>
              <a:cs typeface="Calibri"/>
              <a:sym typeface="Calibri"/>
            </a:endParaRPr>
          </a:p>
        </p:txBody>
      </p:sp>
      <p:sp>
        <p:nvSpPr>
          <p:cNvPr id="86" name="Google Shape;86;p3"/>
          <p:cNvSpPr/>
          <p:nvPr/>
        </p:nvSpPr>
        <p:spPr>
          <a:xfrm>
            <a:off x="2246075" y="1900500"/>
            <a:ext cx="1380300" cy="2084100"/>
          </a:xfrm>
          <a:prstGeom prst="roundRect">
            <a:avLst>
              <a:gd fmla="val 16667" name="adj"/>
            </a:avLst>
          </a:prstGeom>
          <a:solidFill>
            <a:srgbClr val="9900FF"/>
          </a:solidFill>
          <a:ln cap="flat" cmpd="sng" w="9525">
            <a:solidFill>
              <a:srgbClr val="B4A7D6"/>
            </a:solidFill>
            <a:prstDash val="solid"/>
            <a:round/>
            <a:headEnd len="sm" w="sm" type="none"/>
            <a:tailEnd len="sm" w="sm" type="none"/>
          </a:ln>
          <a:effectLst>
            <a:outerShdw blurRad="57150" rotWithShape="0" algn="bl" dir="1800000" dist="47625">
              <a:srgbClr val="000000">
                <a:alpha val="20000"/>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200" u="none" cap="none" strike="noStrike">
                <a:solidFill>
                  <a:schemeClr val="lt1"/>
                </a:solidFill>
                <a:latin typeface="Arial"/>
                <a:ea typeface="Arial"/>
                <a:cs typeface="Arial"/>
                <a:sym typeface="Arial"/>
              </a:rPr>
              <a:t>AI</a:t>
            </a:r>
            <a:endParaRPr b="1" i="0" sz="1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Calibri"/>
                <a:ea typeface="Calibri"/>
                <a:cs typeface="Calibri"/>
                <a:sym typeface="Calibri"/>
              </a:rPr>
              <a:t>Analyze, generate, compare, prioritize</a:t>
            </a:r>
            <a:endParaRPr b="0" i="0" sz="1000" u="none" cap="none" strike="noStrike">
              <a:solidFill>
                <a:schemeClr val="lt1"/>
              </a:solidFill>
              <a:latin typeface="Calibri"/>
              <a:ea typeface="Calibri"/>
              <a:cs typeface="Calibri"/>
              <a:sym typeface="Calibri"/>
            </a:endParaRPr>
          </a:p>
        </p:txBody>
      </p:sp>
      <p:sp>
        <p:nvSpPr>
          <p:cNvPr id="87" name="Google Shape;87;p3"/>
          <p:cNvSpPr/>
          <p:nvPr/>
        </p:nvSpPr>
        <p:spPr>
          <a:xfrm>
            <a:off x="3793975" y="1900500"/>
            <a:ext cx="1380300" cy="2084100"/>
          </a:xfrm>
          <a:prstGeom prst="roundRect">
            <a:avLst>
              <a:gd fmla="val 16667" name="adj"/>
            </a:avLst>
          </a:prstGeom>
          <a:solidFill>
            <a:srgbClr val="274E13"/>
          </a:solidFill>
          <a:ln cap="flat" cmpd="sng" w="9525">
            <a:solidFill>
              <a:srgbClr val="B4A7D6"/>
            </a:solidFill>
            <a:prstDash val="solid"/>
            <a:round/>
            <a:headEnd len="sm" w="sm" type="none"/>
            <a:tailEnd len="sm" w="sm" type="none"/>
          </a:ln>
          <a:effectLst>
            <a:outerShdw blurRad="57150" rotWithShape="0" algn="bl" dir="1800000" dist="47625">
              <a:srgbClr val="000000">
                <a:alpha val="20000"/>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lt1"/>
                </a:solidFill>
                <a:latin typeface="Arial"/>
                <a:ea typeface="Arial"/>
                <a:cs typeface="Arial"/>
                <a:sym typeface="Arial"/>
              </a:rPr>
              <a:t>VALIDATE</a:t>
            </a:r>
            <a:endParaRPr b="1" i="0" sz="1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Calibri"/>
                <a:ea typeface="Calibri"/>
                <a:cs typeface="Calibri"/>
                <a:sym typeface="Calibri"/>
              </a:rPr>
              <a:t>Evidence, app, code, requirements</a:t>
            </a:r>
            <a:endParaRPr b="0" i="0" sz="1000" u="none" cap="none" strike="noStrike">
              <a:solidFill>
                <a:schemeClr val="lt1"/>
              </a:solidFill>
              <a:latin typeface="Calibri"/>
              <a:ea typeface="Calibri"/>
              <a:cs typeface="Calibri"/>
              <a:sym typeface="Calibri"/>
            </a:endParaRPr>
          </a:p>
        </p:txBody>
      </p:sp>
      <p:sp>
        <p:nvSpPr>
          <p:cNvPr id="88" name="Google Shape;88;p3"/>
          <p:cNvSpPr/>
          <p:nvPr/>
        </p:nvSpPr>
        <p:spPr>
          <a:xfrm>
            <a:off x="5398900" y="1900500"/>
            <a:ext cx="1380300" cy="2084100"/>
          </a:xfrm>
          <a:prstGeom prst="roundRect">
            <a:avLst>
              <a:gd fmla="val 16667" name="adj"/>
            </a:avLst>
          </a:prstGeom>
          <a:solidFill>
            <a:srgbClr val="351C75"/>
          </a:solidFill>
          <a:ln cap="flat" cmpd="sng" w="9525">
            <a:solidFill>
              <a:srgbClr val="B4A7D6"/>
            </a:solidFill>
            <a:prstDash val="solid"/>
            <a:round/>
            <a:headEnd len="sm" w="sm" type="none"/>
            <a:tailEnd len="sm" w="sm" type="none"/>
          </a:ln>
          <a:effectLst>
            <a:outerShdw blurRad="57150" rotWithShape="0" algn="bl" dir="1800000" dist="47625">
              <a:srgbClr val="000000">
                <a:alpha val="20000"/>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lt1"/>
                </a:solidFill>
                <a:latin typeface="Arial"/>
                <a:ea typeface="Arial"/>
                <a:cs typeface="Arial"/>
                <a:sym typeface="Arial"/>
              </a:rPr>
              <a:t>DECIDE</a:t>
            </a:r>
            <a:endParaRPr b="1" i="0" sz="1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Calibri"/>
                <a:ea typeface="Calibri"/>
                <a:cs typeface="Calibri"/>
                <a:sym typeface="Calibri"/>
              </a:rPr>
              <a:t>Accept, reject, revise, investigate</a:t>
            </a:r>
            <a:endParaRPr b="0" i="0" sz="1000" u="none" cap="none" strike="noStrike">
              <a:solidFill>
                <a:schemeClr val="lt1"/>
              </a:solidFill>
              <a:latin typeface="Calibri"/>
              <a:ea typeface="Calibri"/>
              <a:cs typeface="Calibri"/>
              <a:sym typeface="Calibri"/>
            </a:endParaRPr>
          </a:p>
        </p:txBody>
      </p:sp>
      <p:sp>
        <p:nvSpPr>
          <p:cNvPr id="89" name="Google Shape;89;p3"/>
          <p:cNvSpPr/>
          <p:nvPr/>
        </p:nvSpPr>
        <p:spPr>
          <a:xfrm>
            <a:off x="7007600" y="1900500"/>
            <a:ext cx="1380300" cy="2084100"/>
          </a:xfrm>
          <a:prstGeom prst="roundRect">
            <a:avLst>
              <a:gd fmla="val 16667" name="adj"/>
            </a:avLst>
          </a:prstGeom>
          <a:solidFill>
            <a:srgbClr val="4C1130"/>
          </a:solidFill>
          <a:ln cap="flat" cmpd="sng" w="9525">
            <a:solidFill>
              <a:srgbClr val="B4A7D6"/>
            </a:solidFill>
            <a:prstDash val="solid"/>
            <a:round/>
            <a:headEnd len="sm" w="sm" type="none"/>
            <a:tailEnd len="sm" w="sm" type="none"/>
          </a:ln>
          <a:effectLst>
            <a:outerShdw blurRad="57150" rotWithShape="0" algn="bl" dir="1800000" dist="47625">
              <a:srgbClr val="000000">
                <a:alpha val="20000"/>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lt1"/>
                </a:solidFill>
                <a:latin typeface="Arial"/>
                <a:ea typeface="Arial"/>
                <a:cs typeface="Arial"/>
                <a:sym typeface="Arial"/>
              </a:rPr>
              <a:t>LOG</a:t>
            </a:r>
            <a:endParaRPr b="1" i="0" sz="1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Calibri"/>
                <a:ea typeface="Calibri"/>
                <a:cs typeface="Calibri"/>
                <a:sym typeface="Calibri"/>
              </a:rPr>
              <a:t>Prompts, iterations, evidence, outcome</a:t>
            </a:r>
            <a:endParaRPr b="0" i="0" sz="10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gtEl>
                                        <p:attrNameLst>
                                          <p:attrName>style.visibility</p:attrName>
                                        </p:attrNameLst>
                                      </p:cBhvr>
                                      <p:to>
                                        <p:strVal val="visible"/>
                                      </p:to>
                                    </p:set>
                                    <p:animEffect filter="fade" transition="in">
                                      <p:cBhvr>
                                        <p:cTn dur="1000"/>
                                        <p:tgtEl>
                                          <p:spTgt spid="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
                                        </p:tgtEl>
                                        <p:attrNameLst>
                                          <p:attrName>style.visibility</p:attrName>
                                        </p:attrNameLst>
                                      </p:cBhvr>
                                      <p:to>
                                        <p:strVal val="visible"/>
                                      </p:to>
                                    </p:set>
                                    <p:animEffect filter="fade" transition="in">
                                      <p:cBhvr>
                                        <p:cTn dur="1000"/>
                                        <p:tgtEl>
                                          <p:spTgt spid="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gtEl>
                                        <p:attrNameLst>
                                          <p:attrName>style.visibility</p:attrName>
                                        </p:attrNameLst>
                                      </p:cBhvr>
                                      <p:to>
                                        <p:strVal val="visible"/>
                                      </p:to>
                                    </p:set>
                                    <p:animEffect filter="fade" transition="in">
                                      <p:cBhvr>
                                        <p:cTn dur="1000"/>
                                        <p:tgtEl>
                                          <p:spTgt spid="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
                                        </p:tgtEl>
                                        <p:attrNameLst>
                                          <p:attrName>style.visibility</p:attrName>
                                        </p:attrNameLst>
                                      </p:cBhvr>
                                      <p:to>
                                        <p:strVal val="visible"/>
                                      </p:to>
                                    </p:set>
                                    <p:animEffect filter="fade" transition="in">
                                      <p:cBhvr>
                                        <p:cTn dur="1000"/>
                                        <p:tgtEl>
                                          <p:spTgt spid="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gtEl>
                                        <p:attrNameLst>
                                          <p:attrName>style.visibility</p:attrName>
                                        </p:attrNameLst>
                                      </p:cBhvr>
                                      <p:to>
                                        <p:strVal val="visible"/>
                                      </p:to>
                                    </p:set>
                                    <p:animEffect filter="fade" transition="in">
                                      <p:cBhvr>
                                        <p:cTn dur="1000"/>
                                        <p:tgtEl>
                                          <p:spTgt spid="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93" name="Shape 93"/>
        <p:cNvGrpSpPr/>
        <p:nvPr/>
      </p:nvGrpSpPr>
      <p:grpSpPr>
        <a:xfrm>
          <a:off x="0" y="0"/>
          <a:ext cx="0" cy="0"/>
          <a:chOff x="0" y="0"/>
          <a:chExt cx="0" cy="0"/>
        </a:xfrm>
      </p:grpSpPr>
      <p:pic>
        <p:nvPicPr>
          <p:cNvPr id="94" name="Google Shape;94;p4"/>
          <p:cNvPicPr preferRelativeResize="0"/>
          <p:nvPr/>
        </p:nvPicPr>
        <p:blipFill rotWithShape="1">
          <a:blip r:embed="rId3">
            <a:alphaModFix amt="5000"/>
          </a:blip>
          <a:srcRect b="0" l="0" r="0" t="0"/>
          <a:stretch/>
        </p:blipFill>
        <p:spPr>
          <a:xfrm>
            <a:off x="3592905" y="-647761"/>
            <a:ext cx="5662948" cy="6097674"/>
          </a:xfrm>
          <a:prstGeom prst="rect">
            <a:avLst/>
          </a:prstGeom>
          <a:noFill/>
          <a:ln>
            <a:noFill/>
          </a:ln>
        </p:spPr>
      </p:pic>
      <p:pic>
        <p:nvPicPr>
          <p:cNvPr id="95" name="Google Shape;95;p4"/>
          <p:cNvPicPr preferRelativeResize="0"/>
          <p:nvPr/>
        </p:nvPicPr>
        <p:blipFill rotWithShape="1">
          <a:blip r:embed="rId4">
            <a:alphaModFix/>
          </a:blip>
          <a:srcRect b="0" l="0" r="0" t="0"/>
          <a:stretch/>
        </p:blipFill>
        <p:spPr>
          <a:xfrm>
            <a:off x="147800" y="4833018"/>
            <a:ext cx="781539" cy="182880"/>
          </a:xfrm>
          <a:prstGeom prst="rect">
            <a:avLst/>
          </a:prstGeom>
          <a:noFill/>
          <a:ln>
            <a:noFill/>
          </a:ln>
        </p:spPr>
      </p:pic>
      <p:sp>
        <p:nvSpPr>
          <p:cNvPr id="96" name="Google Shape;96;p4"/>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97" name="Google Shape;97;p4"/>
          <p:cNvPicPr preferRelativeResize="0"/>
          <p:nvPr/>
        </p:nvPicPr>
        <p:blipFill rotWithShape="1">
          <a:blip r:embed="rId6">
            <a:alphaModFix/>
          </a:blip>
          <a:srcRect b="0" l="0" r="0" t="0"/>
          <a:stretch/>
        </p:blipFill>
        <p:spPr>
          <a:xfrm>
            <a:off x="8274176" y="74417"/>
            <a:ext cx="781550" cy="781550"/>
          </a:xfrm>
          <a:prstGeom prst="rect">
            <a:avLst/>
          </a:prstGeom>
          <a:noFill/>
          <a:ln>
            <a:noFill/>
          </a:ln>
        </p:spPr>
      </p:pic>
      <p:sp>
        <p:nvSpPr>
          <p:cNvPr id="98" name="Google Shape;98;p4"/>
          <p:cNvSpPr txBox="1"/>
          <p:nvPr/>
        </p:nvSpPr>
        <p:spPr>
          <a:xfrm>
            <a:off x="731527" y="461950"/>
            <a:ext cx="72378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0" i="0" lang="en" sz="2300" u="none" cap="none" strike="noStrike">
                <a:solidFill>
                  <a:schemeClr val="lt1"/>
                </a:solidFill>
                <a:latin typeface="Poppins SemiBold"/>
                <a:ea typeface="Poppins SemiBold"/>
                <a:cs typeface="Poppins SemiBold"/>
                <a:sym typeface="Poppins SemiBold"/>
              </a:rPr>
              <a:t>Activity 1 — Test-Failure Root-Cause Analysis</a:t>
            </a:r>
            <a:endParaRPr b="0" i="0" sz="2300" u="none" cap="none" strike="noStrike">
              <a:solidFill>
                <a:schemeClr val="lt1"/>
              </a:solidFill>
              <a:latin typeface="Poppins SemiBold"/>
              <a:ea typeface="Poppins SemiBold"/>
              <a:cs typeface="Poppins SemiBold"/>
              <a:sym typeface="Poppins SemiBold"/>
            </a:endParaRPr>
          </a:p>
        </p:txBody>
      </p:sp>
      <p:sp>
        <p:nvSpPr>
          <p:cNvPr id="99" name="Google Shape;99;p4"/>
          <p:cNvSpPr txBox="1"/>
          <p:nvPr/>
        </p:nvSpPr>
        <p:spPr>
          <a:xfrm>
            <a:off x="731800" y="1014300"/>
            <a:ext cx="67293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30000"/>
              </a:lnSpc>
              <a:spcBef>
                <a:spcPts val="0"/>
              </a:spcBef>
              <a:spcAft>
                <a:spcPts val="0"/>
              </a:spcAft>
              <a:buClr>
                <a:srgbClr val="000000"/>
              </a:buClr>
              <a:buSzPts val="1200"/>
              <a:buFont typeface="Arial"/>
              <a:buNone/>
            </a:pPr>
            <a:r>
              <a:rPr b="0" i="0" lang="en" sz="1200" u="none" cap="none" strike="noStrike">
                <a:solidFill>
                  <a:schemeClr val="lt1"/>
                </a:solidFill>
                <a:latin typeface="Poppins"/>
                <a:ea typeface="Poppins"/>
                <a:cs typeface="Poppins"/>
                <a:sym typeface="Poppins"/>
              </a:rPr>
              <a:t>Objective: use AI to analyze failed runs and identify evidence-backed root causes</a:t>
            </a:r>
            <a:endParaRPr b="0" i="0" sz="1200" u="none" cap="none" strike="noStrike">
              <a:solidFill>
                <a:schemeClr val="lt1"/>
              </a:solidFill>
              <a:latin typeface="Poppins"/>
              <a:ea typeface="Poppins"/>
              <a:cs typeface="Poppins"/>
              <a:sym typeface="Poppins"/>
            </a:endParaRPr>
          </a:p>
        </p:txBody>
      </p:sp>
      <p:sp>
        <p:nvSpPr>
          <p:cNvPr id="100" name="Google Shape;100;p4"/>
          <p:cNvSpPr/>
          <p:nvPr/>
        </p:nvSpPr>
        <p:spPr>
          <a:xfrm>
            <a:off x="860500" y="1638900"/>
            <a:ext cx="7108800" cy="2016900"/>
          </a:xfrm>
          <a:prstGeom prst="roundRect">
            <a:avLst>
              <a:gd fmla="val 16667" name="adj"/>
            </a:avLst>
          </a:prstGeom>
          <a:solidFill>
            <a:srgbClr val="FFFF00"/>
          </a:solidFill>
          <a:ln cap="flat" cmpd="sng" w="23975">
            <a:solidFill>
              <a:srgbClr val="FFD966"/>
            </a:solidFill>
            <a:prstDash val="solid"/>
            <a:round/>
            <a:headEnd len="sm" w="sm" type="none"/>
            <a:tailEnd len="sm" w="sm" type="none"/>
          </a:ln>
          <a:effectLst>
            <a:outerShdw blurRad="215863" rotWithShape="0" algn="bl" dir="3900000" dist="119924">
              <a:srgbClr val="000000">
                <a:alpha val="21176"/>
              </a:srgbClr>
            </a:outerShdw>
          </a:effectLst>
        </p:spPr>
        <p:txBody>
          <a:bodyPr anchorCtr="0" anchor="t" bIns="230200" lIns="230200" spcFirstLastPara="1" rIns="230200" wrap="square" tIns="230200">
            <a:noAutofit/>
          </a:bodyPr>
          <a:lstStyle/>
          <a:p>
            <a:pPr indent="-304800" lvl="0" marL="457200" marR="0" rtl="0" algn="l">
              <a:lnSpc>
                <a:spcPct val="100000"/>
              </a:lnSpc>
              <a:spcBef>
                <a:spcPts val="0"/>
              </a:spcBef>
              <a:spcAft>
                <a:spcPts val="0"/>
              </a:spcAft>
              <a:buClr>
                <a:srgbClr val="666666"/>
              </a:buClr>
              <a:buSzPts val="1200"/>
              <a:buFont typeface="Arial"/>
              <a:buChar char="❖"/>
            </a:pPr>
            <a:r>
              <a:rPr b="0" i="0" lang="en" sz="1200" u="none" cap="none" strike="noStrike">
                <a:solidFill>
                  <a:srgbClr val="666666"/>
                </a:solidFill>
                <a:latin typeface="Arial"/>
                <a:ea typeface="Arial"/>
                <a:cs typeface="Arial"/>
                <a:sym typeface="Arial"/>
              </a:rPr>
              <a:t>Pull 5 failed runs.</a:t>
            </a:r>
            <a:endParaRPr b="0" i="0" sz="1200" u="none" cap="none" strike="noStrike">
              <a:solidFill>
                <a:srgbClr val="666666"/>
              </a:solidFill>
              <a:latin typeface="Arial"/>
              <a:ea typeface="Arial"/>
              <a:cs typeface="Arial"/>
              <a:sym typeface="Arial"/>
            </a:endParaRPr>
          </a:p>
          <a:p>
            <a:pPr indent="-304800" lvl="0" marL="457200" marR="0" rtl="0" algn="l">
              <a:lnSpc>
                <a:spcPct val="100000"/>
              </a:lnSpc>
              <a:spcBef>
                <a:spcPts val="0"/>
              </a:spcBef>
              <a:spcAft>
                <a:spcPts val="0"/>
              </a:spcAft>
              <a:buClr>
                <a:srgbClr val="666666"/>
              </a:buClr>
              <a:buSzPts val="1200"/>
              <a:buFont typeface="Arial"/>
              <a:buChar char="❖"/>
            </a:pPr>
            <a:r>
              <a:rPr b="0" i="0" lang="en" sz="1200" u="none" cap="none" strike="noStrike">
                <a:solidFill>
                  <a:srgbClr val="666666"/>
                </a:solidFill>
                <a:latin typeface="Arial"/>
                <a:ea typeface="Arial"/>
                <a:cs typeface="Arial"/>
                <a:sym typeface="Arial"/>
              </a:rPr>
              <a:t>Analyze logs / stack traces with AI.</a:t>
            </a:r>
            <a:endParaRPr b="0" i="0" sz="1200" u="none" cap="none" strike="noStrike">
              <a:solidFill>
                <a:srgbClr val="666666"/>
              </a:solidFill>
              <a:latin typeface="Arial"/>
              <a:ea typeface="Arial"/>
              <a:cs typeface="Arial"/>
              <a:sym typeface="Arial"/>
            </a:endParaRPr>
          </a:p>
          <a:p>
            <a:pPr indent="-304800" lvl="0" marL="457200" marR="0" rtl="0" algn="l">
              <a:lnSpc>
                <a:spcPct val="100000"/>
              </a:lnSpc>
              <a:spcBef>
                <a:spcPts val="0"/>
              </a:spcBef>
              <a:spcAft>
                <a:spcPts val="0"/>
              </a:spcAft>
              <a:buClr>
                <a:srgbClr val="666666"/>
              </a:buClr>
              <a:buSzPts val="1200"/>
              <a:buFont typeface="Arial"/>
              <a:buChar char="❖"/>
            </a:pPr>
            <a:r>
              <a:rPr b="0" i="0" lang="en" sz="1200" u="none" cap="none" strike="noStrike">
                <a:solidFill>
                  <a:srgbClr val="666666"/>
                </a:solidFill>
                <a:latin typeface="Arial"/>
                <a:ea typeface="Arial"/>
                <a:cs typeface="Arial"/>
                <a:sym typeface="Arial"/>
              </a:rPr>
              <a:t>Validate every claimed root cause against real evidence.</a:t>
            </a:r>
            <a:endParaRPr b="0" i="0" sz="1200" u="none" cap="none" strike="noStrike">
              <a:solidFill>
                <a:srgbClr val="666666"/>
              </a:solidFill>
              <a:latin typeface="Arial"/>
              <a:ea typeface="Arial"/>
              <a:cs typeface="Arial"/>
              <a:sym typeface="Arial"/>
            </a:endParaRPr>
          </a:p>
          <a:p>
            <a:pPr indent="-304800" lvl="0" marL="457200" marR="0" rtl="0" algn="l">
              <a:lnSpc>
                <a:spcPct val="100000"/>
              </a:lnSpc>
              <a:spcBef>
                <a:spcPts val="0"/>
              </a:spcBef>
              <a:spcAft>
                <a:spcPts val="0"/>
              </a:spcAft>
              <a:buClr>
                <a:srgbClr val="666666"/>
              </a:buClr>
              <a:buSzPts val="1200"/>
              <a:buFont typeface="Arial"/>
              <a:buChar char="❖"/>
            </a:pPr>
            <a:r>
              <a:rPr b="0" i="0" lang="en" sz="1200" u="none" cap="none" strike="noStrike">
                <a:solidFill>
                  <a:srgbClr val="666666"/>
                </a:solidFill>
                <a:latin typeface="Arial"/>
                <a:ea typeface="Arial"/>
                <a:cs typeface="Arial"/>
                <a:sym typeface="Arial"/>
              </a:rPr>
              <a:t>State a shared cause or explicitly state that no shared cause was found.</a:t>
            </a:r>
            <a:endParaRPr b="0" i="0" sz="1200" u="none" cap="none" strike="noStrike">
              <a:solidFill>
                <a:srgbClr val="666666"/>
              </a:solidFill>
              <a:latin typeface="Arial"/>
              <a:ea typeface="Arial"/>
              <a:cs typeface="Arial"/>
              <a:sym typeface="Arial"/>
            </a:endParaRPr>
          </a:p>
          <a:p>
            <a:pPr indent="-304800" lvl="0" marL="457200" marR="0" rtl="0" algn="l">
              <a:lnSpc>
                <a:spcPct val="100000"/>
              </a:lnSpc>
              <a:spcBef>
                <a:spcPts val="0"/>
              </a:spcBef>
              <a:spcAft>
                <a:spcPts val="0"/>
              </a:spcAft>
              <a:buClr>
                <a:srgbClr val="666666"/>
              </a:buClr>
              <a:buSzPts val="1200"/>
              <a:buFont typeface="Arial"/>
              <a:buChar char="❖"/>
            </a:pPr>
            <a:r>
              <a:rPr b="0" i="0" lang="en" sz="1200" u="none" cap="none" strike="noStrike">
                <a:solidFill>
                  <a:srgbClr val="666666"/>
                </a:solidFill>
                <a:latin typeface="Arial"/>
                <a:ea typeface="Arial"/>
                <a:cs typeface="Arial"/>
                <a:sym typeface="Arial"/>
              </a:rPr>
              <a:t>Include severity, blast radius, and a fix or next diagnostic step.</a:t>
            </a:r>
            <a:endParaRPr b="0" i="0" sz="1200" u="none" cap="none" strike="noStrike">
              <a:solidFill>
                <a:srgbClr val="666666"/>
              </a:solidFill>
              <a:latin typeface="Arial"/>
              <a:ea typeface="Arial"/>
              <a:cs typeface="Arial"/>
              <a:sym typeface="Arial"/>
            </a:endParaRPr>
          </a:p>
          <a:p>
            <a:pPr indent="-304800" lvl="0" marL="457200" marR="0" rtl="0" algn="l">
              <a:lnSpc>
                <a:spcPct val="100000"/>
              </a:lnSpc>
              <a:spcBef>
                <a:spcPts val="0"/>
              </a:spcBef>
              <a:spcAft>
                <a:spcPts val="0"/>
              </a:spcAft>
              <a:buClr>
                <a:srgbClr val="666666"/>
              </a:buClr>
              <a:buSzPts val="1200"/>
              <a:buFont typeface="Arial"/>
              <a:buChar char="❖"/>
            </a:pPr>
            <a:r>
              <a:rPr b="0" i="0" lang="en" sz="1200" u="none" cap="none" strike="noStrike">
                <a:solidFill>
                  <a:srgbClr val="666666"/>
                </a:solidFill>
                <a:latin typeface="Arial"/>
                <a:ea typeface="Arial"/>
                <a:cs typeface="Arial"/>
                <a:sym typeface="Arial"/>
              </a:rPr>
              <a:t>Deliverable: one RCA report in PDF.</a:t>
            </a:r>
            <a:endParaRPr b="0" i="0" sz="1200" u="none" cap="none" strike="noStrike">
              <a:solidFill>
                <a:srgbClr val="66666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666666"/>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104" name="Shape 104"/>
        <p:cNvGrpSpPr/>
        <p:nvPr/>
      </p:nvGrpSpPr>
      <p:grpSpPr>
        <a:xfrm>
          <a:off x="0" y="0"/>
          <a:ext cx="0" cy="0"/>
          <a:chOff x="0" y="0"/>
          <a:chExt cx="0" cy="0"/>
        </a:xfrm>
      </p:grpSpPr>
      <p:pic>
        <p:nvPicPr>
          <p:cNvPr id="105" name="Google Shape;105;p5"/>
          <p:cNvPicPr preferRelativeResize="0"/>
          <p:nvPr/>
        </p:nvPicPr>
        <p:blipFill rotWithShape="1">
          <a:blip r:embed="rId3">
            <a:alphaModFix amt="5000"/>
          </a:blip>
          <a:srcRect b="0" l="0" r="0" t="0"/>
          <a:stretch/>
        </p:blipFill>
        <p:spPr>
          <a:xfrm>
            <a:off x="3592905" y="-647761"/>
            <a:ext cx="5662948" cy="6097674"/>
          </a:xfrm>
          <a:prstGeom prst="rect">
            <a:avLst/>
          </a:prstGeom>
          <a:noFill/>
          <a:ln>
            <a:noFill/>
          </a:ln>
        </p:spPr>
      </p:pic>
      <p:pic>
        <p:nvPicPr>
          <p:cNvPr id="106" name="Google Shape;106;p5"/>
          <p:cNvPicPr preferRelativeResize="0"/>
          <p:nvPr/>
        </p:nvPicPr>
        <p:blipFill rotWithShape="1">
          <a:blip r:embed="rId4">
            <a:alphaModFix/>
          </a:blip>
          <a:srcRect b="0" l="0" r="0" t="0"/>
          <a:stretch/>
        </p:blipFill>
        <p:spPr>
          <a:xfrm>
            <a:off x="147800" y="4833018"/>
            <a:ext cx="781539" cy="182880"/>
          </a:xfrm>
          <a:prstGeom prst="rect">
            <a:avLst/>
          </a:prstGeom>
          <a:noFill/>
          <a:ln>
            <a:noFill/>
          </a:ln>
        </p:spPr>
      </p:pic>
      <p:sp>
        <p:nvSpPr>
          <p:cNvPr id="107" name="Google Shape;107;p5"/>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108" name="Google Shape;108;p5"/>
          <p:cNvPicPr preferRelativeResize="0"/>
          <p:nvPr/>
        </p:nvPicPr>
        <p:blipFill rotWithShape="1">
          <a:blip r:embed="rId6">
            <a:alphaModFix/>
          </a:blip>
          <a:srcRect b="0" l="0" r="0" t="0"/>
          <a:stretch/>
        </p:blipFill>
        <p:spPr>
          <a:xfrm>
            <a:off x="8274176" y="74417"/>
            <a:ext cx="781550" cy="781550"/>
          </a:xfrm>
          <a:prstGeom prst="rect">
            <a:avLst/>
          </a:prstGeom>
          <a:noFill/>
          <a:ln>
            <a:noFill/>
          </a:ln>
        </p:spPr>
      </p:pic>
      <p:sp>
        <p:nvSpPr>
          <p:cNvPr id="109" name="Google Shape;109;p5"/>
          <p:cNvSpPr txBox="1"/>
          <p:nvPr/>
        </p:nvSpPr>
        <p:spPr>
          <a:xfrm>
            <a:off x="731527" y="461950"/>
            <a:ext cx="72378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0" i="0" lang="en" sz="2300" u="none" cap="none" strike="noStrike">
                <a:solidFill>
                  <a:schemeClr val="lt1"/>
                </a:solidFill>
                <a:latin typeface="Poppins SemiBold"/>
                <a:ea typeface="Poppins SemiBold"/>
                <a:cs typeface="Poppins SemiBold"/>
                <a:sym typeface="Poppins SemiBold"/>
              </a:rPr>
              <a:t>Activity 1 — RCA Evidence Standard</a:t>
            </a:r>
            <a:endParaRPr b="0" i="0" sz="2300" u="none" cap="none" strike="noStrike">
              <a:solidFill>
                <a:schemeClr val="lt1"/>
              </a:solidFill>
              <a:latin typeface="Poppins SemiBold"/>
              <a:ea typeface="Poppins SemiBold"/>
              <a:cs typeface="Poppins SemiBold"/>
              <a:sym typeface="Poppins SemiBold"/>
            </a:endParaRPr>
          </a:p>
        </p:txBody>
      </p:sp>
      <p:sp>
        <p:nvSpPr>
          <p:cNvPr id="110" name="Google Shape;110;p5"/>
          <p:cNvSpPr txBox="1"/>
          <p:nvPr/>
        </p:nvSpPr>
        <p:spPr>
          <a:xfrm>
            <a:off x="731799" y="1014300"/>
            <a:ext cx="6047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30000"/>
              </a:lnSpc>
              <a:spcBef>
                <a:spcPts val="0"/>
              </a:spcBef>
              <a:spcAft>
                <a:spcPts val="0"/>
              </a:spcAft>
              <a:buClr>
                <a:srgbClr val="000000"/>
              </a:buClr>
              <a:buSzPts val="1400"/>
              <a:buFont typeface="Arial"/>
              <a:buNone/>
            </a:pPr>
            <a:r>
              <a:rPr b="0" i="0" lang="en" sz="1400" u="none" cap="none" strike="noStrike">
                <a:solidFill>
                  <a:schemeClr val="lt1"/>
                </a:solidFill>
                <a:latin typeface="Poppins"/>
                <a:ea typeface="Poppins"/>
                <a:cs typeface="Poppins"/>
                <a:sym typeface="Poppins"/>
              </a:rPr>
              <a:t>Every important claim must be traceable</a:t>
            </a:r>
            <a:endParaRPr b="0" i="0" sz="1400" u="none" cap="none" strike="noStrike">
              <a:solidFill>
                <a:schemeClr val="lt1"/>
              </a:solidFill>
              <a:latin typeface="Poppins"/>
              <a:ea typeface="Poppins"/>
              <a:cs typeface="Poppins"/>
              <a:sym typeface="Poppins"/>
            </a:endParaRPr>
          </a:p>
        </p:txBody>
      </p:sp>
      <p:sp>
        <p:nvSpPr>
          <p:cNvPr id="111" name="Google Shape;111;p5"/>
          <p:cNvSpPr/>
          <p:nvPr/>
        </p:nvSpPr>
        <p:spPr>
          <a:xfrm>
            <a:off x="1160563" y="1870600"/>
            <a:ext cx="1548600" cy="2338500"/>
          </a:xfrm>
          <a:prstGeom prst="roundRect">
            <a:avLst>
              <a:gd fmla="val 16667" name="adj"/>
            </a:avLst>
          </a:prstGeom>
          <a:solidFill>
            <a:srgbClr val="FFFF00"/>
          </a:solidFill>
          <a:ln cap="flat" cmpd="sng" w="10675">
            <a:solidFill>
              <a:srgbClr val="BF9000"/>
            </a:solidFill>
            <a:prstDash val="solid"/>
            <a:round/>
            <a:headEnd len="sm" w="sm" type="none"/>
            <a:tailEnd len="sm" w="sm" type="none"/>
          </a:ln>
          <a:effectLst>
            <a:outerShdw blurRad="64123" rotWithShape="0" algn="bl" dir="1800000" dist="53436">
              <a:srgbClr val="000000">
                <a:alpha val="20000"/>
              </a:srgbClr>
            </a:outerShdw>
          </a:effectLst>
        </p:spPr>
        <p:txBody>
          <a:bodyPr anchorCtr="0" anchor="t" bIns="102575" lIns="102575" spcFirstLastPara="1" rIns="102575" wrap="square" tIns="102575">
            <a:noAutofit/>
          </a:bodyPr>
          <a:lstStyle/>
          <a:p>
            <a:pPr indent="0" lvl="0" marL="0" marR="0" rtl="0" algn="l">
              <a:lnSpc>
                <a:spcPct val="100000"/>
              </a:lnSpc>
              <a:spcBef>
                <a:spcPts val="0"/>
              </a:spcBef>
              <a:spcAft>
                <a:spcPts val="0"/>
              </a:spcAft>
              <a:buClr>
                <a:srgbClr val="000000"/>
              </a:buClr>
              <a:buSzPts val="1346"/>
              <a:buFont typeface="Arial"/>
              <a:buNone/>
            </a:pPr>
            <a:r>
              <a:rPr b="1" i="0" lang="en" sz="1346" u="none" cap="none" strike="noStrike">
                <a:solidFill>
                  <a:srgbClr val="000000"/>
                </a:solidFill>
                <a:latin typeface="Arial"/>
                <a:ea typeface="Arial"/>
                <a:cs typeface="Arial"/>
                <a:sym typeface="Arial"/>
              </a:rPr>
              <a:t>Evidence</a:t>
            </a:r>
            <a:endParaRPr b="1" i="0" sz="1346"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71"/>
              <a:buFont typeface="Arial"/>
              <a:buNone/>
            </a:pPr>
            <a:r>
              <a:t/>
            </a:r>
            <a:endParaRPr b="1" i="0" sz="1571"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rgbClr val="5A6473"/>
                </a:solidFill>
                <a:latin typeface="Calibri"/>
                <a:ea typeface="Calibri"/>
                <a:cs typeface="Calibri"/>
                <a:sym typeface="Calibri"/>
              </a:rPr>
              <a:t>Log line</a:t>
            </a:r>
            <a:endParaRPr b="0" i="0" sz="1122" u="none" cap="none" strike="noStrike">
              <a:solidFill>
                <a:srgbClr val="5A647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rgbClr val="5A6473"/>
                </a:solidFill>
                <a:latin typeface="Calibri"/>
                <a:ea typeface="Calibri"/>
                <a:cs typeface="Calibri"/>
                <a:sym typeface="Calibri"/>
              </a:rPr>
              <a:t>Stack trace</a:t>
            </a:r>
            <a:endParaRPr b="0" i="0" sz="1122" u="none" cap="none" strike="noStrike">
              <a:solidFill>
                <a:srgbClr val="5A647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rgbClr val="5A6473"/>
                </a:solidFill>
                <a:latin typeface="Calibri"/>
                <a:ea typeface="Calibri"/>
                <a:cs typeface="Calibri"/>
                <a:sym typeface="Calibri"/>
              </a:rPr>
              <a:t>Error message</a:t>
            </a:r>
            <a:endParaRPr b="0" i="0" sz="1122" u="none" cap="none" strike="noStrike">
              <a:solidFill>
                <a:srgbClr val="5A647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rgbClr val="5A6473"/>
                </a:solidFill>
                <a:latin typeface="Calibri"/>
                <a:ea typeface="Calibri"/>
                <a:cs typeface="Calibri"/>
                <a:sym typeface="Calibri"/>
              </a:rPr>
              <a:t>Relevant code</a:t>
            </a:r>
            <a:endParaRPr b="0" i="0" sz="1122" u="none" cap="none" strike="noStrike">
              <a:solidFill>
                <a:srgbClr val="5A6473"/>
              </a:solidFill>
              <a:latin typeface="Calibri"/>
              <a:ea typeface="Calibri"/>
              <a:cs typeface="Calibri"/>
              <a:sym typeface="Calibri"/>
            </a:endParaRPr>
          </a:p>
        </p:txBody>
      </p:sp>
      <p:sp>
        <p:nvSpPr>
          <p:cNvPr id="112" name="Google Shape;112;p5"/>
          <p:cNvSpPr/>
          <p:nvPr/>
        </p:nvSpPr>
        <p:spPr>
          <a:xfrm>
            <a:off x="2897308" y="1870600"/>
            <a:ext cx="1548600" cy="2338500"/>
          </a:xfrm>
          <a:prstGeom prst="roundRect">
            <a:avLst>
              <a:gd fmla="val 16667" name="adj"/>
            </a:avLst>
          </a:prstGeom>
          <a:solidFill>
            <a:srgbClr val="9900FF"/>
          </a:solidFill>
          <a:ln cap="flat" cmpd="sng" w="10675">
            <a:solidFill>
              <a:srgbClr val="B4A7D6"/>
            </a:solidFill>
            <a:prstDash val="solid"/>
            <a:round/>
            <a:headEnd len="sm" w="sm" type="none"/>
            <a:tailEnd len="sm" w="sm" type="none"/>
          </a:ln>
          <a:effectLst>
            <a:outerShdw blurRad="64123" rotWithShape="0" algn="bl" dir="1800000" dist="53436">
              <a:srgbClr val="000000">
                <a:alpha val="20000"/>
              </a:srgbClr>
            </a:outerShdw>
          </a:effectLst>
        </p:spPr>
        <p:txBody>
          <a:bodyPr anchorCtr="0" anchor="t" bIns="102575" lIns="102575" spcFirstLastPara="1" rIns="102575" wrap="square" tIns="102575">
            <a:noAutofit/>
          </a:bodyPr>
          <a:lstStyle/>
          <a:p>
            <a:pPr indent="0" lvl="0" marL="0" marR="0" rtl="0" algn="l">
              <a:lnSpc>
                <a:spcPct val="100000"/>
              </a:lnSpc>
              <a:spcBef>
                <a:spcPts val="0"/>
              </a:spcBef>
              <a:spcAft>
                <a:spcPts val="0"/>
              </a:spcAft>
              <a:buClr>
                <a:schemeClr val="dk1"/>
              </a:buClr>
              <a:buSzPts val="1234"/>
              <a:buFont typeface="Arial"/>
              <a:buNone/>
            </a:pPr>
            <a:r>
              <a:rPr b="1" i="0" lang="en" sz="1346" u="none" cap="none" strike="noStrike">
                <a:solidFill>
                  <a:schemeClr val="lt1"/>
                </a:solidFill>
                <a:latin typeface="Arial"/>
                <a:ea typeface="Arial"/>
                <a:cs typeface="Arial"/>
                <a:sym typeface="Arial"/>
              </a:rPr>
              <a:t>Conclusion</a:t>
            </a:r>
            <a:endParaRPr b="1" i="0" sz="1346"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34"/>
              <a:buFont typeface="Arial"/>
              <a:buNone/>
            </a:pPr>
            <a:r>
              <a:t/>
            </a:r>
            <a:endParaRPr b="1" i="0" sz="1571"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Specific root cause</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OR no shared cause found</a:t>
            </a:r>
            <a:endParaRPr b="0" i="0" sz="1122" u="none" cap="none" strike="noStrike">
              <a:solidFill>
                <a:schemeClr val="lt1"/>
              </a:solidFill>
              <a:latin typeface="Calibri"/>
              <a:ea typeface="Calibri"/>
              <a:cs typeface="Calibri"/>
              <a:sym typeface="Calibri"/>
            </a:endParaRPr>
          </a:p>
        </p:txBody>
      </p:sp>
      <p:sp>
        <p:nvSpPr>
          <p:cNvPr id="113" name="Google Shape;113;p5"/>
          <p:cNvSpPr/>
          <p:nvPr/>
        </p:nvSpPr>
        <p:spPr>
          <a:xfrm>
            <a:off x="4634082" y="1870600"/>
            <a:ext cx="1548600" cy="2338500"/>
          </a:xfrm>
          <a:prstGeom prst="roundRect">
            <a:avLst>
              <a:gd fmla="val 16667" name="adj"/>
            </a:avLst>
          </a:prstGeom>
          <a:solidFill>
            <a:srgbClr val="274E13"/>
          </a:solidFill>
          <a:ln cap="flat" cmpd="sng" w="10675">
            <a:solidFill>
              <a:srgbClr val="B4A7D6"/>
            </a:solidFill>
            <a:prstDash val="solid"/>
            <a:round/>
            <a:headEnd len="sm" w="sm" type="none"/>
            <a:tailEnd len="sm" w="sm" type="none"/>
          </a:ln>
          <a:effectLst>
            <a:outerShdw blurRad="64123" rotWithShape="0" algn="bl" dir="1800000" dist="53436">
              <a:srgbClr val="000000">
                <a:alpha val="20000"/>
              </a:srgbClr>
            </a:outerShdw>
          </a:effectLst>
        </p:spPr>
        <p:txBody>
          <a:bodyPr anchorCtr="0" anchor="t" bIns="102575" lIns="102575" spcFirstLastPara="1" rIns="102575" wrap="square" tIns="102575">
            <a:noAutofit/>
          </a:bodyPr>
          <a:lstStyle/>
          <a:p>
            <a:pPr indent="0" lvl="0" marL="0" marR="0" rtl="0" algn="l">
              <a:lnSpc>
                <a:spcPct val="100000"/>
              </a:lnSpc>
              <a:spcBef>
                <a:spcPts val="0"/>
              </a:spcBef>
              <a:spcAft>
                <a:spcPts val="0"/>
              </a:spcAft>
              <a:buClr>
                <a:srgbClr val="000000"/>
              </a:buClr>
              <a:buSzPts val="1346"/>
              <a:buFont typeface="Arial"/>
              <a:buNone/>
            </a:pPr>
            <a:r>
              <a:rPr b="1" i="0" lang="en" sz="1346" u="none" cap="none" strike="noStrike">
                <a:solidFill>
                  <a:schemeClr val="lt1"/>
                </a:solidFill>
                <a:latin typeface="Arial"/>
                <a:ea typeface="Arial"/>
                <a:cs typeface="Arial"/>
                <a:sym typeface="Arial"/>
              </a:rPr>
              <a:t>Impact</a:t>
            </a:r>
            <a:endParaRPr b="1" i="0" sz="1346"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71"/>
              <a:buFont typeface="Arial"/>
              <a:buNone/>
            </a:pPr>
            <a:r>
              <a:t/>
            </a:r>
            <a:endParaRPr b="1" i="0" sz="1571"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Severity</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Blast radius</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Affected tests / areas</a:t>
            </a:r>
            <a:endParaRPr b="0" i="0" sz="1122" u="none" cap="none" strike="noStrike">
              <a:solidFill>
                <a:schemeClr val="lt1"/>
              </a:solidFill>
              <a:latin typeface="Calibri"/>
              <a:ea typeface="Calibri"/>
              <a:cs typeface="Calibri"/>
              <a:sym typeface="Calibri"/>
            </a:endParaRPr>
          </a:p>
        </p:txBody>
      </p:sp>
      <p:sp>
        <p:nvSpPr>
          <p:cNvPr id="114" name="Google Shape;114;p5"/>
          <p:cNvSpPr/>
          <p:nvPr/>
        </p:nvSpPr>
        <p:spPr>
          <a:xfrm>
            <a:off x="6434839" y="1870600"/>
            <a:ext cx="1548600" cy="2338500"/>
          </a:xfrm>
          <a:prstGeom prst="roundRect">
            <a:avLst>
              <a:gd fmla="val 16667" name="adj"/>
            </a:avLst>
          </a:prstGeom>
          <a:solidFill>
            <a:srgbClr val="351C75"/>
          </a:solidFill>
          <a:ln cap="flat" cmpd="sng" w="10675">
            <a:solidFill>
              <a:srgbClr val="B4A7D6"/>
            </a:solidFill>
            <a:prstDash val="solid"/>
            <a:round/>
            <a:headEnd len="sm" w="sm" type="none"/>
            <a:tailEnd len="sm" w="sm" type="none"/>
          </a:ln>
          <a:effectLst>
            <a:outerShdw blurRad="64123" rotWithShape="0" algn="bl" dir="1800000" dist="53436">
              <a:srgbClr val="000000">
                <a:alpha val="20000"/>
              </a:srgbClr>
            </a:outerShdw>
          </a:effectLst>
        </p:spPr>
        <p:txBody>
          <a:bodyPr anchorCtr="0" anchor="t" bIns="102575" lIns="102575" spcFirstLastPara="1" rIns="102575" wrap="square" tIns="102575">
            <a:noAutofit/>
          </a:bodyPr>
          <a:lstStyle/>
          <a:p>
            <a:pPr indent="0" lvl="0" marL="0" marR="0" rtl="0" algn="l">
              <a:lnSpc>
                <a:spcPct val="100000"/>
              </a:lnSpc>
              <a:spcBef>
                <a:spcPts val="0"/>
              </a:spcBef>
              <a:spcAft>
                <a:spcPts val="0"/>
              </a:spcAft>
              <a:buClr>
                <a:srgbClr val="000000"/>
              </a:buClr>
              <a:buSzPts val="1346"/>
              <a:buFont typeface="Arial"/>
              <a:buNone/>
            </a:pPr>
            <a:r>
              <a:rPr b="1" i="0" lang="en" sz="1346" u="none" cap="none" strike="noStrike">
                <a:solidFill>
                  <a:schemeClr val="lt1"/>
                </a:solidFill>
                <a:latin typeface="Arial"/>
                <a:ea typeface="Arial"/>
                <a:cs typeface="Arial"/>
                <a:sym typeface="Arial"/>
              </a:rPr>
              <a:t>Next Step</a:t>
            </a:r>
            <a:endParaRPr b="1" i="0" sz="1346"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71"/>
              <a:buFont typeface="Arial"/>
              <a:buNone/>
            </a:pPr>
            <a:r>
              <a:t/>
            </a:r>
            <a:endParaRPr b="1" i="0" sz="1571"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Suggested fix</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OR next diagnostic step</a:t>
            </a:r>
            <a:endParaRPr b="0" i="0" sz="1122"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1000"/>
                                        <p:tgtEl>
                                          <p:spTgt spid="1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1000"/>
                                        <p:tgtEl>
                                          <p:spTgt spid="1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1000"/>
                                        <p:tgtEl>
                                          <p:spTgt spid="1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1000"/>
                                        <p:tgtEl>
                                          <p:spTgt spid="1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118" name="Shape 118"/>
        <p:cNvGrpSpPr/>
        <p:nvPr/>
      </p:nvGrpSpPr>
      <p:grpSpPr>
        <a:xfrm>
          <a:off x="0" y="0"/>
          <a:ext cx="0" cy="0"/>
          <a:chOff x="0" y="0"/>
          <a:chExt cx="0" cy="0"/>
        </a:xfrm>
      </p:grpSpPr>
      <p:pic>
        <p:nvPicPr>
          <p:cNvPr id="119" name="Google Shape;119;p6"/>
          <p:cNvPicPr preferRelativeResize="0"/>
          <p:nvPr/>
        </p:nvPicPr>
        <p:blipFill rotWithShape="1">
          <a:blip r:embed="rId3">
            <a:alphaModFix amt="5000"/>
          </a:blip>
          <a:srcRect b="0" l="0" r="0" t="0"/>
          <a:stretch/>
        </p:blipFill>
        <p:spPr>
          <a:xfrm>
            <a:off x="3592905" y="-647761"/>
            <a:ext cx="5662948" cy="6097674"/>
          </a:xfrm>
          <a:prstGeom prst="rect">
            <a:avLst/>
          </a:prstGeom>
          <a:noFill/>
          <a:ln>
            <a:noFill/>
          </a:ln>
        </p:spPr>
      </p:pic>
      <p:pic>
        <p:nvPicPr>
          <p:cNvPr id="120" name="Google Shape;120;p6"/>
          <p:cNvPicPr preferRelativeResize="0"/>
          <p:nvPr/>
        </p:nvPicPr>
        <p:blipFill rotWithShape="1">
          <a:blip r:embed="rId4">
            <a:alphaModFix/>
          </a:blip>
          <a:srcRect b="0" l="0" r="0" t="0"/>
          <a:stretch/>
        </p:blipFill>
        <p:spPr>
          <a:xfrm>
            <a:off x="147800" y="4833018"/>
            <a:ext cx="781539" cy="182880"/>
          </a:xfrm>
          <a:prstGeom prst="rect">
            <a:avLst/>
          </a:prstGeom>
          <a:noFill/>
          <a:ln>
            <a:noFill/>
          </a:ln>
        </p:spPr>
      </p:pic>
      <p:sp>
        <p:nvSpPr>
          <p:cNvPr id="121" name="Google Shape;121;p6"/>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122" name="Google Shape;122;p6"/>
          <p:cNvPicPr preferRelativeResize="0"/>
          <p:nvPr/>
        </p:nvPicPr>
        <p:blipFill rotWithShape="1">
          <a:blip r:embed="rId6">
            <a:alphaModFix/>
          </a:blip>
          <a:srcRect b="0" l="0" r="0" t="0"/>
          <a:stretch/>
        </p:blipFill>
        <p:spPr>
          <a:xfrm>
            <a:off x="8274176" y="74417"/>
            <a:ext cx="781550" cy="781550"/>
          </a:xfrm>
          <a:prstGeom prst="rect">
            <a:avLst/>
          </a:prstGeom>
          <a:noFill/>
          <a:ln>
            <a:noFill/>
          </a:ln>
        </p:spPr>
      </p:pic>
      <p:sp>
        <p:nvSpPr>
          <p:cNvPr id="123" name="Google Shape;123;p6"/>
          <p:cNvSpPr txBox="1"/>
          <p:nvPr/>
        </p:nvSpPr>
        <p:spPr>
          <a:xfrm>
            <a:off x="731527" y="461950"/>
            <a:ext cx="72378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0" i="0" lang="en" sz="2300" u="none" cap="none" strike="noStrike">
                <a:solidFill>
                  <a:schemeClr val="lt1"/>
                </a:solidFill>
                <a:latin typeface="Poppins SemiBold"/>
                <a:ea typeface="Poppins SemiBold"/>
                <a:cs typeface="Poppins SemiBold"/>
                <a:sym typeface="Poppins SemiBold"/>
              </a:rPr>
              <a:t>Demo — Failure RCA</a:t>
            </a:r>
            <a:endParaRPr b="0" i="0" sz="2300" u="none" cap="none" strike="noStrike">
              <a:solidFill>
                <a:schemeClr val="lt1"/>
              </a:solidFill>
              <a:latin typeface="Poppins SemiBold"/>
              <a:ea typeface="Poppins SemiBold"/>
              <a:cs typeface="Poppins SemiBold"/>
              <a:sym typeface="Poppins SemiBold"/>
            </a:endParaRPr>
          </a:p>
        </p:txBody>
      </p:sp>
      <p:sp>
        <p:nvSpPr>
          <p:cNvPr id="124" name="Google Shape;124;p6"/>
          <p:cNvSpPr txBox="1"/>
          <p:nvPr/>
        </p:nvSpPr>
        <p:spPr>
          <a:xfrm>
            <a:off x="731799" y="1014300"/>
            <a:ext cx="6047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30000"/>
              </a:lnSpc>
              <a:spcBef>
                <a:spcPts val="0"/>
              </a:spcBef>
              <a:spcAft>
                <a:spcPts val="0"/>
              </a:spcAft>
              <a:buClr>
                <a:srgbClr val="000000"/>
              </a:buClr>
              <a:buSzPts val="1400"/>
              <a:buFont typeface="Arial"/>
              <a:buNone/>
            </a:pPr>
            <a:r>
              <a:rPr b="0" i="0" lang="en" sz="1400" u="none" cap="none" strike="noStrike">
                <a:solidFill>
                  <a:schemeClr val="lt1"/>
                </a:solidFill>
                <a:latin typeface="Poppins"/>
                <a:ea typeface="Poppins"/>
                <a:cs typeface="Poppins"/>
                <a:sym typeface="Poppins"/>
              </a:rPr>
              <a:t>Use this classroom example to demonstrate the process</a:t>
            </a:r>
            <a:endParaRPr b="0" i="0" sz="1400" u="none" cap="none" strike="noStrike">
              <a:solidFill>
                <a:schemeClr val="lt1"/>
              </a:solidFill>
              <a:latin typeface="Poppins"/>
              <a:ea typeface="Poppins"/>
              <a:cs typeface="Poppins"/>
              <a:sym typeface="Poppins"/>
            </a:endParaRPr>
          </a:p>
        </p:txBody>
      </p:sp>
      <p:sp>
        <p:nvSpPr>
          <p:cNvPr id="125" name="Google Shape;125;p6"/>
          <p:cNvSpPr/>
          <p:nvPr/>
        </p:nvSpPr>
        <p:spPr>
          <a:xfrm>
            <a:off x="1160575" y="1870600"/>
            <a:ext cx="2044200" cy="2338500"/>
          </a:xfrm>
          <a:prstGeom prst="roundRect">
            <a:avLst>
              <a:gd fmla="val 16667" name="adj"/>
            </a:avLst>
          </a:prstGeom>
          <a:solidFill>
            <a:srgbClr val="FFFF00"/>
          </a:solidFill>
          <a:ln cap="flat" cmpd="sng" w="10675">
            <a:solidFill>
              <a:srgbClr val="BF9000"/>
            </a:solidFill>
            <a:prstDash val="solid"/>
            <a:round/>
            <a:headEnd len="sm" w="sm" type="none"/>
            <a:tailEnd len="sm" w="sm" type="none"/>
          </a:ln>
          <a:effectLst>
            <a:outerShdw blurRad="64123" rotWithShape="0" algn="bl" dir="1800000" dist="53436">
              <a:srgbClr val="000000">
                <a:alpha val="20000"/>
              </a:srgbClr>
            </a:outerShdw>
          </a:effectLst>
        </p:spPr>
        <p:txBody>
          <a:bodyPr anchorCtr="0" anchor="t" bIns="102575" lIns="102575" spcFirstLastPara="1" rIns="102575" wrap="square" tIns="102575">
            <a:noAutofit/>
          </a:bodyPr>
          <a:lstStyle/>
          <a:p>
            <a:pPr indent="0" lvl="0" marL="0" marR="0" rtl="0" algn="l">
              <a:lnSpc>
                <a:spcPct val="100000"/>
              </a:lnSpc>
              <a:spcBef>
                <a:spcPts val="0"/>
              </a:spcBef>
              <a:spcAft>
                <a:spcPts val="0"/>
              </a:spcAft>
              <a:buClr>
                <a:srgbClr val="000000"/>
              </a:buClr>
              <a:buSzPts val="1346"/>
              <a:buFont typeface="Arial"/>
              <a:buNone/>
            </a:pPr>
            <a:r>
              <a:rPr b="1" i="0" lang="en" sz="1346" u="none" cap="none" strike="noStrike">
                <a:solidFill>
                  <a:srgbClr val="000000"/>
                </a:solidFill>
                <a:latin typeface="Arial"/>
                <a:ea typeface="Arial"/>
                <a:cs typeface="Arial"/>
                <a:sym typeface="Arial"/>
              </a:rPr>
              <a:t>Failed Run A</a:t>
            </a:r>
            <a:endParaRPr b="1" i="0" sz="1346"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71"/>
              <a:buFont typeface="Arial"/>
              <a:buNone/>
            </a:pPr>
            <a:r>
              <a:t/>
            </a:r>
            <a:endParaRPr b="1" i="0" sz="1571"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rgbClr val="5A6473"/>
                </a:solidFill>
                <a:latin typeface="Calibri"/>
                <a:ea typeface="Calibri"/>
                <a:cs typeface="Calibri"/>
                <a:sym typeface="Calibri"/>
              </a:rPr>
              <a:t>Timeout waiting for Login button</a:t>
            </a:r>
            <a:endParaRPr b="0" i="0" sz="1122" u="none" cap="none" strike="noStrike">
              <a:solidFill>
                <a:srgbClr val="5A647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t/>
            </a:r>
            <a:endParaRPr b="0" i="0" sz="1122" u="none" cap="none" strike="noStrike">
              <a:solidFill>
                <a:srgbClr val="5A647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rgbClr val="5A6473"/>
                </a:solidFill>
                <a:latin typeface="Calibri"/>
                <a:ea typeface="Calibri"/>
                <a:cs typeface="Calibri"/>
                <a:sym typeface="Calibri"/>
              </a:rPr>
              <a:t>waitForSelector() in stack trace</a:t>
            </a:r>
            <a:endParaRPr b="0" i="0" sz="1122" u="none" cap="none" strike="noStrike">
              <a:solidFill>
                <a:srgbClr val="5A647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t/>
            </a:r>
            <a:endParaRPr b="0" i="0" sz="1122" u="none" cap="none" strike="noStrike">
              <a:solidFill>
                <a:srgbClr val="5A647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rgbClr val="5A6473"/>
                </a:solidFill>
                <a:latin typeface="Calibri"/>
                <a:ea typeface="Calibri"/>
                <a:cs typeface="Calibri"/>
                <a:sym typeface="Calibri"/>
              </a:rPr>
              <a:t>Possible causes: app, locator, environment</a:t>
            </a:r>
            <a:endParaRPr b="0" i="0" sz="1122" u="none" cap="none" strike="noStrike">
              <a:solidFill>
                <a:srgbClr val="5A6473"/>
              </a:solidFill>
              <a:latin typeface="Calibri"/>
              <a:ea typeface="Calibri"/>
              <a:cs typeface="Calibri"/>
              <a:sym typeface="Calibri"/>
            </a:endParaRPr>
          </a:p>
        </p:txBody>
      </p:sp>
      <p:sp>
        <p:nvSpPr>
          <p:cNvPr id="126" name="Google Shape;126;p6"/>
          <p:cNvSpPr/>
          <p:nvPr/>
        </p:nvSpPr>
        <p:spPr>
          <a:xfrm>
            <a:off x="3453139" y="1870600"/>
            <a:ext cx="2044200" cy="2338500"/>
          </a:xfrm>
          <a:prstGeom prst="roundRect">
            <a:avLst>
              <a:gd fmla="val 16667" name="adj"/>
            </a:avLst>
          </a:prstGeom>
          <a:solidFill>
            <a:srgbClr val="9900FF"/>
          </a:solidFill>
          <a:ln cap="flat" cmpd="sng" w="10675">
            <a:solidFill>
              <a:srgbClr val="B4A7D6"/>
            </a:solidFill>
            <a:prstDash val="solid"/>
            <a:round/>
            <a:headEnd len="sm" w="sm" type="none"/>
            <a:tailEnd len="sm" w="sm" type="none"/>
          </a:ln>
          <a:effectLst>
            <a:outerShdw blurRad="64123" rotWithShape="0" algn="bl" dir="1800000" dist="53436">
              <a:srgbClr val="000000">
                <a:alpha val="20000"/>
              </a:srgbClr>
            </a:outerShdw>
          </a:effectLst>
        </p:spPr>
        <p:txBody>
          <a:bodyPr anchorCtr="0" anchor="t" bIns="102575" lIns="102575" spcFirstLastPara="1" rIns="102575" wrap="square" tIns="102575">
            <a:noAutofit/>
          </a:bodyPr>
          <a:lstStyle/>
          <a:p>
            <a:pPr indent="0" lvl="0" marL="0" marR="0" rtl="0" algn="l">
              <a:lnSpc>
                <a:spcPct val="100000"/>
              </a:lnSpc>
              <a:spcBef>
                <a:spcPts val="0"/>
              </a:spcBef>
              <a:spcAft>
                <a:spcPts val="0"/>
              </a:spcAft>
              <a:buClr>
                <a:schemeClr val="dk1"/>
              </a:buClr>
              <a:buSzPts val="1234"/>
              <a:buFont typeface="Arial"/>
              <a:buNone/>
            </a:pPr>
            <a:r>
              <a:rPr b="1" i="0" lang="en" sz="1346" u="none" cap="none" strike="noStrike">
                <a:solidFill>
                  <a:schemeClr val="lt1"/>
                </a:solidFill>
                <a:latin typeface="Arial"/>
                <a:ea typeface="Arial"/>
                <a:cs typeface="Arial"/>
                <a:sym typeface="Arial"/>
              </a:rPr>
              <a:t>Failed Run B</a:t>
            </a:r>
            <a:endParaRPr b="1" i="0" sz="1346"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34"/>
              <a:buFont typeface="Arial"/>
              <a:buNone/>
            </a:pPr>
            <a:r>
              <a:t/>
            </a:r>
            <a:endParaRPr b="1" i="0" sz="1571"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Same area, different timeout</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AI suggests common UI initialization issue</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Treat as hypothesis</a:t>
            </a:r>
            <a:endParaRPr b="0" i="0" sz="1122" u="none" cap="none" strike="noStrike">
              <a:solidFill>
                <a:schemeClr val="lt1"/>
              </a:solidFill>
              <a:latin typeface="Calibri"/>
              <a:ea typeface="Calibri"/>
              <a:cs typeface="Calibri"/>
              <a:sym typeface="Calibri"/>
            </a:endParaRPr>
          </a:p>
        </p:txBody>
      </p:sp>
      <p:sp>
        <p:nvSpPr>
          <p:cNvPr id="127" name="Google Shape;127;p6"/>
          <p:cNvSpPr/>
          <p:nvPr/>
        </p:nvSpPr>
        <p:spPr>
          <a:xfrm>
            <a:off x="5745741" y="1870600"/>
            <a:ext cx="2044200" cy="2338500"/>
          </a:xfrm>
          <a:prstGeom prst="roundRect">
            <a:avLst>
              <a:gd fmla="val 16667" name="adj"/>
            </a:avLst>
          </a:prstGeom>
          <a:solidFill>
            <a:srgbClr val="274E13"/>
          </a:solidFill>
          <a:ln cap="flat" cmpd="sng" w="10675">
            <a:solidFill>
              <a:srgbClr val="B4A7D6"/>
            </a:solidFill>
            <a:prstDash val="solid"/>
            <a:round/>
            <a:headEnd len="sm" w="sm" type="none"/>
            <a:tailEnd len="sm" w="sm" type="none"/>
          </a:ln>
          <a:effectLst>
            <a:outerShdw blurRad="64123" rotWithShape="0" algn="bl" dir="1800000" dist="53436">
              <a:srgbClr val="000000">
                <a:alpha val="20000"/>
              </a:srgbClr>
            </a:outerShdw>
          </a:effectLst>
        </p:spPr>
        <p:txBody>
          <a:bodyPr anchorCtr="0" anchor="t" bIns="102575" lIns="102575" spcFirstLastPara="1" rIns="102575" wrap="square" tIns="102575">
            <a:noAutofit/>
          </a:bodyPr>
          <a:lstStyle/>
          <a:p>
            <a:pPr indent="0" lvl="0" marL="0" marR="0" rtl="0" algn="l">
              <a:lnSpc>
                <a:spcPct val="100000"/>
              </a:lnSpc>
              <a:spcBef>
                <a:spcPts val="0"/>
              </a:spcBef>
              <a:spcAft>
                <a:spcPts val="0"/>
              </a:spcAft>
              <a:buClr>
                <a:srgbClr val="000000"/>
              </a:buClr>
              <a:buSzPts val="1346"/>
              <a:buFont typeface="Arial"/>
              <a:buNone/>
            </a:pPr>
            <a:r>
              <a:rPr b="1" i="0" lang="en" sz="1346" u="none" cap="none" strike="noStrike">
                <a:solidFill>
                  <a:schemeClr val="lt1"/>
                </a:solidFill>
                <a:latin typeface="Arial"/>
                <a:ea typeface="Arial"/>
                <a:cs typeface="Arial"/>
                <a:sym typeface="Arial"/>
              </a:rPr>
              <a:t>Validate</a:t>
            </a:r>
            <a:endParaRPr b="1" i="0" sz="1346"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71"/>
              <a:buFont typeface="Arial"/>
              <a:buNone/>
            </a:pPr>
            <a:r>
              <a:t/>
            </a:r>
            <a:endParaRPr b="1" i="0" sz="1571"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Compare logs, timestamps, screenshots, DOM behavior, recent code changes, and other runs.</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Then decide.</a:t>
            </a:r>
            <a:endParaRPr b="0" i="0" sz="1122"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1000"/>
                                        <p:tgtEl>
                                          <p:spTgt spid="1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1000"/>
                                        <p:tgtEl>
                                          <p:spTgt spid="1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1000"/>
                                        <p:tgtEl>
                                          <p:spTgt spid="1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131" name="Shape 131"/>
        <p:cNvGrpSpPr/>
        <p:nvPr/>
      </p:nvGrpSpPr>
      <p:grpSpPr>
        <a:xfrm>
          <a:off x="0" y="0"/>
          <a:ext cx="0" cy="0"/>
          <a:chOff x="0" y="0"/>
          <a:chExt cx="0" cy="0"/>
        </a:xfrm>
      </p:grpSpPr>
      <p:pic>
        <p:nvPicPr>
          <p:cNvPr id="132" name="Google Shape;132;p7"/>
          <p:cNvPicPr preferRelativeResize="0"/>
          <p:nvPr/>
        </p:nvPicPr>
        <p:blipFill rotWithShape="1">
          <a:blip r:embed="rId3">
            <a:alphaModFix amt="5000"/>
          </a:blip>
          <a:srcRect b="0" l="0" r="0" t="0"/>
          <a:stretch/>
        </p:blipFill>
        <p:spPr>
          <a:xfrm>
            <a:off x="3592905" y="-647761"/>
            <a:ext cx="5662948" cy="6097674"/>
          </a:xfrm>
          <a:prstGeom prst="rect">
            <a:avLst/>
          </a:prstGeom>
          <a:noFill/>
          <a:ln>
            <a:noFill/>
          </a:ln>
        </p:spPr>
      </p:pic>
      <p:pic>
        <p:nvPicPr>
          <p:cNvPr id="133" name="Google Shape;133;p7"/>
          <p:cNvPicPr preferRelativeResize="0"/>
          <p:nvPr/>
        </p:nvPicPr>
        <p:blipFill rotWithShape="1">
          <a:blip r:embed="rId4">
            <a:alphaModFix/>
          </a:blip>
          <a:srcRect b="0" l="0" r="0" t="0"/>
          <a:stretch/>
        </p:blipFill>
        <p:spPr>
          <a:xfrm>
            <a:off x="147800" y="4833018"/>
            <a:ext cx="781539" cy="182880"/>
          </a:xfrm>
          <a:prstGeom prst="rect">
            <a:avLst/>
          </a:prstGeom>
          <a:noFill/>
          <a:ln>
            <a:noFill/>
          </a:ln>
        </p:spPr>
      </p:pic>
      <p:sp>
        <p:nvSpPr>
          <p:cNvPr id="134" name="Google Shape;134;p7"/>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135" name="Google Shape;135;p7"/>
          <p:cNvPicPr preferRelativeResize="0"/>
          <p:nvPr/>
        </p:nvPicPr>
        <p:blipFill rotWithShape="1">
          <a:blip r:embed="rId6">
            <a:alphaModFix/>
          </a:blip>
          <a:srcRect b="0" l="0" r="0" t="0"/>
          <a:stretch/>
        </p:blipFill>
        <p:spPr>
          <a:xfrm>
            <a:off x="8274176" y="74417"/>
            <a:ext cx="781550" cy="781550"/>
          </a:xfrm>
          <a:prstGeom prst="rect">
            <a:avLst/>
          </a:prstGeom>
          <a:noFill/>
          <a:ln>
            <a:noFill/>
          </a:ln>
        </p:spPr>
      </p:pic>
      <p:sp>
        <p:nvSpPr>
          <p:cNvPr id="136" name="Google Shape;136;p7"/>
          <p:cNvSpPr txBox="1"/>
          <p:nvPr/>
        </p:nvSpPr>
        <p:spPr>
          <a:xfrm>
            <a:off x="731527" y="461950"/>
            <a:ext cx="72378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0" i="0" lang="en" sz="2300" u="none" cap="none" strike="noStrike">
                <a:solidFill>
                  <a:schemeClr val="lt1"/>
                </a:solidFill>
                <a:latin typeface="Poppins SemiBold"/>
                <a:ea typeface="Poppins SemiBold"/>
                <a:cs typeface="Poppins SemiBold"/>
                <a:sym typeface="Poppins SemiBold"/>
              </a:rPr>
              <a:t>Activity 2 — Script-from-Description</a:t>
            </a:r>
            <a:endParaRPr b="0" i="0" sz="2300" u="none" cap="none" strike="noStrike">
              <a:solidFill>
                <a:schemeClr val="lt1"/>
              </a:solidFill>
              <a:latin typeface="Poppins SemiBold"/>
              <a:ea typeface="Poppins SemiBold"/>
              <a:cs typeface="Poppins SemiBold"/>
              <a:sym typeface="Poppins SemiBold"/>
            </a:endParaRPr>
          </a:p>
        </p:txBody>
      </p:sp>
      <p:sp>
        <p:nvSpPr>
          <p:cNvPr id="137" name="Google Shape;137;p7"/>
          <p:cNvSpPr txBox="1"/>
          <p:nvPr/>
        </p:nvSpPr>
        <p:spPr>
          <a:xfrm>
            <a:off x="731799" y="1014300"/>
            <a:ext cx="6047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30000"/>
              </a:lnSpc>
              <a:spcBef>
                <a:spcPts val="0"/>
              </a:spcBef>
              <a:spcAft>
                <a:spcPts val="0"/>
              </a:spcAft>
              <a:buClr>
                <a:srgbClr val="000000"/>
              </a:buClr>
              <a:buSzPts val="1400"/>
              <a:buFont typeface="Arial"/>
              <a:buNone/>
            </a:pPr>
            <a:r>
              <a:rPr b="0" i="0" lang="en" sz="1400" u="none" cap="none" strike="noStrike">
                <a:solidFill>
                  <a:schemeClr val="lt1"/>
                </a:solidFill>
                <a:latin typeface="Poppins"/>
                <a:ea typeface="Poppins"/>
                <a:cs typeface="Poppins"/>
                <a:sym typeface="Poppins"/>
              </a:rPr>
              <a:t>Requirement → AI → framework → execution → investigation</a:t>
            </a:r>
            <a:endParaRPr b="0" i="0" sz="1400" u="none" cap="none" strike="noStrike">
              <a:solidFill>
                <a:schemeClr val="lt1"/>
              </a:solidFill>
              <a:latin typeface="Poppins"/>
              <a:ea typeface="Poppins"/>
              <a:cs typeface="Poppins"/>
              <a:sym typeface="Poppins"/>
            </a:endParaRPr>
          </a:p>
        </p:txBody>
      </p:sp>
      <p:sp>
        <p:nvSpPr>
          <p:cNvPr id="138" name="Google Shape;138;p7"/>
          <p:cNvSpPr/>
          <p:nvPr/>
        </p:nvSpPr>
        <p:spPr>
          <a:xfrm>
            <a:off x="1160575" y="1870600"/>
            <a:ext cx="2044200" cy="2338500"/>
          </a:xfrm>
          <a:prstGeom prst="roundRect">
            <a:avLst>
              <a:gd fmla="val 16667" name="adj"/>
            </a:avLst>
          </a:prstGeom>
          <a:solidFill>
            <a:srgbClr val="FFFF00"/>
          </a:solidFill>
          <a:ln cap="flat" cmpd="sng" w="10675">
            <a:solidFill>
              <a:srgbClr val="BF9000"/>
            </a:solidFill>
            <a:prstDash val="solid"/>
            <a:round/>
            <a:headEnd len="sm" w="sm" type="none"/>
            <a:tailEnd len="sm" w="sm" type="none"/>
          </a:ln>
          <a:effectLst>
            <a:outerShdw blurRad="64123" rotWithShape="0" algn="bl" dir="1800000" dist="53436">
              <a:srgbClr val="000000">
                <a:alpha val="20000"/>
              </a:srgbClr>
            </a:outerShdw>
          </a:effectLst>
        </p:spPr>
        <p:txBody>
          <a:bodyPr anchorCtr="0" anchor="t" bIns="102575" lIns="102575" spcFirstLastPara="1" rIns="102575" wrap="square" tIns="102575">
            <a:noAutofit/>
          </a:bodyPr>
          <a:lstStyle/>
          <a:p>
            <a:pPr indent="0" lvl="0" marL="0" marR="0" rtl="0" algn="l">
              <a:lnSpc>
                <a:spcPct val="100000"/>
              </a:lnSpc>
              <a:spcBef>
                <a:spcPts val="0"/>
              </a:spcBef>
              <a:spcAft>
                <a:spcPts val="0"/>
              </a:spcAft>
              <a:buClr>
                <a:srgbClr val="000000"/>
              </a:buClr>
              <a:buSzPts val="1346"/>
              <a:buFont typeface="Arial"/>
              <a:buNone/>
            </a:pPr>
            <a:r>
              <a:rPr b="1" i="0" lang="en" sz="1346" u="none" cap="none" strike="noStrike">
                <a:solidFill>
                  <a:srgbClr val="000000"/>
                </a:solidFill>
                <a:latin typeface="Arial"/>
                <a:ea typeface="Arial"/>
                <a:cs typeface="Arial"/>
                <a:sym typeface="Arial"/>
              </a:rPr>
              <a:t>1 • Source</a:t>
            </a:r>
            <a:endParaRPr b="1" i="0" sz="1346"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71"/>
              <a:buFont typeface="Arial"/>
              <a:buNone/>
            </a:pPr>
            <a:r>
              <a:t/>
            </a:r>
            <a:endParaRPr b="1" i="0" sz="1571"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rgbClr val="5A6473"/>
                </a:solidFill>
                <a:latin typeface="Calibri"/>
                <a:ea typeface="Calibri"/>
                <a:cs typeface="Calibri"/>
                <a:sym typeface="Calibri"/>
              </a:rPr>
              <a:t>Real Jira ticket / requirement</a:t>
            </a:r>
            <a:endParaRPr b="0" i="0" sz="1122" u="none" cap="none" strike="noStrike">
              <a:solidFill>
                <a:srgbClr val="5A647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t/>
            </a:r>
            <a:endParaRPr b="0" i="0" sz="1122" u="none" cap="none" strike="noStrike">
              <a:solidFill>
                <a:srgbClr val="5A647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rgbClr val="5A6473"/>
                </a:solidFill>
                <a:latin typeface="Calibri"/>
                <a:ea typeface="Calibri"/>
                <a:cs typeface="Calibri"/>
                <a:sym typeface="Calibri"/>
              </a:rPr>
              <a:t>Clear mapping from requirement to test steps</a:t>
            </a:r>
            <a:endParaRPr b="0" i="0" sz="1122" u="none" cap="none" strike="noStrike">
              <a:solidFill>
                <a:srgbClr val="5A6473"/>
              </a:solidFill>
              <a:latin typeface="Calibri"/>
              <a:ea typeface="Calibri"/>
              <a:cs typeface="Calibri"/>
              <a:sym typeface="Calibri"/>
            </a:endParaRPr>
          </a:p>
        </p:txBody>
      </p:sp>
      <p:sp>
        <p:nvSpPr>
          <p:cNvPr id="139" name="Google Shape;139;p7"/>
          <p:cNvSpPr/>
          <p:nvPr/>
        </p:nvSpPr>
        <p:spPr>
          <a:xfrm>
            <a:off x="3453139" y="1870600"/>
            <a:ext cx="2044200" cy="2338500"/>
          </a:xfrm>
          <a:prstGeom prst="roundRect">
            <a:avLst>
              <a:gd fmla="val 16667" name="adj"/>
            </a:avLst>
          </a:prstGeom>
          <a:solidFill>
            <a:srgbClr val="9900FF"/>
          </a:solidFill>
          <a:ln cap="flat" cmpd="sng" w="10675">
            <a:solidFill>
              <a:srgbClr val="B4A7D6"/>
            </a:solidFill>
            <a:prstDash val="solid"/>
            <a:round/>
            <a:headEnd len="sm" w="sm" type="none"/>
            <a:tailEnd len="sm" w="sm" type="none"/>
          </a:ln>
          <a:effectLst>
            <a:outerShdw blurRad="64123" rotWithShape="0" algn="bl" dir="1800000" dist="53436">
              <a:srgbClr val="000000">
                <a:alpha val="20000"/>
              </a:srgbClr>
            </a:outerShdw>
          </a:effectLst>
        </p:spPr>
        <p:txBody>
          <a:bodyPr anchorCtr="0" anchor="t" bIns="102575" lIns="102575" spcFirstLastPara="1" rIns="102575" wrap="square" tIns="102575">
            <a:noAutofit/>
          </a:bodyPr>
          <a:lstStyle/>
          <a:p>
            <a:pPr indent="0" lvl="0" marL="0" marR="0" rtl="0" algn="l">
              <a:lnSpc>
                <a:spcPct val="100000"/>
              </a:lnSpc>
              <a:spcBef>
                <a:spcPts val="0"/>
              </a:spcBef>
              <a:spcAft>
                <a:spcPts val="0"/>
              </a:spcAft>
              <a:buClr>
                <a:schemeClr val="dk1"/>
              </a:buClr>
              <a:buSzPts val="1234"/>
              <a:buFont typeface="Arial"/>
              <a:buNone/>
            </a:pPr>
            <a:r>
              <a:rPr b="1" i="0" lang="en" sz="1346" u="none" cap="none" strike="noStrike">
                <a:solidFill>
                  <a:schemeClr val="lt1"/>
                </a:solidFill>
                <a:latin typeface="Arial"/>
                <a:ea typeface="Arial"/>
                <a:cs typeface="Arial"/>
                <a:sym typeface="Arial"/>
              </a:rPr>
              <a:t>2 • Generate</a:t>
            </a:r>
            <a:endParaRPr b="1" i="0" sz="1346"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34"/>
              <a:buFont typeface="Arial"/>
              <a:buNone/>
            </a:pPr>
            <a:r>
              <a:t/>
            </a:r>
            <a:endParaRPr b="1" i="0" sz="1571"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Framework-specific test</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Existing helpers, page objects, naming and structure</a:t>
            </a:r>
            <a:endParaRPr b="0" i="0" sz="1122" u="none" cap="none" strike="noStrike">
              <a:solidFill>
                <a:schemeClr val="lt1"/>
              </a:solidFill>
              <a:latin typeface="Calibri"/>
              <a:ea typeface="Calibri"/>
              <a:cs typeface="Calibri"/>
              <a:sym typeface="Calibri"/>
            </a:endParaRPr>
          </a:p>
        </p:txBody>
      </p:sp>
      <p:sp>
        <p:nvSpPr>
          <p:cNvPr id="140" name="Google Shape;140;p7"/>
          <p:cNvSpPr/>
          <p:nvPr/>
        </p:nvSpPr>
        <p:spPr>
          <a:xfrm>
            <a:off x="5745741" y="1870600"/>
            <a:ext cx="2044200" cy="2338500"/>
          </a:xfrm>
          <a:prstGeom prst="roundRect">
            <a:avLst>
              <a:gd fmla="val 16667" name="adj"/>
            </a:avLst>
          </a:prstGeom>
          <a:solidFill>
            <a:srgbClr val="274E13"/>
          </a:solidFill>
          <a:ln cap="flat" cmpd="sng" w="10675">
            <a:solidFill>
              <a:srgbClr val="B4A7D6"/>
            </a:solidFill>
            <a:prstDash val="solid"/>
            <a:round/>
            <a:headEnd len="sm" w="sm" type="none"/>
            <a:tailEnd len="sm" w="sm" type="none"/>
          </a:ln>
          <a:effectLst>
            <a:outerShdw blurRad="64123" rotWithShape="0" algn="bl" dir="1800000" dist="53436">
              <a:srgbClr val="000000">
                <a:alpha val="20000"/>
              </a:srgbClr>
            </a:outerShdw>
          </a:effectLst>
        </p:spPr>
        <p:txBody>
          <a:bodyPr anchorCtr="0" anchor="t" bIns="102575" lIns="102575" spcFirstLastPara="1" rIns="102575" wrap="square" tIns="102575">
            <a:noAutofit/>
          </a:bodyPr>
          <a:lstStyle/>
          <a:p>
            <a:pPr indent="0" lvl="0" marL="0" marR="0" rtl="0" algn="l">
              <a:lnSpc>
                <a:spcPct val="100000"/>
              </a:lnSpc>
              <a:spcBef>
                <a:spcPts val="0"/>
              </a:spcBef>
              <a:spcAft>
                <a:spcPts val="0"/>
              </a:spcAft>
              <a:buClr>
                <a:srgbClr val="000000"/>
              </a:buClr>
              <a:buSzPts val="1346"/>
              <a:buFont typeface="Arial"/>
              <a:buNone/>
            </a:pPr>
            <a:r>
              <a:rPr b="1" i="0" lang="en" sz="1346" u="none" cap="none" strike="noStrike">
                <a:solidFill>
                  <a:schemeClr val="lt1"/>
                </a:solidFill>
                <a:latin typeface="Arial"/>
                <a:ea typeface="Arial"/>
                <a:cs typeface="Arial"/>
                <a:sym typeface="Arial"/>
              </a:rPr>
              <a:t>3 • Run + Investigate</a:t>
            </a:r>
            <a:endParaRPr b="1" i="0" sz="1346"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71"/>
              <a:buFont typeface="Arial"/>
              <a:buNone/>
            </a:pPr>
            <a:r>
              <a:t/>
            </a:r>
            <a:endParaRPr b="1" i="0" sz="1571"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Real execution evidence</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Fix/reject AI output and record why</a:t>
            </a:r>
            <a:endParaRPr b="0" i="0" sz="1122"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1000"/>
                                        <p:tgtEl>
                                          <p:spTgt spid="1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1000"/>
                                        <p:tgtEl>
                                          <p:spTgt spid="1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144" name="Shape 144"/>
        <p:cNvGrpSpPr/>
        <p:nvPr/>
      </p:nvGrpSpPr>
      <p:grpSpPr>
        <a:xfrm>
          <a:off x="0" y="0"/>
          <a:ext cx="0" cy="0"/>
          <a:chOff x="0" y="0"/>
          <a:chExt cx="0" cy="0"/>
        </a:xfrm>
      </p:grpSpPr>
      <p:pic>
        <p:nvPicPr>
          <p:cNvPr id="145" name="Google Shape;145;p8"/>
          <p:cNvPicPr preferRelativeResize="0"/>
          <p:nvPr/>
        </p:nvPicPr>
        <p:blipFill rotWithShape="1">
          <a:blip r:embed="rId3">
            <a:alphaModFix amt="5000"/>
          </a:blip>
          <a:srcRect b="0" l="0" r="0" t="0"/>
          <a:stretch/>
        </p:blipFill>
        <p:spPr>
          <a:xfrm>
            <a:off x="3592905" y="-647761"/>
            <a:ext cx="5662948" cy="6097674"/>
          </a:xfrm>
          <a:prstGeom prst="rect">
            <a:avLst/>
          </a:prstGeom>
          <a:noFill/>
          <a:ln>
            <a:noFill/>
          </a:ln>
        </p:spPr>
      </p:pic>
      <p:pic>
        <p:nvPicPr>
          <p:cNvPr id="146" name="Google Shape;146;p8"/>
          <p:cNvPicPr preferRelativeResize="0"/>
          <p:nvPr/>
        </p:nvPicPr>
        <p:blipFill rotWithShape="1">
          <a:blip r:embed="rId4">
            <a:alphaModFix/>
          </a:blip>
          <a:srcRect b="0" l="0" r="0" t="0"/>
          <a:stretch/>
        </p:blipFill>
        <p:spPr>
          <a:xfrm>
            <a:off x="147800" y="4833018"/>
            <a:ext cx="781539" cy="182880"/>
          </a:xfrm>
          <a:prstGeom prst="rect">
            <a:avLst/>
          </a:prstGeom>
          <a:noFill/>
          <a:ln>
            <a:noFill/>
          </a:ln>
        </p:spPr>
      </p:pic>
      <p:sp>
        <p:nvSpPr>
          <p:cNvPr id="147" name="Google Shape;147;p8"/>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148" name="Google Shape;148;p8"/>
          <p:cNvPicPr preferRelativeResize="0"/>
          <p:nvPr/>
        </p:nvPicPr>
        <p:blipFill rotWithShape="1">
          <a:blip r:embed="rId6">
            <a:alphaModFix/>
          </a:blip>
          <a:srcRect b="0" l="0" r="0" t="0"/>
          <a:stretch/>
        </p:blipFill>
        <p:spPr>
          <a:xfrm>
            <a:off x="8274176" y="74417"/>
            <a:ext cx="781550" cy="781550"/>
          </a:xfrm>
          <a:prstGeom prst="rect">
            <a:avLst/>
          </a:prstGeom>
          <a:noFill/>
          <a:ln>
            <a:noFill/>
          </a:ln>
        </p:spPr>
      </p:pic>
      <p:sp>
        <p:nvSpPr>
          <p:cNvPr id="149" name="Google Shape;149;p8"/>
          <p:cNvSpPr txBox="1"/>
          <p:nvPr/>
        </p:nvSpPr>
        <p:spPr>
          <a:xfrm>
            <a:off x="731527" y="461950"/>
            <a:ext cx="72378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0" i="0" lang="en" sz="2300" u="none" cap="none" strike="noStrike">
                <a:solidFill>
                  <a:schemeClr val="lt1"/>
                </a:solidFill>
                <a:latin typeface="Poppins SemiBold"/>
                <a:ea typeface="Poppins SemiBold"/>
                <a:cs typeface="Poppins SemiBold"/>
                <a:sym typeface="Poppins SemiBold"/>
              </a:rPr>
              <a:t>Activity 2 — Manual + Automation Tester Paths</a:t>
            </a:r>
            <a:endParaRPr b="0" i="0" sz="2300" u="none" cap="none" strike="noStrike">
              <a:solidFill>
                <a:schemeClr val="lt1"/>
              </a:solidFill>
              <a:latin typeface="Poppins SemiBold"/>
              <a:ea typeface="Poppins SemiBold"/>
              <a:cs typeface="Poppins SemiBold"/>
              <a:sym typeface="Poppins SemiBold"/>
            </a:endParaRPr>
          </a:p>
        </p:txBody>
      </p:sp>
      <p:sp>
        <p:nvSpPr>
          <p:cNvPr id="150" name="Google Shape;150;p8"/>
          <p:cNvSpPr txBox="1"/>
          <p:nvPr/>
        </p:nvSpPr>
        <p:spPr>
          <a:xfrm>
            <a:off x="731800" y="1014300"/>
            <a:ext cx="7128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30000"/>
              </a:lnSpc>
              <a:spcBef>
                <a:spcPts val="0"/>
              </a:spcBef>
              <a:spcAft>
                <a:spcPts val="0"/>
              </a:spcAft>
              <a:buClr>
                <a:srgbClr val="000000"/>
              </a:buClr>
              <a:buSzPts val="1400"/>
              <a:buFont typeface="Arial"/>
              <a:buNone/>
            </a:pPr>
            <a:r>
              <a:rPr b="0" i="0" lang="en" sz="1400" u="none" cap="none" strike="noStrike">
                <a:solidFill>
                  <a:schemeClr val="lt1"/>
                </a:solidFill>
                <a:latin typeface="Poppins"/>
                <a:ea typeface="Poppins"/>
                <a:cs typeface="Poppins"/>
                <a:sym typeface="Poppins"/>
              </a:rPr>
              <a:t>Same objective, different execution paths</a:t>
            </a:r>
            <a:endParaRPr b="0" i="0" sz="1400" u="none" cap="none" strike="noStrike">
              <a:solidFill>
                <a:schemeClr val="lt1"/>
              </a:solidFill>
              <a:latin typeface="Poppins"/>
              <a:ea typeface="Poppins"/>
              <a:cs typeface="Poppins"/>
              <a:sym typeface="Poppins"/>
            </a:endParaRPr>
          </a:p>
        </p:txBody>
      </p:sp>
      <p:grpSp>
        <p:nvGrpSpPr>
          <p:cNvPr id="151" name="Google Shape;151;p8"/>
          <p:cNvGrpSpPr/>
          <p:nvPr/>
        </p:nvGrpSpPr>
        <p:grpSpPr>
          <a:xfrm>
            <a:off x="409161" y="1758422"/>
            <a:ext cx="3958324" cy="2736572"/>
            <a:chOff x="860475" y="1638825"/>
            <a:chExt cx="2234700" cy="1285500"/>
          </a:xfrm>
        </p:grpSpPr>
        <p:sp>
          <p:nvSpPr>
            <p:cNvPr id="152" name="Google Shape;152;p8"/>
            <p:cNvSpPr/>
            <p:nvPr/>
          </p:nvSpPr>
          <p:spPr>
            <a:xfrm>
              <a:off x="860475" y="1638825"/>
              <a:ext cx="2234700" cy="1285500"/>
            </a:xfrm>
            <a:prstGeom prst="roundRect">
              <a:avLst>
                <a:gd fmla="val 16667" name="adj"/>
              </a:avLst>
            </a:prstGeom>
            <a:solidFill>
              <a:srgbClr val="A64D79"/>
            </a:solidFill>
            <a:ln cap="flat" cmpd="sng" w="11075">
              <a:solidFill>
                <a:srgbClr val="FFD966"/>
              </a:solidFill>
              <a:prstDash val="solid"/>
              <a:round/>
              <a:headEnd len="sm" w="sm" type="none"/>
              <a:tailEnd len="sm" w="sm" type="none"/>
            </a:ln>
            <a:effectLst>
              <a:outerShdw blurRad="99744" rotWithShape="0" algn="bl" dir="3900000" dist="55414">
                <a:srgbClr val="000000">
                  <a:alpha val="21176"/>
                </a:srgbClr>
              </a:outerShdw>
            </a:effectLst>
          </p:spPr>
          <p:txBody>
            <a:bodyPr anchorCtr="0" anchor="t" bIns="106375" lIns="106375" spcFirstLastPara="1" rIns="106375" wrap="square" tIns="106375">
              <a:noAutofit/>
            </a:bodyPr>
            <a:lstStyle/>
            <a:p>
              <a:pPr indent="0" lvl="0" marL="0" marR="0" rtl="0" algn="l">
                <a:lnSpc>
                  <a:spcPct val="100000"/>
                </a:lnSpc>
                <a:spcBef>
                  <a:spcPts val="0"/>
                </a:spcBef>
                <a:spcAft>
                  <a:spcPts val="0"/>
                </a:spcAft>
                <a:buClr>
                  <a:srgbClr val="000000"/>
                </a:buClr>
                <a:buSzPts val="1629"/>
                <a:buFont typeface="Arial"/>
                <a:buNone/>
              </a:pPr>
              <a:r>
                <a:t/>
              </a:r>
              <a:endParaRPr b="1" i="0" sz="1629" u="none" cap="none" strike="noStrike">
                <a:solidFill>
                  <a:schemeClr val="lt1"/>
                </a:solidFill>
                <a:latin typeface="Arial"/>
                <a:ea typeface="Arial"/>
                <a:cs typeface="Arial"/>
                <a:sym typeface="Arial"/>
              </a:endParaRPr>
            </a:p>
          </p:txBody>
        </p:sp>
        <p:sp>
          <p:nvSpPr>
            <p:cNvPr id="153" name="Google Shape;153;p8"/>
            <p:cNvSpPr txBox="1"/>
            <p:nvPr/>
          </p:nvSpPr>
          <p:spPr>
            <a:xfrm>
              <a:off x="976594" y="1737059"/>
              <a:ext cx="1416900" cy="201900"/>
            </a:xfrm>
            <a:prstGeom prst="rect">
              <a:avLst/>
            </a:prstGeom>
            <a:noFill/>
            <a:ln>
              <a:noFill/>
            </a:ln>
          </p:spPr>
          <p:txBody>
            <a:bodyPr anchorCtr="0" anchor="t" bIns="106375" lIns="106375" spcFirstLastPara="1" rIns="106375" wrap="square" tIns="106375">
              <a:spAutoFit/>
            </a:bodyPr>
            <a:lstStyle/>
            <a:p>
              <a:pPr indent="0" lvl="0" marL="0" marR="0" rtl="0" algn="l">
                <a:lnSpc>
                  <a:spcPct val="100000"/>
                </a:lnSpc>
                <a:spcBef>
                  <a:spcPts val="0"/>
                </a:spcBef>
                <a:spcAft>
                  <a:spcPts val="0"/>
                </a:spcAft>
                <a:buClr>
                  <a:srgbClr val="000000"/>
                </a:buClr>
                <a:buSzPts val="1396"/>
                <a:buFont typeface="Arial"/>
                <a:buNone/>
              </a:pPr>
              <a:r>
                <a:rPr b="1" i="0" lang="en" sz="1396" u="none" cap="none" strike="noStrike">
                  <a:solidFill>
                    <a:schemeClr val="lt1"/>
                  </a:solidFill>
                  <a:latin typeface="Arial"/>
                  <a:ea typeface="Arial"/>
                  <a:cs typeface="Arial"/>
                  <a:sym typeface="Arial"/>
                </a:rPr>
                <a:t>MANUAL TESTING</a:t>
              </a:r>
              <a:endParaRPr b="1" i="0" sz="1396" u="none" cap="none" strike="noStrike">
                <a:solidFill>
                  <a:schemeClr val="lt1"/>
                </a:solidFill>
                <a:latin typeface="Arial"/>
                <a:ea typeface="Arial"/>
                <a:cs typeface="Arial"/>
                <a:sym typeface="Arial"/>
              </a:endParaRPr>
            </a:p>
          </p:txBody>
        </p:sp>
        <p:sp>
          <p:nvSpPr>
            <p:cNvPr id="154" name="Google Shape;154;p8"/>
            <p:cNvSpPr txBox="1"/>
            <p:nvPr/>
          </p:nvSpPr>
          <p:spPr>
            <a:xfrm>
              <a:off x="929175" y="1962730"/>
              <a:ext cx="2097300" cy="786300"/>
            </a:xfrm>
            <a:prstGeom prst="rect">
              <a:avLst/>
            </a:prstGeom>
            <a:noFill/>
            <a:ln>
              <a:noFill/>
            </a:ln>
          </p:spPr>
          <p:txBody>
            <a:bodyPr anchorCtr="0" anchor="t" bIns="106375" lIns="106375" spcFirstLastPara="1" rIns="106375" wrap="square" tIns="106375">
              <a:spAutoFit/>
            </a:bodyPr>
            <a:lstStyle/>
            <a:p>
              <a:pPr indent="-304800" lvl="0" marL="457200" marR="0" rtl="0" algn="l">
                <a:lnSpc>
                  <a:spcPct val="115000"/>
                </a:lnSpc>
                <a:spcBef>
                  <a:spcPts val="0"/>
                </a:spcBef>
                <a:spcAft>
                  <a:spcPts val="0"/>
                </a:spcAft>
                <a:buClr>
                  <a:schemeClr val="lt1"/>
                </a:buClr>
                <a:buSzPts val="1200"/>
                <a:buFont typeface="Arial"/>
                <a:buChar char="❖"/>
              </a:pPr>
              <a:r>
                <a:rPr b="0" i="0" lang="en" sz="1200" u="none" cap="none" strike="noStrike">
                  <a:solidFill>
                    <a:schemeClr val="lt1"/>
                  </a:solidFill>
                  <a:latin typeface="Arial"/>
                  <a:ea typeface="Arial"/>
                  <a:cs typeface="Arial"/>
                  <a:sym typeface="Arial"/>
                </a:rPr>
                <a:t>Start from the real requirement</a:t>
              </a:r>
              <a:endParaRPr b="0" i="0" sz="1200" u="none" cap="none" strike="noStrike">
                <a:solidFill>
                  <a:schemeClr val="lt1"/>
                </a:solidFill>
                <a:latin typeface="Arial"/>
                <a:ea typeface="Arial"/>
                <a:cs typeface="Arial"/>
                <a:sym typeface="Arial"/>
              </a:endParaRPr>
            </a:p>
            <a:p>
              <a:pPr indent="-304800" lvl="0" marL="457200" marR="0" rtl="0" algn="l">
                <a:lnSpc>
                  <a:spcPct val="115000"/>
                </a:lnSpc>
                <a:spcBef>
                  <a:spcPts val="0"/>
                </a:spcBef>
                <a:spcAft>
                  <a:spcPts val="0"/>
                </a:spcAft>
                <a:buClr>
                  <a:schemeClr val="lt1"/>
                </a:buClr>
                <a:buSzPts val="1200"/>
                <a:buFont typeface="Arial"/>
                <a:buChar char="❖"/>
              </a:pPr>
              <a:r>
                <a:rPr b="0" i="0" lang="en" sz="1200" u="none" cap="none" strike="noStrike">
                  <a:solidFill>
                    <a:schemeClr val="lt1"/>
                  </a:solidFill>
                  <a:latin typeface="Arial"/>
                  <a:ea typeface="Arial"/>
                  <a:cs typeface="Arial"/>
                  <a:sym typeface="Arial"/>
                </a:rPr>
                <a:t>Generate structured test steps / expected results</a:t>
              </a:r>
              <a:endParaRPr b="0" i="0" sz="1200" u="none" cap="none" strike="noStrike">
                <a:solidFill>
                  <a:schemeClr val="lt1"/>
                </a:solidFill>
                <a:latin typeface="Arial"/>
                <a:ea typeface="Arial"/>
                <a:cs typeface="Arial"/>
                <a:sym typeface="Arial"/>
              </a:endParaRPr>
            </a:p>
            <a:p>
              <a:pPr indent="-304800" lvl="0" marL="457200" marR="0" rtl="0" algn="l">
                <a:lnSpc>
                  <a:spcPct val="115000"/>
                </a:lnSpc>
                <a:spcBef>
                  <a:spcPts val="0"/>
                </a:spcBef>
                <a:spcAft>
                  <a:spcPts val="0"/>
                </a:spcAft>
                <a:buClr>
                  <a:schemeClr val="lt1"/>
                </a:buClr>
                <a:buSzPts val="1200"/>
                <a:buFont typeface="Arial"/>
                <a:buChar char="❖"/>
              </a:pPr>
              <a:r>
                <a:rPr b="0" i="0" lang="en" sz="1200" u="none" cap="none" strike="noStrike">
                  <a:solidFill>
                    <a:schemeClr val="lt1"/>
                  </a:solidFill>
                  <a:latin typeface="Arial"/>
                  <a:ea typeface="Arial"/>
                  <a:cs typeface="Arial"/>
                  <a:sym typeface="Arial"/>
                </a:rPr>
                <a:t>Validate test data and behavior</a:t>
              </a:r>
              <a:endParaRPr b="0" i="0" sz="1200" u="none" cap="none" strike="noStrike">
                <a:solidFill>
                  <a:schemeClr val="lt1"/>
                </a:solidFill>
                <a:latin typeface="Arial"/>
                <a:ea typeface="Arial"/>
                <a:cs typeface="Arial"/>
                <a:sym typeface="Arial"/>
              </a:endParaRPr>
            </a:p>
            <a:p>
              <a:pPr indent="-304800" lvl="0" marL="457200" marR="0" rtl="0" algn="l">
                <a:lnSpc>
                  <a:spcPct val="115000"/>
                </a:lnSpc>
                <a:spcBef>
                  <a:spcPts val="0"/>
                </a:spcBef>
                <a:spcAft>
                  <a:spcPts val="0"/>
                </a:spcAft>
                <a:buClr>
                  <a:schemeClr val="lt1"/>
                </a:buClr>
                <a:buSzPts val="1200"/>
                <a:buFont typeface="Arial"/>
                <a:buChar char="❖"/>
              </a:pPr>
              <a:r>
                <a:rPr b="0" i="0" lang="en" sz="1200" u="none" cap="none" strike="noStrike">
                  <a:solidFill>
                    <a:schemeClr val="lt1"/>
                  </a:solidFill>
                  <a:latin typeface="Arial"/>
                  <a:ea typeface="Arial"/>
                  <a:cs typeface="Arial"/>
                  <a:sym typeface="Arial"/>
                </a:rPr>
                <a:t>If automation is available, generate and execute it</a:t>
              </a:r>
              <a:endParaRPr b="0" i="0" sz="1200" u="none" cap="none" strike="noStrike">
                <a:solidFill>
                  <a:schemeClr val="lt1"/>
                </a:solidFill>
                <a:latin typeface="Arial"/>
                <a:ea typeface="Arial"/>
                <a:cs typeface="Arial"/>
                <a:sym typeface="Arial"/>
              </a:endParaRPr>
            </a:p>
            <a:p>
              <a:pPr indent="-304800" lvl="0" marL="457200" marR="0" rtl="0" algn="l">
                <a:lnSpc>
                  <a:spcPct val="115000"/>
                </a:lnSpc>
                <a:spcBef>
                  <a:spcPts val="0"/>
                </a:spcBef>
                <a:spcAft>
                  <a:spcPts val="0"/>
                </a:spcAft>
                <a:buClr>
                  <a:schemeClr val="lt1"/>
                </a:buClr>
                <a:buSzPts val="1200"/>
                <a:buFont typeface="Arial"/>
                <a:buChar char="❖"/>
              </a:pPr>
              <a:r>
                <a:rPr b="0" i="0" lang="en" sz="1200" u="none" cap="none" strike="noStrike">
                  <a:solidFill>
                    <a:schemeClr val="lt1"/>
                  </a:solidFill>
                  <a:latin typeface="Arial"/>
                  <a:ea typeface="Arial"/>
                  <a:cs typeface="Arial"/>
                  <a:sym typeface="Arial"/>
                </a:rPr>
                <a:t>Otherwise retain a validated test artifact</a:t>
              </a:r>
              <a:endParaRPr b="0" i="0" sz="1200" u="none" cap="none" strike="noStrike">
                <a:solidFill>
                  <a:schemeClr val="lt1"/>
                </a:solidFill>
                <a:latin typeface="Arial"/>
                <a:ea typeface="Arial"/>
                <a:cs typeface="Arial"/>
                <a:sym typeface="Arial"/>
              </a:endParaRPr>
            </a:p>
          </p:txBody>
        </p:sp>
      </p:grpSp>
      <p:grpSp>
        <p:nvGrpSpPr>
          <p:cNvPr id="155" name="Google Shape;155;p8"/>
          <p:cNvGrpSpPr/>
          <p:nvPr/>
        </p:nvGrpSpPr>
        <p:grpSpPr>
          <a:xfrm>
            <a:off x="4572012" y="1758422"/>
            <a:ext cx="3961555" cy="2736572"/>
            <a:chOff x="860475" y="1638825"/>
            <a:chExt cx="2297752" cy="1285500"/>
          </a:xfrm>
        </p:grpSpPr>
        <p:sp>
          <p:nvSpPr>
            <p:cNvPr id="156" name="Google Shape;156;p8"/>
            <p:cNvSpPr/>
            <p:nvPr/>
          </p:nvSpPr>
          <p:spPr>
            <a:xfrm>
              <a:off x="860475" y="1638825"/>
              <a:ext cx="2234700" cy="1285500"/>
            </a:xfrm>
            <a:prstGeom prst="roundRect">
              <a:avLst>
                <a:gd fmla="val 16667" name="adj"/>
              </a:avLst>
            </a:prstGeom>
            <a:solidFill>
              <a:srgbClr val="A61C00"/>
            </a:solidFill>
            <a:ln cap="flat" cmpd="sng" w="11075">
              <a:solidFill>
                <a:srgbClr val="FFD966"/>
              </a:solidFill>
              <a:prstDash val="solid"/>
              <a:round/>
              <a:headEnd len="sm" w="sm" type="none"/>
              <a:tailEnd len="sm" w="sm" type="none"/>
            </a:ln>
            <a:effectLst>
              <a:outerShdw blurRad="99744" rotWithShape="0" algn="bl" dir="3900000" dist="55414">
                <a:srgbClr val="000000">
                  <a:alpha val="21176"/>
                </a:srgbClr>
              </a:outerShdw>
            </a:effectLst>
          </p:spPr>
          <p:txBody>
            <a:bodyPr anchorCtr="0" anchor="t" bIns="106375" lIns="106375" spcFirstLastPara="1" rIns="106375" wrap="square" tIns="106375">
              <a:noAutofit/>
            </a:bodyPr>
            <a:lstStyle/>
            <a:p>
              <a:pPr indent="0" lvl="0" marL="0" marR="0" rtl="0" algn="l">
                <a:lnSpc>
                  <a:spcPct val="100000"/>
                </a:lnSpc>
                <a:spcBef>
                  <a:spcPts val="0"/>
                </a:spcBef>
                <a:spcAft>
                  <a:spcPts val="0"/>
                </a:spcAft>
                <a:buClr>
                  <a:srgbClr val="000000"/>
                </a:buClr>
                <a:buSzPts val="1629"/>
                <a:buFont typeface="Arial"/>
                <a:buNone/>
              </a:pPr>
              <a:r>
                <a:t/>
              </a:r>
              <a:endParaRPr b="1" i="0" sz="1629" u="none" cap="none" strike="noStrike">
                <a:solidFill>
                  <a:srgbClr val="000000"/>
                </a:solidFill>
                <a:latin typeface="Arial"/>
                <a:ea typeface="Arial"/>
                <a:cs typeface="Arial"/>
                <a:sym typeface="Arial"/>
              </a:endParaRPr>
            </a:p>
          </p:txBody>
        </p:sp>
        <p:sp>
          <p:nvSpPr>
            <p:cNvPr id="157" name="Google Shape;157;p8"/>
            <p:cNvSpPr txBox="1"/>
            <p:nvPr/>
          </p:nvSpPr>
          <p:spPr>
            <a:xfrm>
              <a:off x="986581" y="1739928"/>
              <a:ext cx="1855500" cy="201900"/>
            </a:xfrm>
            <a:prstGeom prst="rect">
              <a:avLst/>
            </a:prstGeom>
            <a:noFill/>
            <a:ln>
              <a:noFill/>
            </a:ln>
          </p:spPr>
          <p:txBody>
            <a:bodyPr anchorCtr="0" anchor="t" bIns="106375" lIns="106375" spcFirstLastPara="1" rIns="106375" wrap="square" tIns="106375">
              <a:spAutoFit/>
            </a:bodyPr>
            <a:lstStyle/>
            <a:p>
              <a:pPr indent="0" lvl="0" marL="0" marR="0" rtl="0" algn="l">
                <a:lnSpc>
                  <a:spcPct val="100000"/>
                </a:lnSpc>
                <a:spcBef>
                  <a:spcPts val="0"/>
                </a:spcBef>
                <a:spcAft>
                  <a:spcPts val="0"/>
                </a:spcAft>
                <a:buClr>
                  <a:srgbClr val="000000"/>
                </a:buClr>
                <a:buSzPts val="1396"/>
                <a:buFont typeface="Arial"/>
                <a:buNone/>
              </a:pPr>
              <a:r>
                <a:rPr b="1" i="0" lang="en" sz="1396" u="none" cap="none" strike="noStrike">
                  <a:solidFill>
                    <a:schemeClr val="lt1"/>
                  </a:solidFill>
                  <a:latin typeface="Arial"/>
                  <a:ea typeface="Arial"/>
                  <a:cs typeface="Arial"/>
                  <a:sym typeface="Arial"/>
                </a:rPr>
                <a:t>AUTOMATION TESTING</a:t>
              </a:r>
              <a:endParaRPr b="1" i="0" sz="1396" u="none" cap="none" strike="noStrike">
                <a:solidFill>
                  <a:schemeClr val="lt1"/>
                </a:solidFill>
                <a:latin typeface="Arial"/>
                <a:ea typeface="Arial"/>
                <a:cs typeface="Arial"/>
                <a:sym typeface="Arial"/>
              </a:endParaRPr>
            </a:p>
          </p:txBody>
        </p:sp>
        <p:sp>
          <p:nvSpPr>
            <p:cNvPr id="158" name="Google Shape;158;p8"/>
            <p:cNvSpPr txBox="1"/>
            <p:nvPr/>
          </p:nvSpPr>
          <p:spPr>
            <a:xfrm>
              <a:off x="923527" y="1941826"/>
              <a:ext cx="2234700" cy="708300"/>
            </a:xfrm>
            <a:prstGeom prst="rect">
              <a:avLst/>
            </a:prstGeom>
            <a:noFill/>
            <a:ln>
              <a:noFill/>
            </a:ln>
          </p:spPr>
          <p:txBody>
            <a:bodyPr anchorCtr="0" anchor="t" bIns="106375" lIns="106375" spcFirstLastPara="1" rIns="106375" wrap="square" tIns="106375">
              <a:spAutoFit/>
            </a:bodyPr>
            <a:lstStyle/>
            <a:p>
              <a:pPr indent="-304800" lvl="0" marL="457200" marR="0" rtl="0" algn="l">
                <a:lnSpc>
                  <a:spcPct val="150000"/>
                </a:lnSpc>
                <a:spcBef>
                  <a:spcPts val="0"/>
                </a:spcBef>
                <a:spcAft>
                  <a:spcPts val="0"/>
                </a:spcAft>
                <a:buClr>
                  <a:schemeClr val="lt1"/>
                </a:buClr>
                <a:buSzPts val="1200"/>
                <a:buFont typeface="Arial"/>
                <a:buChar char="❖"/>
              </a:pPr>
              <a:r>
                <a:rPr b="0" i="0" lang="en" sz="1200" u="none" cap="none" strike="noStrike">
                  <a:solidFill>
                    <a:schemeClr val="lt1"/>
                  </a:solidFill>
                  <a:latin typeface="Arial"/>
                  <a:ea typeface="Arial"/>
                  <a:cs typeface="Arial"/>
                  <a:sym typeface="Arial"/>
                </a:rPr>
                <a:t>Generate code in the existing framework</a:t>
              </a:r>
              <a:endParaRPr b="0" i="0" sz="1200" u="none" cap="none" strike="noStrike">
                <a:solidFill>
                  <a:schemeClr val="lt1"/>
                </a:solidFill>
                <a:latin typeface="Arial"/>
                <a:ea typeface="Arial"/>
                <a:cs typeface="Arial"/>
                <a:sym typeface="Arial"/>
              </a:endParaRPr>
            </a:p>
            <a:p>
              <a:pPr indent="-304800" lvl="0" marL="457200" marR="0" rtl="0" algn="l">
                <a:lnSpc>
                  <a:spcPct val="150000"/>
                </a:lnSpc>
                <a:spcBef>
                  <a:spcPts val="0"/>
                </a:spcBef>
                <a:spcAft>
                  <a:spcPts val="0"/>
                </a:spcAft>
                <a:buClr>
                  <a:schemeClr val="lt1"/>
                </a:buClr>
                <a:buSzPts val="1200"/>
                <a:buFont typeface="Arial"/>
                <a:buChar char="❖"/>
              </a:pPr>
              <a:r>
                <a:rPr b="0" i="0" lang="en" sz="1200" u="none" cap="none" strike="noStrike">
                  <a:solidFill>
                    <a:schemeClr val="lt1"/>
                  </a:solidFill>
                  <a:latin typeface="Arial"/>
                  <a:ea typeface="Arial"/>
                  <a:cs typeface="Arial"/>
                  <a:sym typeface="Arial"/>
                </a:rPr>
                <a:t>Reuse helpers / page objects</a:t>
              </a:r>
              <a:endParaRPr b="0" i="0" sz="1200" u="none" cap="none" strike="noStrike">
                <a:solidFill>
                  <a:schemeClr val="lt1"/>
                </a:solidFill>
                <a:latin typeface="Arial"/>
                <a:ea typeface="Arial"/>
                <a:cs typeface="Arial"/>
                <a:sym typeface="Arial"/>
              </a:endParaRPr>
            </a:p>
            <a:p>
              <a:pPr indent="-304800" lvl="0" marL="457200" marR="0" rtl="0" algn="l">
                <a:lnSpc>
                  <a:spcPct val="150000"/>
                </a:lnSpc>
                <a:spcBef>
                  <a:spcPts val="0"/>
                </a:spcBef>
                <a:spcAft>
                  <a:spcPts val="0"/>
                </a:spcAft>
                <a:buClr>
                  <a:schemeClr val="lt1"/>
                </a:buClr>
                <a:buSzPts val="1200"/>
                <a:buFont typeface="Arial"/>
                <a:buChar char="❖"/>
              </a:pPr>
              <a:r>
                <a:rPr b="0" i="0" lang="en" sz="1200" u="none" cap="none" strike="noStrike">
                  <a:solidFill>
                    <a:schemeClr val="lt1"/>
                  </a:solidFill>
                  <a:latin typeface="Arial"/>
                  <a:ea typeface="Arial"/>
                  <a:cs typeface="Arial"/>
                  <a:sym typeface="Arial"/>
                </a:rPr>
                <a:t>Follow team conventions</a:t>
              </a:r>
              <a:endParaRPr b="0" i="0" sz="1200" u="none" cap="none" strike="noStrike">
                <a:solidFill>
                  <a:schemeClr val="lt1"/>
                </a:solidFill>
                <a:latin typeface="Arial"/>
                <a:ea typeface="Arial"/>
                <a:cs typeface="Arial"/>
                <a:sym typeface="Arial"/>
              </a:endParaRPr>
            </a:p>
            <a:p>
              <a:pPr indent="-304800" lvl="0" marL="457200" marR="0" rtl="0" algn="l">
                <a:lnSpc>
                  <a:spcPct val="150000"/>
                </a:lnSpc>
                <a:spcBef>
                  <a:spcPts val="0"/>
                </a:spcBef>
                <a:spcAft>
                  <a:spcPts val="0"/>
                </a:spcAft>
                <a:buClr>
                  <a:schemeClr val="lt1"/>
                </a:buClr>
                <a:buSzPts val="1200"/>
                <a:buFont typeface="Arial"/>
                <a:buChar char="❖"/>
              </a:pPr>
              <a:r>
                <a:rPr b="0" i="0" lang="en" sz="1200" u="none" cap="none" strike="noStrike">
                  <a:solidFill>
                    <a:schemeClr val="lt1"/>
                  </a:solidFill>
                  <a:latin typeface="Arial"/>
                  <a:ea typeface="Arial"/>
                  <a:cs typeface="Arial"/>
                  <a:sym typeface="Arial"/>
                </a:rPr>
                <a:t>Review selectors and assertions</a:t>
              </a:r>
              <a:endParaRPr b="0" i="0" sz="1200" u="none" cap="none" strike="noStrike">
                <a:solidFill>
                  <a:schemeClr val="lt1"/>
                </a:solidFill>
                <a:latin typeface="Arial"/>
                <a:ea typeface="Arial"/>
                <a:cs typeface="Arial"/>
                <a:sym typeface="Arial"/>
              </a:endParaRPr>
            </a:p>
            <a:p>
              <a:pPr indent="-304800" lvl="0" marL="457200" marR="0" rtl="0" algn="l">
                <a:lnSpc>
                  <a:spcPct val="150000"/>
                </a:lnSpc>
                <a:spcBef>
                  <a:spcPts val="0"/>
                </a:spcBef>
                <a:spcAft>
                  <a:spcPts val="0"/>
                </a:spcAft>
                <a:buClr>
                  <a:schemeClr val="lt1"/>
                </a:buClr>
                <a:buSzPts val="1200"/>
                <a:buFont typeface="Arial"/>
                <a:buChar char="❖"/>
              </a:pPr>
              <a:r>
                <a:rPr b="0" i="0" lang="en" sz="1200" u="none" cap="none" strike="noStrike">
                  <a:solidFill>
                    <a:schemeClr val="lt1"/>
                  </a:solidFill>
                  <a:latin typeface="Arial"/>
                  <a:ea typeface="Arial"/>
                  <a:cs typeface="Arial"/>
                  <a:sym typeface="Arial"/>
                </a:rPr>
                <a:t>Execute and save evidence</a:t>
              </a:r>
              <a:endParaRPr b="0" i="0" sz="1200" u="none" cap="none" strike="noStrike">
                <a:solidFill>
                  <a:schemeClr val="lt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1000"/>
                                        <p:tgtEl>
                                          <p:spTgt spid="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1000"/>
                                        <p:tgtEl>
                                          <p:spTgt spid="1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162" name="Shape 162"/>
        <p:cNvGrpSpPr/>
        <p:nvPr/>
      </p:nvGrpSpPr>
      <p:grpSpPr>
        <a:xfrm>
          <a:off x="0" y="0"/>
          <a:ext cx="0" cy="0"/>
          <a:chOff x="0" y="0"/>
          <a:chExt cx="0" cy="0"/>
        </a:xfrm>
      </p:grpSpPr>
      <p:pic>
        <p:nvPicPr>
          <p:cNvPr id="163" name="Google Shape;163;p9"/>
          <p:cNvPicPr preferRelativeResize="0"/>
          <p:nvPr/>
        </p:nvPicPr>
        <p:blipFill rotWithShape="1">
          <a:blip r:embed="rId3">
            <a:alphaModFix amt="5000"/>
          </a:blip>
          <a:srcRect b="0" l="0" r="0" t="0"/>
          <a:stretch/>
        </p:blipFill>
        <p:spPr>
          <a:xfrm>
            <a:off x="3592905" y="-647761"/>
            <a:ext cx="5662948" cy="6097674"/>
          </a:xfrm>
          <a:prstGeom prst="rect">
            <a:avLst/>
          </a:prstGeom>
          <a:noFill/>
          <a:ln>
            <a:noFill/>
          </a:ln>
        </p:spPr>
      </p:pic>
      <p:pic>
        <p:nvPicPr>
          <p:cNvPr id="164" name="Google Shape;164;p9"/>
          <p:cNvPicPr preferRelativeResize="0"/>
          <p:nvPr/>
        </p:nvPicPr>
        <p:blipFill rotWithShape="1">
          <a:blip r:embed="rId4">
            <a:alphaModFix/>
          </a:blip>
          <a:srcRect b="0" l="0" r="0" t="0"/>
          <a:stretch/>
        </p:blipFill>
        <p:spPr>
          <a:xfrm>
            <a:off x="147800" y="4833018"/>
            <a:ext cx="781539" cy="182880"/>
          </a:xfrm>
          <a:prstGeom prst="rect">
            <a:avLst/>
          </a:prstGeom>
          <a:noFill/>
          <a:ln>
            <a:noFill/>
          </a:ln>
        </p:spPr>
      </p:pic>
      <p:sp>
        <p:nvSpPr>
          <p:cNvPr id="165" name="Google Shape;165;p9"/>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166" name="Google Shape;166;p9"/>
          <p:cNvPicPr preferRelativeResize="0"/>
          <p:nvPr/>
        </p:nvPicPr>
        <p:blipFill rotWithShape="1">
          <a:blip r:embed="rId6">
            <a:alphaModFix/>
          </a:blip>
          <a:srcRect b="0" l="0" r="0" t="0"/>
          <a:stretch/>
        </p:blipFill>
        <p:spPr>
          <a:xfrm>
            <a:off x="8274176" y="74417"/>
            <a:ext cx="781550" cy="781550"/>
          </a:xfrm>
          <a:prstGeom prst="rect">
            <a:avLst/>
          </a:prstGeom>
          <a:noFill/>
          <a:ln>
            <a:noFill/>
          </a:ln>
        </p:spPr>
      </p:pic>
      <p:sp>
        <p:nvSpPr>
          <p:cNvPr id="167" name="Google Shape;167;p9"/>
          <p:cNvSpPr txBox="1"/>
          <p:nvPr/>
        </p:nvSpPr>
        <p:spPr>
          <a:xfrm>
            <a:off x="731527" y="461950"/>
            <a:ext cx="72378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0" i="0" lang="en" sz="2300" u="none" cap="none" strike="noStrike">
                <a:solidFill>
                  <a:schemeClr val="lt1"/>
                </a:solidFill>
                <a:latin typeface="Poppins SemiBold"/>
                <a:ea typeface="Poppins SemiBold"/>
                <a:cs typeface="Poppins SemiBold"/>
                <a:sym typeface="Poppins SemiBold"/>
              </a:rPr>
              <a:t>Activity 2 — Deliverable &amp; Tooling</a:t>
            </a:r>
            <a:endParaRPr b="0" i="0" sz="2300" u="none" cap="none" strike="noStrike">
              <a:solidFill>
                <a:schemeClr val="lt1"/>
              </a:solidFill>
              <a:latin typeface="Poppins SemiBold"/>
              <a:ea typeface="Poppins SemiBold"/>
              <a:cs typeface="Poppins SemiBold"/>
              <a:sym typeface="Poppins SemiBold"/>
            </a:endParaRPr>
          </a:p>
        </p:txBody>
      </p:sp>
      <p:sp>
        <p:nvSpPr>
          <p:cNvPr id="168" name="Google Shape;168;p9"/>
          <p:cNvSpPr txBox="1"/>
          <p:nvPr/>
        </p:nvSpPr>
        <p:spPr>
          <a:xfrm>
            <a:off x="731800" y="1014300"/>
            <a:ext cx="7128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30000"/>
              </a:lnSpc>
              <a:spcBef>
                <a:spcPts val="0"/>
              </a:spcBef>
              <a:spcAft>
                <a:spcPts val="0"/>
              </a:spcAft>
              <a:buClr>
                <a:srgbClr val="000000"/>
              </a:buClr>
              <a:buSzPts val="1400"/>
              <a:buFont typeface="Arial"/>
              <a:buNone/>
            </a:pPr>
            <a:r>
              <a:rPr b="0" i="0" lang="en" sz="1400" u="none" cap="none" strike="noStrike">
                <a:solidFill>
                  <a:schemeClr val="lt1"/>
                </a:solidFill>
                <a:latin typeface="Poppins"/>
                <a:ea typeface="Poppins"/>
                <a:cs typeface="Poppins"/>
                <a:sym typeface="Poppins"/>
              </a:rPr>
              <a:t>Jira → framework → run → investigate</a:t>
            </a:r>
            <a:endParaRPr b="0" i="0" sz="1400" u="none" cap="none" strike="noStrike">
              <a:solidFill>
                <a:schemeClr val="lt1"/>
              </a:solidFill>
              <a:latin typeface="Poppins"/>
              <a:ea typeface="Poppins"/>
              <a:cs typeface="Poppins"/>
              <a:sym typeface="Poppins"/>
            </a:endParaRPr>
          </a:p>
        </p:txBody>
      </p:sp>
      <p:sp>
        <p:nvSpPr>
          <p:cNvPr id="169" name="Google Shape;169;p9"/>
          <p:cNvSpPr/>
          <p:nvPr/>
        </p:nvSpPr>
        <p:spPr>
          <a:xfrm>
            <a:off x="929350" y="1634325"/>
            <a:ext cx="7037100" cy="2740800"/>
          </a:xfrm>
          <a:prstGeom prst="roundRect">
            <a:avLst>
              <a:gd fmla="val 16667" name="adj"/>
            </a:avLst>
          </a:prstGeom>
          <a:solidFill>
            <a:srgbClr val="A64D79"/>
          </a:solidFill>
          <a:ln cap="flat" cmpd="sng" w="11075">
            <a:solidFill>
              <a:srgbClr val="FFD966"/>
            </a:solidFill>
            <a:prstDash val="solid"/>
            <a:round/>
            <a:headEnd len="sm" w="sm" type="none"/>
            <a:tailEnd len="sm" w="sm" type="none"/>
          </a:ln>
          <a:effectLst>
            <a:outerShdw blurRad="99744" rotWithShape="0" algn="bl" dir="3900000" dist="55414">
              <a:srgbClr val="000000">
                <a:alpha val="21176"/>
              </a:srgbClr>
            </a:outerShdw>
          </a:effectLst>
        </p:spPr>
        <p:txBody>
          <a:bodyPr anchorCtr="0" anchor="ctr" bIns="106375" lIns="106375" spcFirstLastPara="1" rIns="106375" wrap="square" tIns="106375">
            <a:noAutofit/>
          </a:bodyPr>
          <a:lstStyle/>
          <a:p>
            <a:pPr indent="-317500" lvl="0" marL="457200" marR="0" rtl="0" algn="l">
              <a:lnSpc>
                <a:spcPct val="115000"/>
              </a:lnSpc>
              <a:spcBef>
                <a:spcPts val="0"/>
              </a:spcBef>
              <a:spcAft>
                <a:spcPts val="0"/>
              </a:spcAft>
              <a:buClr>
                <a:schemeClr val="lt1"/>
              </a:buClr>
              <a:buSzPts val="1400"/>
              <a:buFont typeface="Arial"/>
              <a:buAutoNum type="arabicPeriod"/>
            </a:pPr>
            <a:r>
              <a:rPr b="0" i="0" lang="en" sz="1400" u="none" cap="none" strike="noStrike">
                <a:solidFill>
                  <a:schemeClr val="lt1"/>
                </a:solidFill>
                <a:latin typeface="Arial"/>
                <a:ea typeface="Arial"/>
                <a:cs typeface="Arial"/>
                <a:sym typeface="Arial"/>
              </a:rPr>
              <a:t>Requirement → test-step mapping</a:t>
            </a:r>
            <a:endParaRPr b="0" i="0" sz="1400" u="none" cap="none" strike="noStrike">
              <a:solidFill>
                <a:schemeClr val="lt1"/>
              </a:solidFill>
              <a:latin typeface="Arial"/>
              <a:ea typeface="Arial"/>
              <a:cs typeface="Arial"/>
              <a:sym typeface="Arial"/>
            </a:endParaRPr>
          </a:p>
          <a:p>
            <a:pPr indent="-317500" lvl="0" marL="457200" marR="0" rtl="0" algn="l">
              <a:lnSpc>
                <a:spcPct val="115000"/>
              </a:lnSpc>
              <a:spcBef>
                <a:spcPts val="0"/>
              </a:spcBef>
              <a:spcAft>
                <a:spcPts val="0"/>
              </a:spcAft>
              <a:buClr>
                <a:schemeClr val="lt1"/>
              </a:buClr>
              <a:buSzPts val="1400"/>
              <a:buFont typeface="Arial"/>
              <a:buAutoNum type="arabicPeriod"/>
            </a:pPr>
            <a:r>
              <a:rPr b="0" i="0" lang="en" sz="1400" u="none" cap="none" strike="noStrike">
                <a:solidFill>
                  <a:schemeClr val="lt1"/>
                </a:solidFill>
                <a:latin typeface="Arial"/>
                <a:ea typeface="Arial"/>
                <a:cs typeface="Arial"/>
                <a:sym typeface="Arial"/>
              </a:rPr>
              <a:t>Real assertions, not placeholders</a:t>
            </a:r>
            <a:endParaRPr b="0" i="0" sz="1400" u="none" cap="none" strike="noStrike">
              <a:solidFill>
                <a:schemeClr val="lt1"/>
              </a:solidFill>
              <a:latin typeface="Arial"/>
              <a:ea typeface="Arial"/>
              <a:cs typeface="Arial"/>
              <a:sym typeface="Arial"/>
            </a:endParaRPr>
          </a:p>
          <a:p>
            <a:pPr indent="-317500" lvl="0" marL="457200" marR="0" rtl="0" algn="l">
              <a:lnSpc>
                <a:spcPct val="115000"/>
              </a:lnSpc>
              <a:spcBef>
                <a:spcPts val="0"/>
              </a:spcBef>
              <a:spcAft>
                <a:spcPts val="0"/>
              </a:spcAft>
              <a:buClr>
                <a:schemeClr val="lt1"/>
              </a:buClr>
              <a:buSzPts val="1400"/>
              <a:buFont typeface="Arial"/>
              <a:buAutoNum type="arabicPeriod"/>
            </a:pPr>
            <a:r>
              <a:rPr b="0" i="0" lang="en" sz="1400" u="none" cap="none" strike="noStrike">
                <a:solidFill>
                  <a:schemeClr val="lt1"/>
                </a:solidFill>
                <a:latin typeface="Arial"/>
                <a:ea typeface="Arial"/>
                <a:cs typeface="Arial"/>
                <a:sym typeface="Arial"/>
              </a:rPr>
              <a:t>Execution evidence: pass/fail, screenshot, video, or run log</a:t>
            </a:r>
            <a:endParaRPr b="0" i="0" sz="1400" u="none" cap="none" strike="noStrike">
              <a:solidFill>
                <a:schemeClr val="lt1"/>
              </a:solidFill>
              <a:latin typeface="Arial"/>
              <a:ea typeface="Arial"/>
              <a:cs typeface="Arial"/>
              <a:sym typeface="Arial"/>
            </a:endParaRPr>
          </a:p>
          <a:p>
            <a:pPr indent="-317500" lvl="0" marL="457200" marR="0" rtl="0" algn="l">
              <a:lnSpc>
                <a:spcPct val="115000"/>
              </a:lnSpc>
              <a:spcBef>
                <a:spcPts val="0"/>
              </a:spcBef>
              <a:spcAft>
                <a:spcPts val="0"/>
              </a:spcAft>
              <a:buClr>
                <a:schemeClr val="lt1"/>
              </a:buClr>
              <a:buSzPts val="1400"/>
              <a:buFont typeface="Arial"/>
              <a:buAutoNum type="arabicPeriod"/>
            </a:pPr>
            <a:r>
              <a:rPr b="0" i="0" lang="en" sz="1400" u="none" cap="none" strike="noStrike">
                <a:solidFill>
                  <a:schemeClr val="lt1"/>
                </a:solidFill>
                <a:latin typeface="Arial"/>
                <a:ea typeface="Arial"/>
                <a:cs typeface="Arial"/>
                <a:sym typeface="Arial"/>
              </a:rPr>
              <a:t>One-line note on what was fixed/rejected from AI</a:t>
            </a:r>
            <a:endParaRPr b="0" i="0" sz="1400" u="none" cap="none" strike="noStrike">
              <a:solidFill>
                <a:schemeClr val="lt1"/>
              </a:solidFill>
              <a:latin typeface="Arial"/>
              <a:ea typeface="Arial"/>
              <a:cs typeface="Arial"/>
              <a:sym typeface="Arial"/>
            </a:endParaRPr>
          </a:p>
          <a:p>
            <a:pPr indent="-317500" lvl="0" marL="457200" marR="0" rtl="0" algn="l">
              <a:lnSpc>
                <a:spcPct val="115000"/>
              </a:lnSpc>
              <a:spcBef>
                <a:spcPts val="0"/>
              </a:spcBef>
              <a:spcAft>
                <a:spcPts val="0"/>
              </a:spcAft>
              <a:buClr>
                <a:schemeClr val="lt1"/>
              </a:buClr>
              <a:buSzPts val="1400"/>
              <a:buFont typeface="Arial"/>
              <a:buAutoNum type="arabicPeriod"/>
            </a:pPr>
            <a:r>
              <a:rPr b="0" i="0" lang="en" sz="1400" u="none" cap="none" strike="noStrike">
                <a:solidFill>
                  <a:schemeClr val="lt1"/>
                </a:solidFill>
                <a:latin typeface="Arial"/>
                <a:ea typeface="Arial"/>
                <a:cs typeface="Arial"/>
                <a:sym typeface="Arial"/>
              </a:rPr>
              <a:t>Framework conventions followed</a:t>
            </a:r>
            <a:endParaRPr b="0" i="0" sz="1400" u="none" cap="none" strike="noStrike">
              <a:solidFill>
                <a:schemeClr val="lt1"/>
              </a:solidFill>
              <a:latin typeface="Arial"/>
              <a:ea typeface="Arial"/>
              <a:cs typeface="Arial"/>
              <a:sym typeface="Arial"/>
            </a:endParaRPr>
          </a:p>
          <a:p>
            <a:pPr indent="-317500" lvl="0" marL="457200" marR="0" rtl="0" algn="l">
              <a:lnSpc>
                <a:spcPct val="115000"/>
              </a:lnSpc>
              <a:spcBef>
                <a:spcPts val="0"/>
              </a:spcBef>
              <a:spcAft>
                <a:spcPts val="0"/>
              </a:spcAft>
              <a:buClr>
                <a:schemeClr val="lt1"/>
              </a:buClr>
              <a:buSzPts val="1400"/>
              <a:buFont typeface="Arial"/>
              <a:buAutoNum type="arabicPeriod"/>
            </a:pPr>
            <a:r>
              <a:rPr b="0" i="0" lang="en" sz="1400" u="none" cap="none" strike="noStrike">
                <a:solidFill>
                  <a:schemeClr val="lt1"/>
                </a:solidFill>
                <a:latin typeface="Arial"/>
                <a:ea typeface="Arial"/>
                <a:cs typeface="Arial"/>
                <a:sym typeface="Arial"/>
              </a:rPr>
              <a:t>Deliverable: executed AI-generated test + short Jira → framework → run → investigate write-up</a:t>
            </a:r>
            <a:endParaRPr b="0" i="0" sz="1400" u="none" cap="none" strike="noStrike">
              <a:solidFill>
                <a:schemeClr val="lt1"/>
              </a:solidFill>
              <a:latin typeface="Arial"/>
              <a:ea typeface="Arial"/>
              <a:cs typeface="Arial"/>
              <a:sym typeface="Arial"/>
            </a:endParaRPr>
          </a:p>
          <a:p>
            <a:pPr indent="-317500" lvl="0" marL="457200" marR="0" rtl="0" algn="l">
              <a:lnSpc>
                <a:spcPct val="115000"/>
              </a:lnSpc>
              <a:spcBef>
                <a:spcPts val="0"/>
              </a:spcBef>
              <a:spcAft>
                <a:spcPts val="0"/>
              </a:spcAft>
              <a:buClr>
                <a:schemeClr val="lt1"/>
              </a:buClr>
              <a:buSzPts val="1400"/>
              <a:buFont typeface="Arial"/>
              <a:buAutoNum type="arabicPeriod"/>
            </a:pPr>
            <a:r>
              <a:rPr b="0" i="0" lang="en" sz="1400" u="none" cap="none" strike="noStrike">
                <a:solidFill>
                  <a:schemeClr val="lt1"/>
                </a:solidFill>
                <a:latin typeface="Arial"/>
                <a:ea typeface="Arial"/>
                <a:cs typeface="Arial"/>
                <a:sym typeface="Arial"/>
              </a:rPr>
              <a:t>Tooling fallback: MD file containing ticket, prompt, output, iterations, validation, final artifact</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173" name="Shape 173"/>
        <p:cNvGrpSpPr/>
        <p:nvPr/>
      </p:nvGrpSpPr>
      <p:grpSpPr>
        <a:xfrm>
          <a:off x="0" y="0"/>
          <a:ext cx="0" cy="0"/>
          <a:chOff x="0" y="0"/>
          <a:chExt cx="0" cy="0"/>
        </a:xfrm>
      </p:grpSpPr>
      <p:pic>
        <p:nvPicPr>
          <p:cNvPr id="174" name="Google Shape;174;p10"/>
          <p:cNvPicPr preferRelativeResize="0"/>
          <p:nvPr/>
        </p:nvPicPr>
        <p:blipFill rotWithShape="1">
          <a:blip r:embed="rId3">
            <a:alphaModFix amt="5000"/>
          </a:blip>
          <a:srcRect b="0" l="0" r="0" t="0"/>
          <a:stretch/>
        </p:blipFill>
        <p:spPr>
          <a:xfrm>
            <a:off x="3592905" y="-647761"/>
            <a:ext cx="5662948" cy="6097674"/>
          </a:xfrm>
          <a:prstGeom prst="rect">
            <a:avLst/>
          </a:prstGeom>
          <a:noFill/>
          <a:ln>
            <a:noFill/>
          </a:ln>
        </p:spPr>
      </p:pic>
      <p:pic>
        <p:nvPicPr>
          <p:cNvPr id="175" name="Google Shape;175;p10"/>
          <p:cNvPicPr preferRelativeResize="0"/>
          <p:nvPr/>
        </p:nvPicPr>
        <p:blipFill rotWithShape="1">
          <a:blip r:embed="rId4">
            <a:alphaModFix/>
          </a:blip>
          <a:srcRect b="0" l="0" r="0" t="0"/>
          <a:stretch/>
        </p:blipFill>
        <p:spPr>
          <a:xfrm>
            <a:off x="147800" y="4833018"/>
            <a:ext cx="781539" cy="182880"/>
          </a:xfrm>
          <a:prstGeom prst="rect">
            <a:avLst/>
          </a:prstGeom>
          <a:noFill/>
          <a:ln>
            <a:noFill/>
          </a:ln>
        </p:spPr>
      </p:pic>
      <p:sp>
        <p:nvSpPr>
          <p:cNvPr id="176" name="Google Shape;176;p10"/>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177" name="Google Shape;177;p10"/>
          <p:cNvPicPr preferRelativeResize="0"/>
          <p:nvPr/>
        </p:nvPicPr>
        <p:blipFill rotWithShape="1">
          <a:blip r:embed="rId6">
            <a:alphaModFix/>
          </a:blip>
          <a:srcRect b="0" l="0" r="0" t="0"/>
          <a:stretch/>
        </p:blipFill>
        <p:spPr>
          <a:xfrm>
            <a:off x="8274176" y="74417"/>
            <a:ext cx="781550" cy="781550"/>
          </a:xfrm>
          <a:prstGeom prst="rect">
            <a:avLst/>
          </a:prstGeom>
          <a:noFill/>
          <a:ln>
            <a:noFill/>
          </a:ln>
        </p:spPr>
      </p:pic>
      <p:sp>
        <p:nvSpPr>
          <p:cNvPr id="178" name="Google Shape;178;p10"/>
          <p:cNvSpPr txBox="1"/>
          <p:nvPr/>
        </p:nvSpPr>
        <p:spPr>
          <a:xfrm>
            <a:off x="731525" y="461950"/>
            <a:ext cx="78021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lt1"/>
                </a:solidFill>
                <a:latin typeface="Poppins SemiBold"/>
                <a:ea typeface="Poppins SemiBold"/>
                <a:cs typeface="Poppins SemiBold"/>
                <a:sym typeface="Poppins SemiBold"/>
              </a:rPr>
              <a:t>Activity 3 — Regression Prioritization + Coverage Gaps</a:t>
            </a:r>
            <a:endParaRPr b="0" i="0" sz="2000" u="none" cap="none" strike="noStrike">
              <a:solidFill>
                <a:schemeClr val="lt1"/>
              </a:solidFill>
              <a:latin typeface="Poppins SemiBold"/>
              <a:ea typeface="Poppins SemiBold"/>
              <a:cs typeface="Poppins SemiBold"/>
              <a:sym typeface="Poppins SemiBold"/>
            </a:endParaRPr>
          </a:p>
        </p:txBody>
      </p:sp>
      <p:sp>
        <p:nvSpPr>
          <p:cNvPr id="179" name="Google Shape;179;p10"/>
          <p:cNvSpPr txBox="1"/>
          <p:nvPr/>
        </p:nvSpPr>
        <p:spPr>
          <a:xfrm>
            <a:off x="731799" y="1014300"/>
            <a:ext cx="6047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30000"/>
              </a:lnSpc>
              <a:spcBef>
                <a:spcPts val="0"/>
              </a:spcBef>
              <a:spcAft>
                <a:spcPts val="0"/>
              </a:spcAft>
              <a:buClr>
                <a:srgbClr val="000000"/>
              </a:buClr>
              <a:buSzPts val="1400"/>
              <a:buFont typeface="Arial"/>
              <a:buNone/>
            </a:pPr>
            <a:r>
              <a:rPr b="0" i="0" lang="en" sz="1400" u="none" cap="none" strike="noStrike">
                <a:solidFill>
                  <a:schemeClr val="lt1"/>
                </a:solidFill>
                <a:latin typeface="Poppins"/>
                <a:ea typeface="Poppins"/>
                <a:cs typeface="Poppins"/>
                <a:sym typeface="Poppins"/>
              </a:rPr>
              <a:t>Use AI against a real PR and real requirements</a:t>
            </a:r>
            <a:endParaRPr b="0" i="0" sz="1400" u="none" cap="none" strike="noStrike">
              <a:solidFill>
                <a:schemeClr val="lt1"/>
              </a:solidFill>
              <a:latin typeface="Poppins"/>
              <a:ea typeface="Poppins"/>
              <a:cs typeface="Poppins"/>
              <a:sym typeface="Poppins"/>
            </a:endParaRPr>
          </a:p>
        </p:txBody>
      </p:sp>
      <p:sp>
        <p:nvSpPr>
          <p:cNvPr id="180" name="Google Shape;180;p10"/>
          <p:cNvSpPr/>
          <p:nvPr/>
        </p:nvSpPr>
        <p:spPr>
          <a:xfrm>
            <a:off x="795603" y="1648100"/>
            <a:ext cx="7237800" cy="2736600"/>
          </a:xfrm>
          <a:prstGeom prst="roundRect">
            <a:avLst>
              <a:gd fmla="val 16667" name="adj"/>
            </a:avLst>
          </a:prstGeom>
          <a:solidFill>
            <a:srgbClr val="A64D79"/>
          </a:solidFill>
          <a:ln cap="flat" cmpd="sng" w="11075">
            <a:solidFill>
              <a:srgbClr val="FFD966"/>
            </a:solidFill>
            <a:prstDash val="solid"/>
            <a:round/>
            <a:headEnd len="sm" w="sm" type="none"/>
            <a:tailEnd len="sm" w="sm" type="none"/>
          </a:ln>
          <a:effectLst>
            <a:outerShdw blurRad="99744" rotWithShape="0" algn="bl" dir="3900000" dist="55414">
              <a:srgbClr val="000000">
                <a:alpha val="21176"/>
              </a:srgbClr>
            </a:outerShdw>
          </a:effectLst>
        </p:spPr>
        <p:txBody>
          <a:bodyPr anchorCtr="0" anchor="ctr" bIns="106375" lIns="106375" spcFirstLastPara="1" rIns="106375" wrap="square" tIns="106375">
            <a:noAutofit/>
          </a:bodyPr>
          <a:lstStyle/>
          <a:p>
            <a:pPr indent="-332039" lvl="0" marL="457200" marR="0" rtl="0" algn="l">
              <a:lnSpc>
                <a:spcPct val="100000"/>
              </a:lnSpc>
              <a:spcBef>
                <a:spcPts val="0"/>
              </a:spcBef>
              <a:spcAft>
                <a:spcPts val="0"/>
              </a:spcAft>
              <a:buClr>
                <a:schemeClr val="lt1"/>
              </a:buClr>
              <a:buSzPts val="1629"/>
              <a:buFont typeface="Arial"/>
              <a:buAutoNum type="arabicPeriod"/>
            </a:pPr>
            <a:r>
              <a:rPr b="0" i="0" lang="en" sz="1629" u="none" cap="none" strike="noStrike">
                <a:solidFill>
                  <a:schemeClr val="lt1"/>
                </a:solidFill>
                <a:latin typeface="Arial"/>
                <a:ea typeface="Arial"/>
                <a:cs typeface="Arial"/>
                <a:sym typeface="Arial"/>
              </a:rPr>
              <a:t>Real PR changed files + regression suite</a:t>
            </a:r>
            <a:endParaRPr b="0" i="0" sz="1629" u="none" cap="none" strike="noStrike">
              <a:solidFill>
                <a:schemeClr val="lt1"/>
              </a:solidFill>
              <a:latin typeface="Arial"/>
              <a:ea typeface="Arial"/>
              <a:cs typeface="Arial"/>
              <a:sym typeface="Arial"/>
            </a:endParaRPr>
          </a:p>
          <a:p>
            <a:pPr indent="-332039" lvl="0" marL="457200" marR="0" rtl="0" algn="l">
              <a:lnSpc>
                <a:spcPct val="100000"/>
              </a:lnSpc>
              <a:spcBef>
                <a:spcPts val="0"/>
              </a:spcBef>
              <a:spcAft>
                <a:spcPts val="0"/>
              </a:spcAft>
              <a:buClr>
                <a:schemeClr val="lt1"/>
              </a:buClr>
              <a:buSzPts val="1629"/>
              <a:buFont typeface="Arial"/>
              <a:buAutoNum type="arabicPeriod"/>
            </a:pPr>
            <a:r>
              <a:rPr b="0" i="0" lang="en" sz="1629" u="none" cap="none" strike="noStrike">
                <a:solidFill>
                  <a:schemeClr val="lt1"/>
                </a:solidFill>
                <a:latin typeface="Arial"/>
                <a:ea typeface="Arial"/>
                <a:cs typeface="Arial"/>
                <a:sym typeface="Arial"/>
              </a:rPr>
              <a:t>AI prioritizes regression tests</a:t>
            </a:r>
            <a:endParaRPr b="0" i="0" sz="1629" u="none" cap="none" strike="noStrike">
              <a:solidFill>
                <a:schemeClr val="lt1"/>
              </a:solidFill>
              <a:latin typeface="Arial"/>
              <a:ea typeface="Arial"/>
              <a:cs typeface="Arial"/>
              <a:sym typeface="Arial"/>
            </a:endParaRPr>
          </a:p>
          <a:p>
            <a:pPr indent="-332039" lvl="0" marL="457200" marR="0" rtl="0" algn="l">
              <a:lnSpc>
                <a:spcPct val="100000"/>
              </a:lnSpc>
              <a:spcBef>
                <a:spcPts val="0"/>
              </a:spcBef>
              <a:spcAft>
                <a:spcPts val="0"/>
              </a:spcAft>
              <a:buClr>
                <a:schemeClr val="lt1"/>
              </a:buClr>
              <a:buSzPts val="1629"/>
              <a:buFont typeface="Arial"/>
              <a:buAutoNum type="arabicPeriod"/>
            </a:pPr>
            <a:r>
              <a:rPr b="0" i="0" lang="en" sz="1629" u="none" cap="none" strike="noStrike">
                <a:solidFill>
                  <a:schemeClr val="lt1"/>
                </a:solidFill>
                <a:latin typeface="Arial"/>
                <a:ea typeface="Arial"/>
                <a:cs typeface="Arial"/>
                <a:sym typeface="Arial"/>
              </a:rPr>
              <a:t>AI maps requirements to current coverage</a:t>
            </a:r>
            <a:endParaRPr b="0" i="0" sz="1629" u="none" cap="none" strike="noStrike">
              <a:solidFill>
                <a:schemeClr val="lt1"/>
              </a:solidFill>
              <a:latin typeface="Arial"/>
              <a:ea typeface="Arial"/>
              <a:cs typeface="Arial"/>
              <a:sym typeface="Arial"/>
            </a:endParaRPr>
          </a:p>
          <a:p>
            <a:pPr indent="-332039" lvl="0" marL="457200" marR="0" rtl="0" algn="l">
              <a:lnSpc>
                <a:spcPct val="100000"/>
              </a:lnSpc>
              <a:spcBef>
                <a:spcPts val="0"/>
              </a:spcBef>
              <a:spcAft>
                <a:spcPts val="0"/>
              </a:spcAft>
              <a:buClr>
                <a:schemeClr val="lt1"/>
              </a:buClr>
              <a:buSzPts val="1629"/>
              <a:buFont typeface="Arial"/>
              <a:buAutoNum type="arabicPeriod"/>
            </a:pPr>
            <a:r>
              <a:rPr b="0" i="0" lang="en" sz="1629" u="none" cap="none" strike="noStrike">
                <a:solidFill>
                  <a:schemeClr val="lt1"/>
                </a:solidFill>
                <a:latin typeface="Arial"/>
                <a:ea typeface="Arial"/>
                <a:cs typeface="Arial"/>
                <a:sym typeface="Arial"/>
              </a:rPr>
              <a:t>Validate against PR diff and requirements</a:t>
            </a:r>
            <a:endParaRPr b="0" i="0" sz="1629" u="none" cap="none" strike="noStrike">
              <a:solidFill>
                <a:schemeClr val="lt1"/>
              </a:solidFill>
              <a:latin typeface="Arial"/>
              <a:ea typeface="Arial"/>
              <a:cs typeface="Arial"/>
              <a:sym typeface="Arial"/>
            </a:endParaRPr>
          </a:p>
          <a:p>
            <a:pPr indent="-332039" lvl="0" marL="457200" marR="0" rtl="0" algn="l">
              <a:lnSpc>
                <a:spcPct val="100000"/>
              </a:lnSpc>
              <a:spcBef>
                <a:spcPts val="0"/>
              </a:spcBef>
              <a:spcAft>
                <a:spcPts val="0"/>
              </a:spcAft>
              <a:buClr>
                <a:schemeClr val="lt1"/>
              </a:buClr>
              <a:buSzPts val="1629"/>
              <a:buFont typeface="Arial"/>
              <a:buAutoNum type="arabicPeriod"/>
            </a:pPr>
            <a:r>
              <a:rPr b="0" i="0" lang="en" sz="1629" u="none" cap="none" strike="noStrike">
                <a:solidFill>
                  <a:schemeClr val="lt1"/>
                </a:solidFill>
                <a:latin typeface="Arial"/>
                <a:ea typeface="Arial"/>
                <a:cs typeface="Arial"/>
                <a:sym typeface="Arial"/>
              </a:rPr>
              <a:t>flaky-test analysis / exploratory charters</a:t>
            </a:r>
            <a:endParaRPr b="0" i="0" sz="1629" u="none" cap="none" strike="noStrike">
              <a:solidFill>
                <a:schemeClr val="lt1"/>
              </a:solidFill>
              <a:latin typeface="Arial"/>
              <a:ea typeface="Arial"/>
              <a:cs typeface="Arial"/>
              <a:sym typeface="Arial"/>
            </a:endParaRPr>
          </a:p>
          <a:p>
            <a:pPr indent="-332039" lvl="0" marL="457200" marR="0" rtl="0" algn="l">
              <a:lnSpc>
                <a:spcPct val="100000"/>
              </a:lnSpc>
              <a:spcBef>
                <a:spcPts val="0"/>
              </a:spcBef>
              <a:spcAft>
                <a:spcPts val="0"/>
              </a:spcAft>
              <a:buClr>
                <a:schemeClr val="lt1"/>
              </a:buClr>
              <a:buSzPts val="1629"/>
              <a:buFont typeface="Arial"/>
              <a:buAutoNum type="arabicPeriod"/>
            </a:pPr>
            <a:r>
              <a:rPr b="0" i="0" lang="en" sz="1629" u="none" cap="none" strike="noStrike">
                <a:solidFill>
                  <a:schemeClr val="lt1"/>
                </a:solidFill>
                <a:latin typeface="Arial"/>
                <a:ea typeface="Arial"/>
                <a:cs typeface="Arial"/>
                <a:sym typeface="Arial"/>
              </a:rPr>
              <a:t>Deliverable: one regression prioritization + coverage-gap report</a:t>
            </a:r>
            <a:endParaRPr b="0" i="0" sz="1629" u="none" cap="none" strike="noStrike">
              <a:solidFill>
                <a:schemeClr val="lt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184" name="Shape 184"/>
        <p:cNvGrpSpPr/>
        <p:nvPr/>
      </p:nvGrpSpPr>
      <p:grpSpPr>
        <a:xfrm>
          <a:off x="0" y="0"/>
          <a:ext cx="0" cy="0"/>
          <a:chOff x="0" y="0"/>
          <a:chExt cx="0" cy="0"/>
        </a:xfrm>
      </p:grpSpPr>
      <p:pic>
        <p:nvPicPr>
          <p:cNvPr id="185" name="Google Shape;185;p11"/>
          <p:cNvPicPr preferRelativeResize="0"/>
          <p:nvPr/>
        </p:nvPicPr>
        <p:blipFill rotWithShape="1">
          <a:blip r:embed="rId3">
            <a:alphaModFix amt="5000"/>
          </a:blip>
          <a:srcRect b="0" l="0" r="0" t="0"/>
          <a:stretch/>
        </p:blipFill>
        <p:spPr>
          <a:xfrm>
            <a:off x="3592905" y="-647761"/>
            <a:ext cx="5662948" cy="6097674"/>
          </a:xfrm>
          <a:prstGeom prst="rect">
            <a:avLst/>
          </a:prstGeom>
          <a:noFill/>
          <a:ln>
            <a:noFill/>
          </a:ln>
        </p:spPr>
      </p:pic>
      <p:pic>
        <p:nvPicPr>
          <p:cNvPr id="186" name="Google Shape;186;p11"/>
          <p:cNvPicPr preferRelativeResize="0"/>
          <p:nvPr/>
        </p:nvPicPr>
        <p:blipFill rotWithShape="1">
          <a:blip r:embed="rId4">
            <a:alphaModFix/>
          </a:blip>
          <a:srcRect b="0" l="0" r="0" t="0"/>
          <a:stretch/>
        </p:blipFill>
        <p:spPr>
          <a:xfrm>
            <a:off x="147800" y="4833018"/>
            <a:ext cx="781539" cy="182880"/>
          </a:xfrm>
          <a:prstGeom prst="rect">
            <a:avLst/>
          </a:prstGeom>
          <a:noFill/>
          <a:ln>
            <a:noFill/>
          </a:ln>
        </p:spPr>
      </p:pic>
      <p:sp>
        <p:nvSpPr>
          <p:cNvPr id="187" name="Google Shape;187;p11"/>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188" name="Google Shape;188;p11"/>
          <p:cNvPicPr preferRelativeResize="0"/>
          <p:nvPr/>
        </p:nvPicPr>
        <p:blipFill rotWithShape="1">
          <a:blip r:embed="rId6">
            <a:alphaModFix/>
          </a:blip>
          <a:srcRect b="0" l="0" r="0" t="0"/>
          <a:stretch/>
        </p:blipFill>
        <p:spPr>
          <a:xfrm>
            <a:off x="8274176" y="74417"/>
            <a:ext cx="781550" cy="781550"/>
          </a:xfrm>
          <a:prstGeom prst="rect">
            <a:avLst/>
          </a:prstGeom>
          <a:noFill/>
          <a:ln>
            <a:noFill/>
          </a:ln>
        </p:spPr>
      </p:pic>
      <p:sp>
        <p:nvSpPr>
          <p:cNvPr id="189" name="Google Shape;189;p11"/>
          <p:cNvSpPr txBox="1"/>
          <p:nvPr/>
        </p:nvSpPr>
        <p:spPr>
          <a:xfrm>
            <a:off x="731527" y="461950"/>
            <a:ext cx="72378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en" sz="2100" u="none" cap="none" strike="noStrike">
                <a:solidFill>
                  <a:schemeClr val="lt1"/>
                </a:solidFill>
                <a:latin typeface="Poppins SemiBold"/>
                <a:ea typeface="Poppins SemiBold"/>
                <a:cs typeface="Poppins SemiBold"/>
                <a:sym typeface="Poppins SemiBold"/>
              </a:rPr>
              <a:t>Demo — Regression Prioritization</a:t>
            </a:r>
            <a:endParaRPr b="0" i="0" sz="2100" u="none" cap="none" strike="noStrike">
              <a:solidFill>
                <a:schemeClr val="lt1"/>
              </a:solidFill>
              <a:latin typeface="Poppins SemiBold"/>
              <a:ea typeface="Poppins SemiBold"/>
              <a:cs typeface="Poppins SemiBold"/>
              <a:sym typeface="Poppins SemiBold"/>
            </a:endParaRPr>
          </a:p>
        </p:txBody>
      </p:sp>
      <p:sp>
        <p:nvSpPr>
          <p:cNvPr id="190" name="Google Shape;190;p11"/>
          <p:cNvSpPr txBox="1"/>
          <p:nvPr/>
        </p:nvSpPr>
        <p:spPr>
          <a:xfrm>
            <a:off x="731799" y="1014300"/>
            <a:ext cx="6047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30000"/>
              </a:lnSpc>
              <a:spcBef>
                <a:spcPts val="0"/>
              </a:spcBef>
              <a:spcAft>
                <a:spcPts val="0"/>
              </a:spcAft>
              <a:buClr>
                <a:srgbClr val="000000"/>
              </a:buClr>
              <a:buSzPts val="1400"/>
              <a:buFont typeface="Arial"/>
              <a:buNone/>
            </a:pPr>
            <a:r>
              <a:rPr b="0" i="0" lang="en" sz="1400" u="none" cap="none" strike="noStrike">
                <a:solidFill>
                  <a:schemeClr val="lt1"/>
                </a:solidFill>
                <a:latin typeface="Poppins"/>
                <a:ea typeface="Poppins"/>
                <a:cs typeface="Poppins"/>
                <a:sym typeface="Poppins"/>
              </a:rPr>
              <a:t>AI proposes; QA validates</a:t>
            </a:r>
            <a:endParaRPr b="0" i="0" sz="1400" u="none" cap="none" strike="noStrike">
              <a:solidFill>
                <a:schemeClr val="lt1"/>
              </a:solidFill>
              <a:latin typeface="Poppins"/>
              <a:ea typeface="Poppins"/>
              <a:cs typeface="Poppins"/>
              <a:sym typeface="Poppins"/>
            </a:endParaRPr>
          </a:p>
        </p:txBody>
      </p:sp>
      <p:sp>
        <p:nvSpPr>
          <p:cNvPr id="191" name="Google Shape;191;p11"/>
          <p:cNvSpPr/>
          <p:nvPr/>
        </p:nvSpPr>
        <p:spPr>
          <a:xfrm>
            <a:off x="1160575" y="1870600"/>
            <a:ext cx="2044200" cy="2338500"/>
          </a:xfrm>
          <a:prstGeom prst="roundRect">
            <a:avLst>
              <a:gd fmla="val 16667" name="adj"/>
            </a:avLst>
          </a:prstGeom>
          <a:solidFill>
            <a:srgbClr val="38761D"/>
          </a:solidFill>
          <a:ln cap="flat" cmpd="sng" w="10675">
            <a:solidFill>
              <a:srgbClr val="BF9000"/>
            </a:solidFill>
            <a:prstDash val="solid"/>
            <a:round/>
            <a:headEnd len="sm" w="sm" type="none"/>
            <a:tailEnd len="sm" w="sm" type="none"/>
          </a:ln>
          <a:effectLst>
            <a:outerShdw blurRad="64123" rotWithShape="0" algn="bl" dir="1800000" dist="53436">
              <a:srgbClr val="000000">
                <a:alpha val="20000"/>
              </a:srgbClr>
            </a:outerShdw>
          </a:effectLst>
        </p:spPr>
        <p:txBody>
          <a:bodyPr anchorCtr="0" anchor="t" bIns="102575" lIns="102575" spcFirstLastPara="1" rIns="102575" wrap="square" tIns="102575">
            <a:noAutofit/>
          </a:bodyPr>
          <a:lstStyle/>
          <a:p>
            <a:pPr indent="0" lvl="0" marL="0" marR="0" rtl="0" algn="l">
              <a:lnSpc>
                <a:spcPct val="100000"/>
              </a:lnSpc>
              <a:spcBef>
                <a:spcPts val="0"/>
              </a:spcBef>
              <a:spcAft>
                <a:spcPts val="0"/>
              </a:spcAft>
              <a:buClr>
                <a:srgbClr val="000000"/>
              </a:buClr>
              <a:buSzPts val="1346"/>
              <a:buFont typeface="Arial"/>
              <a:buNone/>
            </a:pPr>
            <a:r>
              <a:rPr b="1" i="0" lang="en" sz="1346" u="none" cap="none" strike="noStrike">
                <a:solidFill>
                  <a:schemeClr val="lt1"/>
                </a:solidFill>
                <a:latin typeface="Arial"/>
                <a:ea typeface="Arial"/>
                <a:cs typeface="Arial"/>
                <a:sym typeface="Arial"/>
              </a:rPr>
              <a:t>PR Changed</a:t>
            </a:r>
            <a:endParaRPr b="1" i="0" sz="1346"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71"/>
              <a:buFont typeface="Arial"/>
              <a:buNone/>
            </a:pPr>
            <a:r>
              <a:t/>
            </a:r>
            <a:endParaRPr b="1" i="0" sz="1571"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Authentication service</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Session handling</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Login UI</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Candidate impact: login, logout, timeout, protected routes</a:t>
            </a:r>
            <a:endParaRPr b="0" i="0" sz="1122" u="none" cap="none" strike="noStrike">
              <a:solidFill>
                <a:schemeClr val="lt1"/>
              </a:solidFill>
              <a:latin typeface="Calibri"/>
              <a:ea typeface="Calibri"/>
              <a:cs typeface="Calibri"/>
              <a:sym typeface="Calibri"/>
            </a:endParaRPr>
          </a:p>
        </p:txBody>
      </p:sp>
      <p:sp>
        <p:nvSpPr>
          <p:cNvPr id="192" name="Google Shape;192;p11"/>
          <p:cNvSpPr/>
          <p:nvPr/>
        </p:nvSpPr>
        <p:spPr>
          <a:xfrm>
            <a:off x="3453139" y="1870600"/>
            <a:ext cx="2044200" cy="2338500"/>
          </a:xfrm>
          <a:prstGeom prst="roundRect">
            <a:avLst>
              <a:gd fmla="val 16667" name="adj"/>
            </a:avLst>
          </a:prstGeom>
          <a:solidFill>
            <a:srgbClr val="9900FF"/>
          </a:solidFill>
          <a:ln cap="flat" cmpd="sng" w="10675">
            <a:solidFill>
              <a:srgbClr val="B4A7D6"/>
            </a:solidFill>
            <a:prstDash val="solid"/>
            <a:round/>
            <a:headEnd len="sm" w="sm" type="none"/>
            <a:tailEnd len="sm" w="sm" type="none"/>
          </a:ln>
          <a:effectLst>
            <a:outerShdw blurRad="64123" rotWithShape="0" algn="bl" dir="1800000" dist="53436">
              <a:srgbClr val="000000">
                <a:alpha val="20000"/>
              </a:srgbClr>
            </a:outerShdw>
          </a:effectLst>
        </p:spPr>
        <p:txBody>
          <a:bodyPr anchorCtr="0" anchor="t" bIns="102575" lIns="102575" spcFirstLastPara="1" rIns="102575" wrap="square" tIns="102575">
            <a:noAutofit/>
          </a:bodyPr>
          <a:lstStyle/>
          <a:p>
            <a:pPr indent="0" lvl="0" marL="0" marR="0" rtl="0" algn="l">
              <a:lnSpc>
                <a:spcPct val="100000"/>
              </a:lnSpc>
              <a:spcBef>
                <a:spcPts val="0"/>
              </a:spcBef>
              <a:spcAft>
                <a:spcPts val="0"/>
              </a:spcAft>
              <a:buClr>
                <a:schemeClr val="dk1"/>
              </a:buClr>
              <a:buSzPts val="1234"/>
              <a:buFont typeface="Arial"/>
              <a:buNone/>
            </a:pPr>
            <a:r>
              <a:rPr b="1" i="0" lang="en" sz="1346" u="none" cap="none" strike="noStrike">
                <a:solidFill>
                  <a:schemeClr val="lt1"/>
                </a:solidFill>
                <a:latin typeface="Arial"/>
                <a:ea typeface="Arial"/>
                <a:cs typeface="Arial"/>
                <a:sym typeface="Arial"/>
              </a:rPr>
              <a:t>AI Ranking</a:t>
            </a:r>
            <a:endParaRPr b="1" i="0" sz="1346"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34"/>
              <a:buFont typeface="Arial"/>
              <a:buNone/>
            </a:pPr>
            <a:r>
              <a:t/>
            </a:r>
            <a:endParaRPr b="1" i="0" sz="1571"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P0 authentication smoke</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P0 protected routes</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P1 logout / timeout</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P1 related profile flows</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P2 unrelated regression</a:t>
            </a:r>
            <a:endParaRPr b="0" i="0" sz="1122" u="none" cap="none" strike="noStrike">
              <a:solidFill>
                <a:schemeClr val="lt1"/>
              </a:solidFill>
              <a:latin typeface="Calibri"/>
              <a:ea typeface="Calibri"/>
              <a:cs typeface="Calibri"/>
              <a:sym typeface="Calibri"/>
            </a:endParaRPr>
          </a:p>
        </p:txBody>
      </p:sp>
      <p:sp>
        <p:nvSpPr>
          <p:cNvPr id="193" name="Google Shape;193;p11"/>
          <p:cNvSpPr/>
          <p:nvPr/>
        </p:nvSpPr>
        <p:spPr>
          <a:xfrm>
            <a:off x="5745741" y="1870600"/>
            <a:ext cx="2044200" cy="2338500"/>
          </a:xfrm>
          <a:prstGeom prst="roundRect">
            <a:avLst>
              <a:gd fmla="val 16667" name="adj"/>
            </a:avLst>
          </a:prstGeom>
          <a:solidFill>
            <a:srgbClr val="0C343D"/>
          </a:solidFill>
          <a:ln cap="flat" cmpd="sng" w="10675">
            <a:solidFill>
              <a:srgbClr val="B4A7D6"/>
            </a:solidFill>
            <a:prstDash val="solid"/>
            <a:round/>
            <a:headEnd len="sm" w="sm" type="none"/>
            <a:tailEnd len="sm" w="sm" type="none"/>
          </a:ln>
          <a:effectLst>
            <a:outerShdw blurRad="64123" rotWithShape="0" algn="bl" dir="1800000" dist="53436">
              <a:srgbClr val="000000">
                <a:alpha val="20000"/>
              </a:srgbClr>
            </a:outerShdw>
          </a:effectLst>
        </p:spPr>
        <p:txBody>
          <a:bodyPr anchorCtr="0" anchor="t" bIns="102575" lIns="102575" spcFirstLastPara="1" rIns="102575" wrap="square" tIns="102575">
            <a:noAutofit/>
          </a:bodyPr>
          <a:lstStyle/>
          <a:p>
            <a:pPr indent="0" lvl="0" marL="0" marR="0" rtl="0" algn="l">
              <a:lnSpc>
                <a:spcPct val="100000"/>
              </a:lnSpc>
              <a:spcBef>
                <a:spcPts val="0"/>
              </a:spcBef>
              <a:spcAft>
                <a:spcPts val="0"/>
              </a:spcAft>
              <a:buClr>
                <a:srgbClr val="000000"/>
              </a:buClr>
              <a:buSzPts val="1346"/>
              <a:buFont typeface="Arial"/>
              <a:buNone/>
            </a:pPr>
            <a:r>
              <a:rPr b="1" i="0" lang="en" sz="1346" u="none" cap="none" strike="noStrike">
                <a:solidFill>
                  <a:schemeClr val="lt1"/>
                </a:solidFill>
                <a:latin typeface="Arial"/>
                <a:ea typeface="Arial"/>
                <a:cs typeface="Arial"/>
                <a:sym typeface="Arial"/>
              </a:rPr>
              <a:t>QA Validation</a:t>
            </a:r>
            <a:endParaRPr b="1" i="0" sz="1346"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71"/>
              <a:buFont typeface="Arial"/>
              <a:buNone/>
            </a:pPr>
            <a:r>
              <a:t/>
            </a:r>
            <a:endParaRPr b="1" i="0" sz="1571"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Inspect changed code.</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Check requirements.</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Compare coverage.</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Reject false impact.</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Add missing scenarios.</a:t>
            </a:r>
            <a:endParaRPr b="0" i="0" sz="1122" u="none" cap="none" strike="noStrike">
              <a:solidFill>
                <a:schemeClr val="lt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197" name="Shape 197"/>
        <p:cNvGrpSpPr/>
        <p:nvPr/>
      </p:nvGrpSpPr>
      <p:grpSpPr>
        <a:xfrm>
          <a:off x="0" y="0"/>
          <a:ext cx="0" cy="0"/>
          <a:chOff x="0" y="0"/>
          <a:chExt cx="0" cy="0"/>
        </a:xfrm>
      </p:grpSpPr>
      <p:pic>
        <p:nvPicPr>
          <p:cNvPr id="198" name="Google Shape;198;p12"/>
          <p:cNvPicPr preferRelativeResize="0"/>
          <p:nvPr/>
        </p:nvPicPr>
        <p:blipFill rotWithShape="1">
          <a:blip r:embed="rId3">
            <a:alphaModFix amt="5000"/>
          </a:blip>
          <a:srcRect b="0" l="0" r="0" t="0"/>
          <a:stretch/>
        </p:blipFill>
        <p:spPr>
          <a:xfrm>
            <a:off x="3592905" y="-647761"/>
            <a:ext cx="5662948" cy="6097674"/>
          </a:xfrm>
          <a:prstGeom prst="rect">
            <a:avLst/>
          </a:prstGeom>
          <a:noFill/>
          <a:ln>
            <a:noFill/>
          </a:ln>
        </p:spPr>
      </p:pic>
      <p:pic>
        <p:nvPicPr>
          <p:cNvPr id="199" name="Google Shape;199;p12"/>
          <p:cNvPicPr preferRelativeResize="0"/>
          <p:nvPr/>
        </p:nvPicPr>
        <p:blipFill rotWithShape="1">
          <a:blip r:embed="rId4">
            <a:alphaModFix/>
          </a:blip>
          <a:srcRect b="0" l="0" r="0" t="0"/>
          <a:stretch/>
        </p:blipFill>
        <p:spPr>
          <a:xfrm>
            <a:off x="147800" y="4833018"/>
            <a:ext cx="781539" cy="182880"/>
          </a:xfrm>
          <a:prstGeom prst="rect">
            <a:avLst/>
          </a:prstGeom>
          <a:noFill/>
          <a:ln>
            <a:noFill/>
          </a:ln>
        </p:spPr>
      </p:pic>
      <p:sp>
        <p:nvSpPr>
          <p:cNvPr id="200" name="Google Shape;200;p12"/>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201" name="Google Shape;201;p12"/>
          <p:cNvPicPr preferRelativeResize="0"/>
          <p:nvPr/>
        </p:nvPicPr>
        <p:blipFill rotWithShape="1">
          <a:blip r:embed="rId6">
            <a:alphaModFix/>
          </a:blip>
          <a:srcRect b="0" l="0" r="0" t="0"/>
          <a:stretch/>
        </p:blipFill>
        <p:spPr>
          <a:xfrm>
            <a:off x="8274176" y="74417"/>
            <a:ext cx="781550" cy="781550"/>
          </a:xfrm>
          <a:prstGeom prst="rect">
            <a:avLst/>
          </a:prstGeom>
          <a:noFill/>
          <a:ln>
            <a:noFill/>
          </a:ln>
        </p:spPr>
      </p:pic>
      <p:sp>
        <p:nvSpPr>
          <p:cNvPr id="202" name="Google Shape;202;p12"/>
          <p:cNvSpPr txBox="1"/>
          <p:nvPr/>
        </p:nvSpPr>
        <p:spPr>
          <a:xfrm>
            <a:off x="731527" y="461950"/>
            <a:ext cx="72378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en" sz="2100" u="none" cap="none" strike="noStrike">
                <a:solidFill>
                  <a:schemeClr val="lt1"/>
                </a:solidFill>
                <a:latin typeface="Poppins SemiBold"/>
                <a:ea typeface="Poppins SemiBold"/>
                <a:cs typeface="Poppins SemiBold"/>
                <a:sym typeface="Poppins SemiBold"/>
              </a:rPr>
              <a:t>Coverage-Gap Analysis</a:t>
            </a:r>
            <a:endParaRPr b="0" i="0" sz="2100" u="none" cap="none" strike="noStrike">
              <a:solidFill>
                <a:schemeClr val="lt1"/>
              </a:solidFill>
              <a:latin typeface="Poppins SemiBold"/>
              <a:ea typeface="Poppins SemiBold"/>
              <a:cs typeface="Poppins SemiBold"/>
              <a:sym typeface="Poppins SemiBold"/>
            </a:endParaRPr>
          </a:p>
        </p:txBody>
      </p:sp>
      <p:sp>
        <p:nvSpPr>
          <p:cNvPr id="203" name="Google Shape;203;p12"/>
          <p:cNvSpPr txBox="1"/>
          <p:nvPr/>
        </p:nvSpPr>
        <p:spPr>
          <a:xfrm>
            <a:off x="731799" y="1014300"/>
            <a:ext cx="6047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30000"/>
              </a:lnSpc>
              <a:spcBef>
                <a:spcPts val="0"/>
              </a:spcBef>
              <a:spcAft>
                <a:spcPts val="0"/>
              </a:spcAft>
              <a:buClr>
                <a:srgbClr val="000000"/>
              </a:buClr>
              <a:buSzPts val="1400"/>
              <a:buFont typeface="Arial"/>
              <a:buNone/>
            </a:pPr>
            <a:r>
              <a:rPr b="0" i="0" lang="en" sz="1400" u="none" cap="none" strike="noStrike">
                <a:solidFill>
                  <a:schemeClr val="lt1"/>
                </a:solidFill>
                <a:latin typeface="Poppins"/>
                <a:ea typeface="Poppins"/>
                <a:cs typeface="Poppins"/>
                <a:sym typeface="Poppins"/>
              </a:rPr>
              <a:t>Ask: what requirement has no adequate test?</a:t>
            </a:r>
            <a:endParaRPr b="0" i="0" sz="1400" u="none" cap="none" strike="noStrike">
              <a:solidFill>
                <a:schemeClr val="lt1"/>
              </a:solidFill>
              <a:latin typeface="Poppins"/>
              <a:ea typeface="Poppins"/>
              <a:cs typeface="Poppins"/>
              <a:sym typeface="Poppins"/>
            </a:endParaRPr>
          </a:p>
        </p:txBody>
      </p:sp>
      <p:sp>
        <p:nvSpPr>
          <p:cNvPr id="204" name="Google Shape;204;p12"/>
          <p:cNvSpPr/>
          <p:nvPr/>
        </p:nvSpPr>
        <p:spPr>
          <a:xfrm>
            <a:off x="731525" y="1870600"/>
            <a:ext cx="2411400" cy="2338500"/>
          </a:xfrm>
          <a:prstGeom prst="roundRect">
            <a:avLst>
              <a:gd fmla="val 16667" name="adj"/>
            </a:avLst>
          </a:prstGeom>
          <a:solidFill>
            <a:srgbClr val="38761D"/>
          </a:solidFill>
          <a:ln cap="flat" cmpd="sng" w="10675">
            <a:solidFill>
              <a:srgbClr val="BF9000"/>
            </a:solidFill>
            <a:prstDash val="solid"/>
            <a:round/>
            <a:headEnd len="sm" w="sm" type="none"/>
            <a:tailEnd len="sm" w="sm" type="none"/>
          </a:ln>
          <a:effectLst>
            <a:outerShdw blurRad="64123" rotWithShape="0" algn="bl" dir="1800000" dist="53436">
              <a:srgbClr val="000000">
                <a:alpha val="20000"/>
              </a:srgbClr>
            </a:outerShdw>
          </a:effectLst>
        </p:spPr>
        <p:txBody>
          <a:bodyPr anchorCtr="0" anchor="t" bIns="102575" lIns="102575" spcFirstLastPara="1" rIns="102575" wrap="square" tIns="102575">
            <a:noAutofit/>
          </a:bodyPr>
          <a:lstStyle/>
          <a:p>
            <a:pPr indent="0" lvl="0" marL="0" marR="0" rtl="0" algn="l">
              <a:lnSpc>
                <a:spcPct val="100000"/>
              </a:lnSpc>
              <a:spcBef>
                <a:spcPts val="0"/>
              </a:spcBef>
              <a:spcAft>
                <a:spcPts val="0"/>
              </a:spcAft>
              <a:buClr>
                <a:srgbClr val="000000"/>
              </a:buClr>
              <a:buSzPts val="1346"/>
              <a:buFont typeface="Arial"/>
              <a:buNone/>
            </a:pPr>
            <a:r>
              <a:rPr b="1" i="0" lang="en" sz="1346" u="none" cap="none" strike="noStrike">
                <a:solidFill>
                  <a:schemeClr val="lt1"/>
                </a:solidFill>
                <a:latin typeface="Arial"/>
                <a:ea typeface="Arial"/>
                <a:cs typeface="Arial"/>
                <a:sym typeface="Arial"/>
              </a:rPr>
              <a:t>Requirements</a:t>
            </a:r>
            <a:endParaRPr b="1" i="0" sz="1346"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71"/>
              <a:buFont typeface="Arial"/>
              <a:buNone/>
            </a:pPr>
            <a:r>
              <a:t/>
            </a:r>
            <a:endParaRPr b="1" i="0" sz="1571"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A - User can log in with valid credentials</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B - iInvalid credentials display the correct error message.</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C - Authenticated users can access protected pages.</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D - Session expires after the defined inactivity period. </a:t>
            </a:r>
            <a:endParaRPr b="0" i="0" sz="1122" u="none" cap="none" strike="noStrike">
              <a:solidFill>
                <a:schemeClr val="lt1"/>
              </a:solidFill>
              <a:latin typeface="Calibri"/>
              <a:ea typeface="Calibri"/>
              <a:cs typeface="Calibri"/>
              <a:sym typeface="Calibri"/>
            </a:endParaRPr>
          </a:p>
        </p:txBody>
      </p:sp>
      <p:sp>
        <p:nvSpPr>
          <p:cNvPr id="205" name="Google Shape;205;p12"/>
          <p:cNvSpPr/>
          <p:nvPr/>
        </p:nvSpPr>
        <p:spPr>
          <a:xfrm>
            <a:off x="3435779" y="1870600"/>
            <a:ext cx="2411400" cy="2338500"/>
          </a:xfrm>
          <a:prstGeom prst="roundRect">
            <a:avLst>
              <a:gd fmla="val 16667" name="adj"/>
            </a:avLst>
          </a:prstGeom>
          <a:solidFill>
            <a:srgbClr val="9900FF"/>
          </a:solidFill>
          <a:ln cap="flat" cmpd="sng" w="10675">
            <a:solidFill>
              <a:srgbClr val="B4A7D6"/>
            </a:solidFill>
            <a:prstDash val="solid"/>
            <a:round/>
            <a:headEnd len="sm" w="sm" type="none"/>
            <a:tailEnd len="sm" w="sm" type="none"/>
          </a:ln>
          <a:effectLst>
            <a:outerShdw blurRad="64123" rotWithShape="0" algn="bl" dir="1800000" dist="53436">
              <a:srgbClr val="000000">
                <a:alpha val="20000"/>
              </a:srgbClr>
            </a:outerShdw>
          </a:effectLst>
        </p:spPr>
        <p:txBody>
          <a:bodyPr anchorCtr="0" anchor="t" bIns="102575" lIns="102575" spcFirstLastPara="1" rIns="102575" wrap="square" tIns="102575">
            <a:noAutofit/>
          </a:bodyPr>
          <a:lstStyle/>
          <a:p>
            <a:pPr indent="0" lvl="0" marL="0" marR="0" rtl="0" algn="l">
              <a:lnSpc>
                <a:spcPct val="100000"/>
              </a:lnSpc>
              <a:spcBef>
                <a:spcPts val="0"/>
              </a:spcBef>
              <a:spcAft>
                <a:spcPts val="0"/>
              </a:spcAft>
              <a:buClr>
                <a:schemeClr val="dk1"/>
              </a:buClr>
              <a:buSzPts val="1234"/>
              <a:buFont typeface="Arial"/>
              <a:buNone/>
            </a:pPr>
            <a:r>
              <a:rPr b="1" i="0" lang="en" sz="1346" u="none" cap="none" strike="noStrike">
                <a:solidFill>
                  <a:schemeClr val="lt1"/>
                </a:solidFill>
                <a:latin typeface="Arial"/>
                <a:ea typeface="Arial"/>
                <a:cs typeface="Arial"/>
                <a:sym typeface="Arial"/>
              </a:rPr>
              <a:t>Current Suite</a:t>
            </a:r>
            <a:endParaRPr b="1" i="0" sz="1346"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34"/>
              <a:buFont typeface="Arial"/>
              <a:buNone/>
            </a:pPr>
            <a:r>
              <a:t/>
            </a:r>
            <a:endParaRPr b="1" i="0" sz="1571"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A - covered by login smoke test</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B - covered by Invalid Login test</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C - no adequate test found</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D - partial coverage only</a:t>
            </a:r>
            <a:endParaRPr b="0" i="0" sz="1122" u="none" cap="none" strike="noStrike">
              <a:solidFill>
                <a:schemeClr val="lt1"/>
              </a:solidFill>
              <a:latin typeface="Calibri"/>
              <a:ea typeface="Calibri"/>
              <a:cs typeface="Calibri"/>
              <a:sym typeface="Calibri"/>
            </a:endParaRPr>
          </a:p>
        </p:txBody>
      </p:sp>
      <p:sp>
        <p:nvSpPr>
          <p:cNvPr id="206" name="Google Shape;206;p12"/>
          <p:cNvSpPr/>
          <p:nvPr/>
        </p:nvSpPr>
        <p:spPr>
          <a:xfrm>
            <a:off x="6140050" y="1870600"/>
            <a:ext cx="2411400" cy="2338500"/>
          </a:xfrm>
          <a:prstGeom prst="roundRect">
            <a:avLst>
              <a:gd fmla="val 16667" name="adj"/>
            </a:avLst>
          </a:prstGeom>
          <a:solidFill>
            <a:srgbClr val="0C343D"/>
          </a:solidFill>
          <a:ln cap="flat" cmpd="sng" w="10675">
            <a:solidFill>
              <a:srgbClr val="B4A7D6"/>
            </a:solidFill>
            <a:prstDash val="solid"/>
            <a:round/>
            <a:headEnd len="sm" w="sm" type="none"/>
            <a:tailEnd len="sm" w="sm" type="none"/>
          </a:ln>
          <a:effectLst>
            <a:outerShdw blurRad="64123" rotWithShape="0" algn="bl" dir="1800000" dist="53436">
              <a:srgbClr val="000000">
                <a:alpha val="20000"/>
              </a:srgbClr>
            </a:outerShdw>
          </a:effectLst>
        </p:spPr>
        <p:txBody>
          <a:bodyPr anchorCtr="0" anchor="t" bIns="102575" lIns="102575" spcFirstLastPara="1" rIns="102575" wrap="square" tIns="102575">
            <a:noAutofit/>
          </a:bodyPr>
          <a:lstStyle/>
          <a:p>
            <a:pPr indent="0" lvl="0" marL="0" marR="0" rtl="0" algn="l">
              <a:lnSpc>
                <a:spcPct val="100000"/>
              </a:lnSpc>
              <a:spcBef>
                <a:spcPts val="0"/>
              </a:spcBef>
              <a:spcAft>
                <a:spcPts val="0"/>
              </a:spcAft>
              <a:buClr>
                <a:srgbClr val="000000"/>
              </a:buClr>
              <a:buSzPts val="1346"/>
              <a:buFont typeface="Arial"/>
              <a:buNone/>
            </a:pPr>
            <a:r>
              <a:rPr b="1" i="0" lang="en" sz="1346" u="none" cap="none" strike="noStrike">
                <a:solidFill>
                  <a:schemeClr val="lt1"/>
                </a:solidFill>
                <a:latin typeface="Arial"/>
                <a:ea typeface="Arial"/>
                <a:cs typeface="Arial"/>
                <a:sym typeface="Arial"/>
              </a:rPr>
              <a:t>AI Gap Report</a:t>
            </a:r>
            <a:endParaRPr b="1" i="0" sz="1346"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71"/>
              <a:buFont typeface="Arial"/>
              <a:buNone/>
            </a:pPr>
            <a:r>
              <a:t/>
            </a:r>
            <a:endParaRPr b="1" i="0" sz="1571"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Missing: REQ-03</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Partial: REQ-04</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Redundant / overlapping tests</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Suggested tests for uncovered behavior</a:t>
            </a:r>
            <a:endParaRPr b="0" i="0" sz="1122"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22"/>
              <a:buFont typeface="Arial"/>
              <a:buNone/>
            </a:pPr>
            <a:r>
              <a:rPr b="0" i="0" lang="en" sz="1122" u="none" cap="none" strike="noStrike">
                <a:solidFill>
                  <a:schemeClr val="lt1"/>
                </a:solidFill>
                <a:latin typeface="Calibri"/>
                <a:ea typeface="Calibri"/>
                <a:cs typeface="Calibri"/>
                <a:sym typeface="Calibri"/>
              </a:rPr>
              <a:t>Validate each gap against the actual requirement</a:t>
            </a:r>
            <a:endParaRPr b="0" i="0" sz="1122" u="none" cap="none" strike="noStrike">
              <a:solidFill>
                <a:schemeClr val="lt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210" name="Shape 210"/>
        <p:cNvGrpSpPr/>
        <p:nvPr/>
      </p:nvGrpSpPr>
      <p:grpSpPr>
        <a:xfrm>
          <a:off x="0" y="0"/>
          <a:ext cx="0" cy="0"/>
          <a:chOff x="0" y="0"/>
          <a:chExt cx="0" cy="0"/>
        </a:xfrm>
      </p:grpSpPr>
      <p:pic>
        <p:nvPicPr>
          <p:cNvPr id="211" name="Google Shape;211;p13"/>
          <p:cNvPicPr preferRelativeResize="0"/>
          <p:nvPr/>
        </p:nvPicPr>
        <p:blipFill rotWithShape="1">
          <a:blip r:embed="rId3">
            <a:alphaModFix amt="5000"/>
          </a:blip>
          <a:srcRect b="0" l="0" r="0" t="0"/>
          <a:stretch/>
        </p:blipFill>
        <p:spPr>
          <a:xfrm>
            <a:off x="3592905" y="-647761"/>
            <a:ext cx="5662948" cy="6097674"/>
          </a:xfrm>
          <a:prstGeom prst="rect">
            <a:avLst/>
          </a:prstGeom>
          <a:noFill/>
          <a:ln>
            <a:noFill/>
          </a:ln>
        </p:spPr>
      </p:pic>
      <p:pic>
        <p:nvPicPr>
          <p:cNvPr id="212" name="Google Shape;212;p13"/>
          <p:cNvPicPr preferRelativeResize="0"/>
          <p:nvPr/>
        </p:nvPicPr>
        <p:blipFill rotWithShape="1">
          <a:blip r:embed="rId4">
            <a:alphaModFix/>
          </a:blip>
          <a:srcRect b="0" l="0" r="0" t="0"/>
          <a:stretch/>
        </p:blipFill>
        <p:spPr>
          <a:xfrm>
            <a:off x="147800" y="4833018"/>
            <a:ext cx="781539" cy="182880"/>
          </a:xfrm>
          <a:prstGeom prst="rect">
            <a:avLst/>
          </a:prstGeom>
          <a:noFill/>
          <a:ln>
            <a:noFill/>
          </a:ln>
        </p:spPr>
      </p:pic>
      <p:sp>
        <p:nvSpPr>
          <p:cNvPr id="213" name="Google Shape;213;p13"/>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214" name="Google Shape;214;p13"/>
          <p:cNvPicPr preferRelativeResize="0"/>
          <p:nvPr/>
        </p:nvPicPr>
        <p:blipFill rotWithShape="1">
          <a:blip r:embed="rId6">
            <a:alphaModFix/>
          </a:blip>
          <a:srcRect b="0" l="0" r="0" t="0"/>
          <a:stretch/>
        </p:blipFill>
        <p:spPr>
          <a:xfrm>
            <a:off x="8274176" y="74417"/>
            <a:ext cx="781550" cy="781550"/>
          </a:xfrm>
          <a:prstGeom prst="rect">
            <a:avLst/>
          </a:prstGeom>
          <a:noFill/>
          <a:ln>
            <a:noFill/>
          </a:ln>
        </p:spPr>
      </p:pic>
      <p:sp>
        <p:nvSpPr>
          <p:cNvPr id="215" name="Google Shape;215;p13"/>
          <p:cNvSpPr txBox="1"/>
          <p:nvPr/>
        </p:nvSpPr>
        <p:spPr>
          <a:xfrm>
            <a:off x="731527" y="461950"/>
            <a:ext cx="72378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chemeClr val="lt1"/>
                </a:solidFill>
                <a:latin typeface="Poppins SemiBold"/>
                <a:ea typeface="Poppins SemiBold"/>
                <a:cs typeface="Poppins SemiBold"/>
                <a:sym typeface="Poppins SemiBold"/>
              </a:rPr>
              <a:t>1-Hour Synchronous Class</a:t>
            </a:r>
            <a:endParaRPr b="0" i="0" sz="1900" u="none" cap="none" strike="noStrike">
              <a:solidFill>
                <a:schemeClr val="lt1"/>
              </a:solidFill>
              <a:latin typeface="Poppins SemiBold"/>
              <a:ea typeface="Poppins SemiBold"/>
              <a:cs typeface="Poppins SemiBold"/>
              <a:sym typeface="Poppins SemiBold"/>
            </a:endParaRPr>
          </a:p>
        </p:txBody>
      </p:sp>
      <p:sp>
        <p:nvSpPr>
          <p:cNvPr id="216" name="Google Shape;216;p13"/>
          <p:cNvSpPr txBox="1"/>
          <p:nvPr/>
        </p:nvSpPr>
        <p:spPr>
          <a:xfrm>
            <a:off x="731799" y="1014300"/>
            <a:ext cx="6047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30000"/>
              </a:lnSpc>
              <a:spcBef>
                <a:spcPts val="0"/>
              </a:spcBef>
              <a:spcAft>
                <a:spcPts val="0"/>
              </a:spcAft>
              <a:buClr>
                <a:srgbClr val="000000"/>
              </a:buClr>
              <a:buSzPts val="1400"/>
              <a:buFont typeface="Arial"/>
              <a:buNone/>
            </a:pPr>
            <a:r>
              <a:rPr b="0" i="0" lang="en" sz="1400" u="none" cap="none" strike="noStrike">
                <a:solidFill>
                  <a:schemeClr val="lt1"/>
                </a:solidFill>
                <a:latin typeface="Poppins"/>
                <a:ea typeface="Poppins"/>
                <a:cs typeface="Poppins"/>
                <a:sym typeface="Poppins"/>
              </a:rPr>
              <a:t>Suggested live-session agenda</a:t>
            </a:r>
            <a:endParaRPr b="0" i="0" sz="1400" u="none" cap="none" strike="noStrike">
              <a:solidFill>
                <a:schemeClr val="lt1"/>
              </a:solidFill>
              <a:latin typeface="Poppins"/>
              <a:ea typeface="Poppins"/>
              <a:cs typeface="Poppins"/>
              <a:sym typeface="Poppins"/>
            </a:endParaRPr>
          </a:p>
        </p:txBody>
      </p:sp>
      <p:sp>
        <p:nvSpPr>
          <p:cNvPr id="217" name="Google Shape;217;p13"/>
          <p:cNvSpPr/>
          <p:nvPr/>
        </p:nvSpPr>
        <p:spPr>
          <a:xfrm>
            <a:off x="814850" y="1739150"/>
            <a:ext cx="7237800" cy="462000"/>
          </a:xfrm>
          <a:prstGeom prst="roundRect">
            <a:avLst>
              <a:gd fmla="val 16667" name="adj"/>
            </a:avLst>
          </a:prstGeom>
          <a:solidFill>
            <a:srgbClr val="FFFF00"/>
          </a:solidFill>
          <a:ln cap="flat" cmpd="sng" w="9525">
            <a:solidFill>
              <a:srgbClr val="FFD966"/>
            </a:solidFill>
            <a:prstDash val="solid"/>
            <a:round/>
            <a:headEnd len="sm" w="sm" type="none"/>
            <a:tailEnd len="sm" w="sm" type="none"/>
          </a:ln>
          <a:effectLst>
            <a:outerShdw blurRad="57150" rotWithShape="0" algn="bl" dir="3540000" dist="66675">
              <a:srgbClr val="000000">
                <a:alpha val="3922"/>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0–10 min</a:t>
            </a:r>
            <a:br>
              <a:rPr b="1" i="0" lang="en" sz="1400" u="none" cap="none" strike="noStrike">
                <a:solidFill>
                  <a:srgbClr val="000000"/>
                </a:solidFill>
                <a:latin typeface="Arial"/>
                <a:ea typeface="Arial"/>
                <a:cs typeface="Arial"/>
                <a:sym typeface="Arial"/>
              </a:rPr>
            </a:br>
            <a:r>
              <a:rPr b="0" i="0" lang="en" sz="1000" u="none" cap="none" strike="noStrike">
                <a:solidFill>
                  <a:srgbClr val="666666"/>
                </a:solidFill>
                <a:latin typeface="Arial"/>
                <a:ea typeface="Arial"/>
                <a:cs typeface="Arial"/>
                <a:sym typeface="Arial"/>
              </a:rPr>
              <a:t>Week 3 model — AI assists; tester owns conclusion.</a:t>
            </a:r>
            <a:endParaRPr b="0" i="0" sz="1000" u="none" cap="none" strike="noStrike">
              <a:solidFill>
                <a:srgbClr val="666666"/>
              </a:solidFill>
              <a:latin typeface="Arial"/>
              <a:ea typeface="Arial"/>
              <a:cs typeface="Arial"/>
              <a:sym typeface="Arial"/>
            </a:endParaRPr>
          </a:p>
        </p:txBody>
      </p:sp>
      <p:sp>
        <p:nvSpPr>
          <p:cNvPr id="218" name="Google Shape;218;p13"/>
          <p:cNvSpPr/>
          <p:nvPr/>
        </p:nvSpPr>
        <p:spPr>
          <a:xfrm>
            <a:off x="814850" y="2363975"/>
            <a:ext cx="7237800" cy="462000"/>
          </a:xfrm>
          <a:prstGeom prst="roundRect">
            <a:avLst>
              <a:gd fmla="val 16667" name="adj"/>
            </a:avLst>
          </a:prstGeom>
          <a:solidFill>
            <a:srgbClr val="A64D79"/>
          </a:solidFill>
          <a:ln cap="flat" cmpd="sng" w="9525">
            <a:solidFill>
              <a:srgbClr val="B4A7D6"/>
            </a:solidFill>
            <a:prstDash val="solid"/>
            <a:round/>
            <a:headEnd len="sm" w="sm" type="none"/>
            <a:tailEnd len="sm" w="sm" type="none"/>
          </a:ln>
          <a:effectLst>
            <a:outerShdw blurRad="57150" rotWithShape="0" algn="bl" dir="3540000" dist="66675">
              <a:srgbClr val="000000">
                <a:alpha val="392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lt1"/>
                </a:solidFill>
                <a:latin typeface="Arial"/>
                <a:ea typeface="Arial"/>
                <a:cs typeface="Arial"/>
                <a:sym typeface="Arial"/>
              </a:rPr>
              <a:t>10–25 min</a:t>
            </a:r>
            <a:endParaRPr b="1" i="0" sz="1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2"/>
                </a:solidFill>
                <a:latin typeface="Arial"/>
                <a:ea typeface="Arial"/>
                <a:cs typeface="Arial"/>
                <a:sym typeface="Arial"/>
              </a:rPr>
              <a:t>Failure RCA — Live failed-run analysis</a:t>
            </a:r>
            <a:endParaRPr b="0" i="0" sz="1000" u="none" cap="none" strike="noStrike">
              <a:solidFill>
                <a:schemeClr val="lt2"/>
              </a:solidFill>
              <a:latin typeface="Arial"/>
              <a:ea typeface="Arial"/>
              <a:cs typeface="Arial"/>
              <a:sym typeface="Arial"/>
            </a:endParaRPr>
          </a:p>
        </p:txBody>
      </p:sp>
      <p:sp>
        <p:nvSpPr>
          <p:cNvPr id="219" name="Google Shape;219;p13"/>
          <p:cNvSpPr/>
          <p:nvPr/>
        </p:nvSpPr>
        <p:spPr>
          <a:xfrm>
            <a:off x="814850" y="2980373"/>
            <a:ext cx="7237800" cy="462000"/>
          </a:xfrm>
          <a:prstGeom prst="roundRect">
            <a:avLst>
              <a:gd fmla="val 16667" name="adj"/>
            </a:avLst>
          </a:prstGeom>
          <a:solidFill>
            <a:srgbClr val="3D85C6"/>
          </a:solidFill>
          <a:ln cap="flat" cmpd="sng" w="9525">
            <a:solidFill>
              <a:srgbClr val="FFD966"/>
            </a:solidFill>
            <a:prstDash val="solid"/>
            <a:round/>
            <a:headEnd len="sm" w="sm" type="none"/>
            <a:tailEnd len="sm" w="sm" type="none"/>
          </a:ln>
          <a:effectLst>
            <a:outerShdw blurRad="57150" rotWithShape="0" algn="bl" dir="3540000" dist="66675">
              <a:srgbClr val="000000">
                <a:alpha val="392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lt1"/>
                </a:solidFill>
                <a:latin typeface="Arial"/>
                <a:ea typeface="Arial"/>
                <a:cs typeface="Arial"/>
                <a:sym typeface="Arial"/>
              </a:rPr>
              <a:t>25–40 min</a:t>
            </a:r>
            <a:br>
              <a:rPr b="1" i="0" lang="en" sz="1400" u="none" cap="none" strike="noStrike">
                <a:solidFill>
                  <a:schemeClr val="lt1"/>
                </a:solidFill>
                <a:latin typeface="Arial"/>
                <a:ea typeface="Arial"/>
                <a:cs typeface="Arial"/>
                <a:sym typeface="Arial"/>
              </a:rPr>
            </a:br>
            <a:r>
              <a:rPr b="0" i="0" lang="en" sz="1000" u="none" cap="none" strike="noStrike">
                <a:solidFill>
                  <a:schemeClr val="lt2"/>
                </a:solidFill>
                <a:latin typeface="Arial"/>
                <a:ea typeface="Arial"/>
                <a:cs typeface="Arial"/>
                <a:sym typeface="Arial"/>
              </a:rPr>
              <a:t>Script generation — Requirement → prompt → test → run</a:t>
            </a:r>
            <a:endParaRPr b="0" i="0" sz="1000" u="none" cap="none" strike="noStrike">
              <a:solidFill>
                <a:schemeClr val="lt2"/>
              </a:solidFill>
              <a:latin typeface="Arial"/>
              <a:ea typeface="Arial"/>
              <a:cs typeface="Arial"/>
              <a:sym typeface="Arial"/>
            </a:endParaRPr>
          </a:p>
        </p:txBody>
      </p:sp>
      <p:sp>
        <p:nvSpPr>
          <p:cNvPr id="220" name="Google Shape;220;p13"/>
          <p:cNvSpPr/>
          <p:nvPr/>
        </p:nvSpPr>
        <p:spPr>
          <a:xfrm>
            <a:off x="814850" y="3596775"/>
            <a:ext cx="7237800" cy="462000"/>
          </a:xfrm>
          <a:prstGeom prst="roundRect">
            <a:avLst>
              <a:gd fmla="val 16667" name="adj"/>
            </a:avLst>
          </a:prstGeom>
          <a:solidFill>
            <a:srgbClr val="666666"/>
          </a:solidFill>
          <a:ln cap="flat" cmpd="sng" w="9525">
            <a:solidFill>
              <a:srgbClr val="FFD966"/>
            </a:solidFill>
            <a:prstDash val="solid"/>
            <a:round/>
            <a:headEnd len="sm" w="sm" type="none"/>
            <a:tailEnd len="sm" w="sm" type="none"/>
          </a:ln>
          <a:effectLst>
            <a:outerShdw blurRad="57150" rotWithShape="0" algn="bl" dir="3540000" dist="66675">
              <a:srgbClr val="000000">
                <a:alpha val="392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lt1"/>
                </a:solidFill>
                <a:latin typeface="Arial"/>
                <a:ea typeface="Arial"/>
                <a:cs typeface="Arial"/>
                <a:sym typeface="Arial"/>
              </a:rPr>
              <a:t>40–52 min</a:t>
            </a:r>
            <a:br>
              <a:rPr b="1" i="0" lang="en" sz="1400" u="none" cap="none" strike="noStrike">
                <a:solidFill>
                  <a:schemeClr val="lt1"/>
                </a:solidFill>
                <a:latin typeface="Arial"/>
                <a:ea typeface="Arial"/>
                <a:cs typeface="Arial"/>
                <a:sym typeface="Arial"/>
              </a:rPr>
            </a:br>
            <a:r>
              <a:rPr b="0" i="0" lang="en" sz="1000" u="none" cap="none" strike="noStrike">
                <a:solidFill>
                  <a:schemeClr val="lt2"/>
                </a:solidFill>
                <a:latin typeface="Arial"/>
                <a:ea typeface="Arial"/>
                <a:cs typeface="Arial"/>
                <a:sym typeface="Arial"/>
              </a:rPr>
              <a:t>Regression + coverage — Sample PR and suite.</a:t>
            </a:r>
            <a:endParaRPr b="0" i="0" sz="1000" u="none" cap="none" strike="noStrike">
              <a:solidFill>
                <a:schemeClr val="lt2"/>
              </a:solidFill>
              <a:latin typeface="Arial"/>
              <a:ea typeface="Arial"/>
              <a:cs typeface="Arial"/>
              <a:sym typeface="Arial"/>
            </a:endParaRPr>
          </a:p>
        </p:txBody>
      </p:sp>
      <p:sp>
        <p:nvSpPr>
          <p:cNvPr id="221" name="Google Shape;221;p13"/>
          <p:cNvSpPr/>
          <p:nvPr/>
        </p:nvSpPr>
        <p:spPr>
          <a:xfrm>
            <a:off x="814850" y="4214900"/>
            <a:ext cx="7237800" cy="462000"/>
          </a:xfrm>
          <a:prstGeom prst="roundRect">
            <a:avLst>
              <a:gd fmla="val 16667" name="adj"/>
            </a:avLst>
          </a:prstGeom>
          <a:solidFill>
            <a:srgbClr val="CC0000"/>
          </a:solidFill>
          <a:ln cap="flat" cmpd="sng" w="9525">
            <a:solidFill>
              <a:srgbClr val="FFD966"/>
            </a:solidFill>
            <a:prstDash val="solid"/>
            <a:round/>
            <a:headEnd len="sm" w="sm" type="none"/>
            <a:tailEnd len="sm" w="sm" type="none"/>
          </a:ln>
          <a:effectLst>
            <a:outerShdw blurRad="57150" rotWithShape="0" algn="bl" dir="3540000" dist="66675">
              <a:srgbClr val="000000">
                <a:alpha val="392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lt1"/>
                </a:solidFill>
                <a:latin typeface="Arial"/>
                <a:ea typeface="Arial"/>
                <a:cs typeface="Arial"/>
                <a:sym typeface="Arial"/>
              </a:rPr>
              <a:t>52–60 min</a:t>
            </a:r>
            <a:br>
              <a:rPr b="1" i="0" lang="en" sz="1400" u="none" cap="none" strike="noStrike">
                <a:solidFill>
                  <a:schemeClr val="lt1"/>
                </a:solidFill>
                <a:latin typeface="Arial"/>
                <a:ea typeface="Arial"/>
                <a:cs typeface="Arial"/>
                <a:sym typeface="Arial"/>
              </a:rPr>
            </a:br>
            <a:r>
              <a:rPr b="0" i="0" lang="en" sz="1000" u="none" cap="none" strike="noStrike">
                <a:solidFill>
                  <a:schemeClr val="lt2"/>
                </a:solidFill>
                <a:latin typeface="Arial"/>
                <a:ea typeface="Arial"/>
                <a:cs typeface="Arial"/>
                <a:sym typeface="Arial"/>
              </a:rPr>
              <a:t>Async + Gate — Evidence, tracker, Loom</a:t>
            </a:r>
            <a:endParaRPr b="0" i="0" sz="1000" u="none" cap="none" strike="noStrike">
              <a:solidFill>
                <a:schemeClr val="lt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1000"/>
                                        <p:tgtEl>
                                          <p:spTgt spid="2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1000"/>
                                        <p:tgtEl>
                                          <p:spTgt spid="2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1000"/>
                                        <p:tgtEl>
                                          <p:spTgt spid="2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1000"/>
                                        <p:tgtEl>
                                          <p:spTgt spid="2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1000"/>
                                        <p:tgtEl>
                                          <p:spTgt spid="2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225" name="Shape 225"/>
        <p:cNvGrpSpPr/>
        <p:nvPr/>
      </p:nvGrpSpPr>
      <p:grpSpPr>
        <a:xfrm>
          <a:off x="0" y="0"/>
          <a:ext cx="0" cy="0"/>
          <a:chOff x="0" y="0"/>
          <a:chExt cx="0" cy="0"/>
        </a:xfrm>
      </p:grpSpPr>
      <p:pic>
        <p:nvPicPr>
          <p:cNvPr id="226" name="Google Shape;226;p14"/>
          <p:cNvPicPr preferRelativeResize="0"/>
          <p:nvPr/>
        </p:nvPicPr>
        <p:blipFill rotWithShape="1">
          <a:blip r:embed="rId3">
            <a:alphaModFix amt="5000"/>
          </a:blip>
          <a:srcRect b="0" l="0" r="0" t="0"/>
          <a:stretch/>
        </p:blipFill>
        <p:spPr>
          <a:xfrm>
            <a:off x="3592905" y="-647761"/>
            <a:ext cx="5662948" cy="6097674"/>
          </a:xfrm>
          <a:prstGeom prst="rect">
            <a:avLst/>
          </a:prstGeom>
          <a:noFill/>
          <a:ln>
            <a:noFill/>
          </a:ln>
        </p:spPr>
      </p:pic>
      <p:pic>
        <p:nvPicPr>
          <p:cNvPr id="227" name="Google Shape;227;p14"/>
          <p:cNvPicPr preferRelativeResize="0"/>
          <p:nvPr/>
        </p:nvPicPr>
        <p:blipFill rotWithShape="1">
          <a:blip r:embed="rId4">
            <a:alphaModFix/>
          </a:blip>
          <a:srcRect b="0" l="0" r="0" t="0"/>
          <a:stretch/>
        </p:blipFill>
        <p:spPr>
          <a:xfrm>
            <a:off x="147800" y="4833018"/>
            <a:ext cx="781539" cy="182880"/>
          </a:xfrm>
          <a:prstGeom prst="rect">
            <a:avLst/>
          </a:prstGeom>
          <a:noFill/>
          <a:ln>
            <a:noFill/>
          </a:ln>
        </p:spPr>
      </p:pic>
      <p:sp>
        <p:nvSpPr>
          <p:cNvPr id="228" name="Google Shape;228;p14"/>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229" name="Google Shape;229;p14"/>
          <p:cNvPicPr preferRelativeResize="0"/>
          <p:nvPr/>
        </p:nvPicPr>
        <p:blipFill rotWithShape="1">
          <a:blip r:embed="rId6">
            <a:alphaModFix/>
          </a:blip>
          <a:srcRect b="0" l="0" r="0" t="0"/>
          <a:stretch/>
        </p:blipFill>
        <p:spPr>
          <a:xfrm>
            <a:off x="8274176" y="74417"/>
            <a:ext cx="781550" cy="781550"/>
          </a:xfrm>
          <a:prstGeom prst="rect">
            <a:avLst/>
          </a:prstGeom>
          <a:noFill/>
          <a:ln>
            <a:noFill/>
          </a:ln>
        </p:spPr>
      </p:pic>
      <p:sp>
        <p:nvSpPr>
          <p:cNvPr id="230" name="Google Shape;230;p14"/>
          <p:cNvSpPr txBox="1"/>
          <p:nvPr/>
        </p:nvSpPr>
        <p:spPr>
          <a:xfrm>
            <a:off x="731527" y="461950"/>
            <a:ext cx="72378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chemeClr val="lt1"/>
                </a:solidFill>
                <a:latin typeface="Poppins SemiBold"/>
                <a:ea typeface="Poppins SemiBold"/>
                <a:cs typeface="Poppins SemiBold"/>
                <a:sym typeface="Poppins SemiBold"/>
              </a:rPr>
              <a:t>Async Execution Plan</a:t>
            </a:r>
            <a:endParaRPr b="0" i="0" sz="1900" u="none" cap="none" strike="noStrike">
              <a:solidFill>
                <a:schemeClr val="lt1"/>
              </a:solidFill>
              <a:latin typeface="Poppins SemiBold"/>
              <a:ea typeface="Poppins SemiBold"/>
              <a:cs typeface="Poppins SemiBold"/>
              <a:sym typeface="Poppins SemiBold"/>
            </a:endParaRPr>
          </a:p>
        </p:txBody>
      </p:sp>
      <p:sp>
        <p:nvSpPr>
          <p:cNvPr id="231" name="Google Shape;231;p14"/>
          <p:cNvSpPr txBox="1"/>
          <p:nvPr/>
        </p:nvSpPr>
        <p:spPr>
          <a:xfrm>
            <a:off x="731799" y="1014300"/>
            <a:ext cx="6047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30000"/>
              </a:lnSpc>
              <a:spcBef>
                <a:spcPts val="0"/>
              </a:spcBef>
              <a:spcAft>
                <a:spcPts val="0"/>
              </a:spcAft>
              <a:buClr>
                <a:srgbClr val="000000"/>
              </a:buClr>
              <a:buSzPts val="1400"/>
              <a:buFont typeface="Arial"/>
              <a:buNone/>
            </a:pPr>
            <a:r>
              <a:rPr b="0" i="0" lang="en" sz="1400" u="none" cap="none" strike="noStrike">
                <a:solidFill>
                  <a:schemeClr val="lt1"/>
                </a:solidFill>
                <a:latin typeface="Poppins"/>
                <a:ea typeface="Poppins"/>
                <a:cs typeface="Poppins"/>
                <a:sym typeface="Poppins"/>
              </a:rPr>
              <a:t>Use real project artifacts wherever possible</a:t>
            </a:r>
            <a:endParaRPr b="0" i="0" sz="1400" u="none" cap="none" strike="noStrike">
              <a:solidFill>
                <a:schemeClr val="lt1"/>
              </a:solidFill>
              <a:latin typeface="Poppins"/>
              <a:ea typeface="Poppins"/>
              <a:cs typeface="Poppins"/>
              <a:sym typeface="Poppins"/>
            </a:endParaRPr>
          </a:p>
        </p:txBody>
      </p:sp>
      <p:sp>
        <p:nvSpPr>
          <p:cNvPr id="232" name="Google Shape;232;p14"/>
          <p:cNvSpPr/>
          <p:nvPr/>
        </p:nvSpPr>
        <p:spPr>
          <a:xfrm>
            <a:off x="731788" y="1787075"/>
            <a:ext cx="2285100" cy="2197800"/>
          </a:xfrm>
          <a:prstGeom prst="roundRect">
            <a:avLst>
              <a:gd fmla="val 16667" name="adj"/>
            </a:avLst>
          </a:prstGeom>
          <a:solidFill>
            <a:srgbClr val="B45F06"/>
          </a:solidFill>
          <a:ln cap="flat" cmpd="sng" w="11075">
            <a:solidFill>
              <a:srgbClr val="FFD966"/>
            </a:solidFill>
            <a:prstDash val="solid"/>
            <a:round/>
            <a:headEnd len="sm" w="sm" type="none"/>
            <a:tailEnd len="sm" w="sm" type="none"/>
          </a:ln>
          <a:effectLst>
            <a:outerShdw blurRad="99744" rotWithShape="0" algn="bl" dir="3900000" dist="55414">
              <a:srgbClr val="000000">
                <a:alpha val="21176"/>
              </a:srgbClr>
            </a:outerShdw>
          </a:effectLst>
        </p:spPr>
        <p:txBody>
          <a:bodyPr anchorCtr="0" anchor="t" bIns="106375" lIns="106375" spcFirstLastPara="1" rIns="106375" wrap="square" tIns="106375">
            <a:noAutofit/>
          </a:bodyPr>
          <a:lstStyle/>
          <a:p>
            <a:pPr indent="0" lvl="0" marL="0" marR="0" rtl="0" algn="l">
              <a:lnSpc>
                <a:spcPct val="115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SESSION 1</a:t>
            </a:r>
            <a:endParaRPr b="1" i="0" sz="14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lt2"/>
                </a:solidFill>
                <a:latin typeface="Arial"/>
                <a:ea typeface="Arial"/>
                <a:cs typeface="Arial"/>
                <a:sym typeface="Arial"/>
              </a:rPr>
              <a:t>5 failed runs</a:t>
            </a:r>
            <a:endParaRPr b="0" i="0" sz="1200" u="none" cap="none" strike="noStrike">
              <a:solidFill>
                <a:schemeClr val="lt2"/>
              </a:solidFill>
              <a:latin typeface="Arial"/>
              <a:ea typeface="Arial"/>
              <a:cs typeface="Arial"/>
              <a:sym typeface="Arial"/>
            </a:endParaRPr>
          </a:p>
          <a:p>
            <a:pPr indent="0" lvl="0" marL="0" marR="0" rtl="0" algn="l">
              <a:lnSpc>
                <a:spcPct val="115000"/>
              </a:lnSpc>
              <a:spcBef>
                <a:spcPts val="1000"/>
              </a:spcBef>
              <a:spcAft>
                <a:spcPts val="0"/>
              </a:spcAft>
              <a:buClr>
                <a:srgbClr val="000000"/>
              </a:buClr>
              <a:buSzPts val="1200"/>
              <a:buFont typeface="Arial"/>
              <a:buNone/>
            </a:pPr>
            <a:r>
              <a:rPr b="0" i="0" lang="en" sz="1200" u="none" cap="none" strike="noStrike">
                <a:solidFill>
                  <a:schemeClr val="lt2"/>
                </a:solidFill>
                <a:latin typeface="Arial"/>
                <a:ea typeface="Arial"/>
                <a:cs typeface="Arial"/>
                <a:sym typeface="Arial"/>
              </a:rPr>
              <a:t>AI-assisted RCA</a:t>
            </a:r>
            <a:endParaRPr b="0" i="0" sz="1200" u="none" cap="none" strike="noStrike">
              <a:solidFill>
                <a:schemeClr val="lt2"/>
              </a:solidFill>
              <a:latin typeface="Arial"/>
              <a:ea typeface="Arial"/>
              <a:cs typeface="Arial"/>
              <a:sym typeface="Arial"/>
            </a:endParaRPr>
          </a:p>
          <a:p>
            <a:pPr indent="0" lvl="0" marL="0" marR="0" rtl="0" algn="l">
              <a:lnSpc>
                <a:spcPct val="115000"/>
              </a:lnSpc>
              <a:spcBef>
                <a:spcPts val="1000"/>
              </a:spcBef>
              <a:spcAft>
                <a:spcPts val="0"/>
              </a:spcAft>
              <a:buClr>
                <a:srgbClr val="000000"/>
              </a:buClr>
              <a:buSzPts val="1200"/>
              <a:buFont typeface="Arial"/>
              <a:buNone/>
            </a:pPr>
            <a:r>
              <a:rPr b="0" i="0" lang="en" sz="1200" u="none" cap="none" strike="noStrike">
                <a:solidFill>
                  <a:schemeClr val="lt2"/>
                </a:solidFill>
                <a:latin typeface="Arial"/>
                <a:ea typeface="Arial"/>
                <a:cs typeface="Arial"/>
                <a:sym typeface="Arial"/>
              </a:rPr>
              <a:t>Validate evidence</a:t>
            </a:r>
            <a:endParaRPr b="0" i="0" sz="1200" u="none" cap="none" strike="noStrike">
              <a:solidFill>
                <a:schemeClr val="lt2"/>
              </a:solidFill>
              <a:latin typeface="Arial"/>
              <a:ea typeface="Arial"/>
              <a:cs typeface="Arial"/>
              <a:sym typeface="Arial"/>
            </a:endParaRPr>
          </a:p>
          <a:p>
            <a:pPr indent="0" lvl="0" marL="0" marR="0" rtl="0" algn="l">
              <a:lnSpc>
                <a:spcPct val="115000"/>
              </a:lnSpc>
              <a:spcBef>
                <a:spcPts val="1000"/>
              </a:spcBef>
              <a:spcAft>
                <a:spcPts val="1000"/>
              </a:spcAft>
              <a:buClr>
                <a:srgbClr val="000000"/>
              </a:buClr>
              <a:buSzPts val="1200"/>
              <a:buFont typeface="Arial"/>
              <a:buNone/>
            </a:pPr>
            <a:r>
              <a:rPr b="0" i="0" lang="en" sz="1200" u="none" cap="none" strike="noStrike">
                <a:solidFill>
                  <a:schemeClr val="lt2"/>
                </a:solidFill>
                <a:latin typeface="Arial"/>
                <a:ea typeface="Arial"/>
                <a:cs typeface="Arial"/>
                <a:sym typeface="Arial"/>
              </a:rPr>
              <a:t>PDF report</a:t>
            </a:r>
            <a:endParaRPr b="0" i="0" sz="1200" u="none" cap="none" strike="noStrike">
              <a:solidFill>
                <a:schemeClr val="lt2"/>
              </a:solidFill>
              <a:latin typeface="Arial"/>
              <a:ea typeface="Arial"/>
              <a:cs typeface="Arial"/>
              <a:sym typeface="Arial"/>
            </a:endParaRPr>
          </a:p>
        </p:txBody>
      </p:sp>
      <p:sp>
        <p:nvSpPr>
          <p:cNvPr id="233" name="Google Shape;233;p14"/>
          <p:cNvSpPr/>
          <p:nvPr/>
        </p:nvSpPr>
        <p:spPr>
          <a:xfrm>
            <a:off x="3207891" y="1787088"/>
            <a:ext cx="2285100" cy="2197800"/>
          </a:xfrm>
          <a:prstGeom prst="roundRect">
            <a:avLst>
              <a:gd fmla="val 16667" name="adj"/>
            </a:avLst>
          </a:prstGeom>
          <a:solidFill>
            <a:srgbClr val="2D5FAA"/>
          </a:solidFill>
          <a:ln cap="flat" cmpd="sng" w="11075">
            <a:solidFill>
              <a:srgbClr val="FFD966"/>
            </a:solidFill>
            <a:prstDash val="solid"/>
            <a:round/>
            <a:headEnd len="sm" w="sm" type="none"/>
            <a:tailEnd len="sm" w="sm" type="none"/>
          </a:ln>
          <a:effectLst>
            <a:outerShdw blurRad="99744" rotWithShape="0" algn="bl" dir="3900000" dist="55414">
              <a:srgbClr val="000000">
                <a:alpha val="21176"/>
              </a:srgbClr>
            </a:outerShdw>
          </a:effectLst>
        </p:spPr>
        <p:txBody>
          <a:bodyPr anchorCtr="0" anchor="t" bIns="106375" lIns="106375" spcFirstLastPara="1" rIns="106375" wrap="square" tIns="106375">
            <a:noAutofit/>
          </a:bodyPr>
          <a:lstStyle/>
          <a:p>
            <a:pPr indent="0" lvl="0" marL="0" marR="0" rtl="0" algn="l">
              <a:lnSpc>
                <a:spcPct val="115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SESSION 2</a:t>
            </a:r>
            <a:endParaRPr b="1" i="0" sz="14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00"/>
              <a:buFont typeface="Arial"/>
              <a:buNone/>
            </a:pPr>
            <a:r>
              <a:t/>
            </a:r>
            <a:endParaRPr b="1" i="0" sz="14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lt1"/>
                </a:solidFill>
                <a:latin typeface="Arial"/>
                <a:ea typeface="Arial"/>
                <a:cs typeface="Arial"/>
                <a:sym typeface="Arial"/>
              </a:rPr>
              <a:t>Real ticket</a:t>
            </a:r>
            <a:endParaRPr b="0" i="0" sz="1200" u="none" cap="none" strike="noStrike">
              <a:solidFill>
                <a:schemeClr val="lt1"/>
              </a:solidFill>
              <a:latin typeface="Arial"/>
              <a:ea typeface="Arial"/>
              <a:cs typeface="Arial"/>
              <a:sym typeface="Arial"/>
            </a:endParaRPr>
          </a:p>
          <a:p>
            <a:pPr indent="0" lvl="0" marL="0" marR="0" rtl="0" algn="l">
              <a:lnSpc>
                <a:spcPct val="115000"/>
              </a:lnSpc>
              <a:spcBef>
                <a:spcPts val="1000"/>
              </a:spcBef>
              <a:spcAft>
                <a:spcPts val="0"/>
              </a:spcAft>
              <a:buClr>
                <a:srgbClr val="000000"/>
              </a:buClr>
              <a:buSzPts val="1200"/>
              <a:buFont typeface="Arial"/>
              <a:buNone/>
            </a:pPr>
            <a:r>
              <a:rPr b="0" i="0" lang="en" sz="1200" u="none" cap="none" strike="noStrike">
                <a:solidFill>
                  <a:schemeClr val="lt1"/>
                </a:solidFill>
                <a:latin typeface="Arial"/>
                <a:ea typeface="Arial"/>
                <a:cs typeface="Arial"/>
                <a:sym typeface="Arial"/>
              </a:rPr>
              <a:t>Generate test</a:t>
            </a:r>
            <a:endParaRPr b="0" i="0" sz="1200" u="none" cap="none" strike="noStrike">
              <a:solidFill>
                <a:schemeClr val="lt1"/>
              </a:solidFill>
              <a:latin typeface="Arial"/>
              <a:ea typeface="Arial"/>
              <a:cs typeface="Arial"/>
              <a:sym typeface="Arial"/>
            </a:endParaRPr>
          </a:p>
          <a:p>
            <a:pPr indent="0" lvl="0" marL="0" marR="0" rtl="0" algn="l">
              <a:lnSpc>
                <a:spcPct val="115000"/>
              </a:lnSpc>
              <a:spcBef>
                <a:spcPts val="1000"/>
              </a:spcBef>
              <a:spcAft>
                <a:spcPts val="0"/>
              </a:spcAft>
              <a:buClr>
                <a:srgbClr val="000000"/>
              </a:buClr>
              <a:buSzPts val="1200"/>
              <a:buFont typeface="Arial"/>
              <a:buNone/>
            </a:pPr>
            <a:r>
              <a:rPr b="0" i="0" lang="en" sz="1200" u="none" cap="none" strike="noStrike">
                <a:solidFill>
                  <a:schemeClr val="lt1"/>
                </a:solidFill>
                <a:latin typeface="Arial"/>
                <a:ea typeface="Arial"/>
                <a:cs typeface="Arial"/>
                <a:sym typeface="Arial"/>
              </a:rPr>
              <a:t>Execute</a:t>
            </a:r>
            <a:endParaRPr b="0" i="0" sz="1200" u="none" cap="none" strike="noStrike">
              <a:solidFill>
                <a:schemeClr val="lt1"/>
              </a:solidFill>
              <a:latin typeface="Arial"/>
              <a:ea typeface="Arial"/>
              <a:cs typeface="Arial"/>
              <a:sym typeface="Arial"/>
            </a:endParaRPr>
          </a:p>
          <a:p>
            <a:pPr indent="0" lvl="0" marL="0" marR="0" rtl="0" algn="l">
              <a:lnSpc>
                <a:spcPct val="115000"/>
              </a:lnSpc>
              <a:spcBef>
                <a:spcPts val="1000"/>
              </a:spcBef>
              <a:spcAft>
                <a:spcPts val="1000"/>
              </a:spcAft>
              <a:buClr>
                <a:srgbClr val="000000"/>
              </a:buClr>
              <a:buSzPts val="1200"/>
              <a:buFont typeface="Arial"/>
              <a:buNone/>
            </a:pPr>
            <a:r>
              <a:rPr b="0" i="0" lang="en" sz="1200" u="none" cap="none" strike="noStrike">
                <a:solidFill>
                  <a:schemeClr val="lt1"/>
                </a:solidFill>
                <a:latin typeface="Arial"/>
                <a:ea typeface="Arial"/>
                <a:cs typeface="Arial"/>
                <a:sym typeface="Arial"/>
              </a:rPr>
              <a:t>Document fixes/rejections</a:t>
            </a:r>
            <a:endParaRPr b="0" i="0" sz="1200" u="none" cap="none" strike="noStrike">
              <a:solidFill>
                <a:schemeClr val="lt1"/>
              </a:solidFill>
              <a:latin typeface="Arial"/>
              <a:ea typeface="Arial"/>
              <a:cs typeface="Arial"/>
              <a:sym typeface="Arial"/>
            </a:endParaRPr>
          </a:p>
        </p:txBody>
      </p:sp>
      <p:sp>
        <p:nvSpPr>
          <p:cNvPr id="234" name="Google Shape;234;p14"/>
          <p:cNvSpPr/>
          <p:nvPr/>
        </p:nvSpPr>
        <p:spPr>
          <a:xfrm>
            <a:off x="5683992" y="1787088"/>
            <a:ext cx="2285100" cy="2197800"/>
          </a:xfrm>
          <a:prstGeom prst="roundRect">
            <a:avLst>
              <a:gd fmla="val 16667" name="adj"/>
            </a:avLst>
          </a:prstGeom>
          <a:solidFill>
            <a:srgbClr val="4C1130"/>
          </a:solidFill>
          <a:ln cap="flat" cmpd="sng" w="11075">
            <a:solidFill>
              <a:srgbClr val="FFD966"/>
            </a:solidFill>
            <a:prstDash val="solid"/>
            <a:round/>
            <a:headEnd len="sm" w="sm" type="none"/>
            <a:tailEnd len="sm" w="sm" type="none"/>
          </a:ln>
          <a:effectLst>
            <a:outerShdw blurRad="99744" rotWithShape="0" algn="bl" dir="3900000" dist="55414">
              <a:srgbClr val="000000">
                <a:alpha val="21176"/>
              </a:srgbClr>
            </a:outerShdw>
          </a:effectLst>
        </p:spPr>
        <p:txBody>
          <a:bodyPr anchorCtr="0" anchor="t" bIns="106375" lIns="106375" spcFirstLastPara="1" rIns="106375" wrap="square" tIns="106375">
            <a:noAutofit/>
          </a:bodyPr>
          <a:lstStyle/>
          <a:p>
            <a:pPr indent="0" lvl="0" marL="0" marR="0" rtl="0" algn="l">
              <a:lnSpc>
                <a:spcPct val="115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SESSION 3</a:t>
            </a:r>
            <a:endParaRPr b="1" i="0" sz="14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00"/>
              <a:buFont typeface="Arial"/>
              <a:buNone/>
            </a:pPr>
            <a:r>
              <a:t/>
            </a:r>
            <a:endParaRPr b="1" i="0" sz="14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lt1"/>
                </a:solidFill>
                <a:latin typeface="Arial"/>
                <a:ea typeface="Arial"/>
                <a:cs typeface="Arial"/>
                <a:sym typeface="Arial"/>
              </a:rPr>
              <a:t>PR + regression suite</a:t>
            </a:r>
            <a:endParaRPr b="0" i="0" sz="12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lt1"/>
                </a:solidFill>
                <a:latin typeface="Arial"/>
                <a:ea typeface="Arial"/>
                <a:cs typeface="Arial"/>
                <a:sym typeface="Arial"/>
              </a:rPr>
              <a:t>Prioritize tests</a:t>
            </a:r>
            <a:endParaRPr b="0" i="0" sz="12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lt1"/>
                </a:solidFill>
                <a:latin typeface="Arial"/>
                <a:ea typeface="Arial"/>
                <a:cs typeface="Arial"/>
                <a:sym typeface="Arial"/>
              </a:rPr>
              <a:t>Find gaps</a:t>
            </a:r>
            <a:endParaRPr b="0" i="0" sz="12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lt1"/>
                </a:solidFill>
                <a:latin typeface="Arial"/>
                <a:ea typeface="Arial"/>
                <a:cs typeface="Arial"/>
                <a:sym typeface="Arial"/>
              </a:rPr>
              <a:t>Validate diff + requirements</a:t>
            </a:r>
            <a:endParaRPr b="0" i="0" sz="12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0" st="0"/>
                                            </p:txEl>
                                          </p:spTgt>
                                        </p:tgtEl>
                                        <p:attrNameLst>
                                          <p:attrName>style.visibility</p:attrName>
                                        </p:attrNameLst>
                                      </p:cBhvr>
                                      <p:to>
                                        <p:strVal val="visible"/>
                                      </p:to>
                                    </p:set>
                                    <p:animEffect filter="fade" transition="in">
                                      <p:cBhvr>
                                        <p:cTn dur="1"/>
                                        <p:tgtEl>
                                          <p:spTgt spid="23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1" st="1"/>
                                            </p:txEl>
                                          </p:spTgt>
                                        </p:tgtEl>
                                        <p:attrNameLst>
                                          <p:attrName>style.visibility</p:attrName>
                                        </p:attrNameLst>
                                      </p:cBhvr>
                                      <p:to>
                                        <p:strVal val="visible"/>
                                      </p:to>
                                    </p:set>
                                    <p:animEffect filter="fade" transition="in">
                                      <p:cBhvr>
                                        <p:cTn dur="1"/>
                                        <p:tgtEl>
                                          <p:spTgt spid="23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2" st="2"/>
                                            </p:txEl>
                                          </p:spTgt>
                                        </p:tgtEl>
                                        <p:attrNameLst>
                                          <p:attrName>style.visibility</p:attrName>
                                        </p:attrNameLst>
                                      </p:cBhvr>
                                      <p:to>
                                        <p:strVal val="visible"/>
                                      </p:to>
                                    </p:set>
                                    <p:animEffect filter="fade" transition="in">
                                      <p:cBhvr>
                                        <p:cTn dur="1"/>
                                        <p:tgtEl>
                                          <p:spTgt spid="23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3" st="3"/>
                                            </p:txEl>
                                          </p:spTgt>
                                        </p:tgtEl>
                                        <p:attrNameLst>
                                          <p:attrName>style.visibility</p:attrName>
                                        </p:attrNameLst>
                                      </p:cBhvr>
                                      <p:to>
                                        <p:strVal val="visible"/>
                                      </p:to>
                                    </p:set>
                                    <p:animEffect filter="fade" transition="in">
                                      <p:cBhvr>
                                        <p:cTn dur="1"/>
                                        <p:tgtEl>
                                          <p:spTgt spid="23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4" st="4"/>
                                            </p:txEl>
                                          </p:spTgt>
                                        </p:tgtEl>
                                        <p:attrNameLst>
                                          <p:attrName>style.visibility</p:attrName>
                                        </p:attrNameLst>
                                      </p:cBhvr>
                                      <p:to>
                                        <p:strVal val="visible"/>
                                      </p:to>
                                    </p:set>
                                    <p:animEffect filter="fade" transition="in">
                                      <p:cBhvr>
                                        <p:cTn dur="1"/>
                                        <p:tgtEl>
                                          <p:spTgt spid="23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5" st="5"/>
                                            </p:txEl>
                                          </p:spTgt>
                                        </p:tgtEl>
                                        <p:attrNameLst>
                                          <p:attrName>style.visibility</p:attrName>
                                        </p:attrNameLst>
                                      </p:cBhvr>
                                      <p:to>
                                        <p:strVal val="visible"/>
                                      </p:to>
                                    </p:set>
                                    <p:animEffect filter="fade" transition="in">
                                      <p:cBhvr>
                                        <p:cTn dur="1"/>
                                        <p:tgtEl>
                                          <p:spTgt spid="23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0" st="0"/>
                                            </p:txEl>
                                          </p:spTgt>
                                        </p:tgtEl>
                                        <p:attrNameLst>
                                          <p:attrName>style.visibility</p:attrName>
                                        </p:attrNameLst>
                                      </p:cBhvr>
                                      <p:to>
                                        <p:strVal val="visible"/>
                                      </p:to>
                                    </p:set>
                                    <p:animEffect filter="fade" transition="in">
                                      <p:cBhvr>
                                        <p:cTn dur="1000"/>
                                        <p:tgtEl>
                                          <p:spTgt spid="2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1" st="1"/>
                                            </p:txEl>
                                          </p:spTgt>
                                        </p:tgtEl>
                                        <p:attrNameLst>
                                          <p:attrName>style.visibility</p:attrName>
                                        </p:attrNameLst>
                                      </p:cBhvr>
                                      <p:to>
                                        <p:strVal val="visible"/>
                                      </p:to>
                                    </p:set>
                                    <p:animEffect filter="fade" transition="in">
                                      <p:cBhvr>
                                        <p:cTn dur="1000"/>
                                        <p:tgtEl>
                                          <p:spTgt spid="23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2" st="2"/>
                                            </p:txEl>
                                          </p:spTgt>
                                        </p:tgtEl>
                                        <p:attrNameLst>
                                          <p:attrName>style.visibility</p:attrName>
                                        </p:attrNameLst>
                                      </p:cBhvr>
                                      <p:to>
                                        <p:strVal val="visible"/>
                                      </p:to>
                                    </p:set>
                                    <p:animEffect filter="fade" transition="in">
                                      <p:cBhvr>
                                        <p:cTn dur="1000"/>
                                        <p:tgtEl>
                                          <p:spTgt spid="23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3" st="3"/>
                                            </p:txEl>
                                          </p:spTgt>
                                        </p:tgtEl>
                                        <p:attrNameLst>
                                          <p:attrName>style.visibility</p:attrName>
                                        </p:attrNameLst>
                                      </p:cBhvr>
                                      <p:to>
                                        <p:strVal val="visible"/>
                                      </p:to>
                                    </p:set>
                                    <p:animEffect filter="fade" transition="in">
                                      <p:cBhvr>
                                        <p:cTn dur="1000"/>
                                        <p:tgtEl>
                                          <p:spTgt spid="23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4" st="4"/>
                                            </p:txEl>
                                          </p:spTgt>
                                        </p:tgtEl>
                                        <p:attrNameLst>
                                          <p:attrName>style.visibility</p:attrName>
                                        </p:attrNameLst>
                                      </p:cBhvr>
                                      <p:to>
                                        <p:strVal val="visible"/>
                                      </p:to>
                                    </p:set>
                                    <p:animEffect filter="fade" transition="in">
                                      <p:cBhvr>
                                        <p:cTn dur="1000"/>
                                        <p:tgtEl>
                                          <p:spTgt spid="23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5" st="5"/>
                                            </p:txEl>
                                          </p:spTgt>
                                        </p:tgtEl>
                                        <p:attrNameLst>
                                          <p:attrName>style.visibility</p:attrName>
                                        </p:attrNameLst>
                                      </p:cBhvr>
                                      <p:to>
                                        <p:strVal val="visible"/>
                                      </p:to>
                                    </p:set>
                                    <p:animEffect filter="fade" transition="in">
                                      <p:cBhvr>
                                        <p:cTn dur="1000"/>
                                        <p:tgtEl>
                                          <p:spTgt spid="23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1000"/>
                                        <p:tgtEl>
                                          <p:spTgt spid="2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238" name="Shape 238"/>
        <p:cNvGrpSpPr/>
        <p:nvPr/>
      </p:nvGrpSpPr>
      <p:grpSpPr>
        <a:xfrm>
          <a:off x="0" y="0"/>
          <a:ext cx="0" cy="0"/>
          <a:chOff x="0" y="0"/>
          <a:chExt cx="0" cy="0"/>
        </a:xfrm>
      </p:grpSpPr>
      <p:pic>
        <p:nvPicPr>
          <p:cNvPr id="239" name="Google Shape;239;p15"/>
          <p:cNvPicPr preferRelativeResize="0"/>
          <p:nvPr/>
        </p:nvPicPr>
        <p:blipFill rotWithShape="1">
          <a:blip r:embed="rId3">
            <a:alphaModFix amt="5000"/>
          </a:blip>
          <a:srcRect b="0" l="0" r="0" t="0"/>
          <a:stretch/>
        </p:blipFill>
        <p:spPr>
          <a:xfrm>
            <a:off x="3592905" y="-647761"/>
            <a:ext cx="5662948" cy="6097674"/>
          </a:xfrm>
          <a:prstGeom prst="rect">
            <a:avLst/>
          </a:prstGeom>
          <a:noFill/>
          <a:ln>
            <a:noFill/>
          </a:ln>
        </p:spPr>
      </p:pic>
      <p:pic>
        <p:nvPicPr>
          <p:cNvPr id="240" name="Google Shape;240;p15"/>
          <p:cNvPicPr preferRelativeResize="0"/>
          <p:nvPr/>
        </p:nvPicPr>
        <p:blipFill rotWithShape="1">
          <a:blip r:embed="rId4">
            <a:alphaModFix/>
          </a:blip>
          <a:srcRect b="0" l="0" r="0" t="0"/>
          <a:stretch/>
        </p:blipFill>
        <p:spPr>
          <a:xfrm>
            <a:off x="147800" y="4833018"/>
            <a:ext cx="781539" cy="182880"/>
          </a:xfrm>
          <a:prstGeom prst="rect">
            <a:avLst/>
          </a:prstGeom>
          <a:noFill/>
          <a:ln>
            <a:noFill/>
          </a:ln>
        </p:spPr>
      </p:pic>
      <p:sp>
        <p:nvSpPr>
          <p:cNvPr id="241" name="Google Shape;241;p15"/>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242" name="Google Shape;242;p15"/>
          <p:cNvPicPr preferRelativeResize="0"/>
          <p:nvPr/>
        </p:nvPicPr>
        <p:blipFill rotWithShape="1">
          <a:blip r:embed="rId6">
            <a:alphaModFix/>
          </a:blip>
          <a:srcRect b="0" l="0" r="0" t="0"/>
          <a:stretch/>
        </p:blipFill>
        <p:spPr>
          <a:xfrm>
            <a:off x="8274176" y="74417"/>
            <a:ext cx="781550" cy="781550"/>
          </a:xfrm>
          <a:prstGeom prst="rect">
            <a:avLst/>
          </a:prstGeom>
          <a:noFill/>
          <a:ln>
            <a:noFill/>
          </a:ln>
        </p:spPr>
      </p:pic>
      <p:sp>
        <p:nvSpPr>
          <p:cNvPr id="243" name="Google Shape;243;p15"/>
          <p:cNvSpPr txBox="1"/>
          <p:nvPr/>
        </p:nvSpPr>
        <p:spPr>
          <a:xfrm>
            <a:off x="731527" y="461950"/>
            <a:ext cx="72378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chemeClr val="lt1"/>
                </a:solidFill>
                <a:latin typeface="Poppins SemiBold"/>
                <a:ea typeface="Poppins SemiBold"/>
                <a:cs typeface="Poppins SemiBold"/>
                <a:sym typeface="Poppins SemiBold"/>
              </a:rPr>
              <a:t>Week 3 Gate</a:t>
            </a:r>
            <a:endParaRPr b="0" i="0" sz="1900" u="none" cap="none" strike="noStrike">
              <a:solidFill>
                <a:schemeClr val="lt1"/>
              </a:solidFill>
              <a:latin typeface="Poppins SemiBold"/>
              <a:ea typeface="Poppins SemiBold"/>
              <a:cs typeface="Poppins SemiBold"/>
              <a:sym typeface="Poppins SemiBold"/>
            </a:endParaRPr>
          </a:p>
        </p:txBody>
      </p:sp>
      <p:sp>
        <p:nvSpPr>
          <p:cNvPr id="244" name="Google Shape;244;p15"/>
          <p:cNvSpPr txBox="1"/>
          <p:nvPr/>
        </p:nvSpPr>
        <p:spPr>
          <a:xfrm>
            <a:off x="731799" y="1014300"/>
            <a:ext cx="6047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30000"/>
              </a:lnSpc>
              <a:spcBef>
                <a:spcPts val="0"/>
              </a:spcBef>
              <a:spcAft>
                <a:spcPts val="0"/>
              </a:spcAft>
              <a:buClr>
                <a:srgbClr val="000000"/>
              </a:buClr>
              <a:buSzPts val="1400"/>
              <a:buFont typeface="Arial"/>
              <a:buNone/>
            </a:pPr>
            <a:r>
              <a:rPr b="0" i="0" lang="en" sz="1400" u="none" cap="none" strike="noStrike">
                <a:solidFill>
                  <a:schemeClr val="lt1"/>
                </a:solidFill>
                <a:latin typeface="Poppins"/>
                <a:ea typeface="Poppins"/>
                <a:cs typeface="Poppins"/>
                <a:sym typeface="Poppins"/>
              </a:rPr>
              <a:t>Coach reviews the full packet — not just the outputs</a:t>
            </a:r>
            <a:endParaRPr b="0" i="0" sz="1400" u="none" cap="none" strike="noStrike">
              <a:solidFill>
                <a:schemeClr val="lt1"/>
              </a:solidFill>
              <a:latin typeface="Poppins"/>
              <a:ea typeface="Poppins"/>
              <a:cs typeface="Poppins"/>
              <a:sym typeface="Poppins"/>
            </a:endParaRPr>
          </a:p>
        </p:txBody>
      </p:sp>
      <p:sp>
        <p:nvSpPr>
          <p:cNvPr id="245" name="Google Shape;245;p15"/>
          <p:cNvSpPr/>
          <p:nvPr/>
        </p:nvSpPr>
        <p:spPr>
          <a:xfrm>
            <a:off x="860475" y="1568525"/>
            <a:ext cx="3515100" cy="3030000"/>
          </a:xfrm>
          <a:prstGeom prst="roundRect">
            <a:avLst>
              <a:gd fmla="val 16667" name="adj"/>
            </a:avLst>
          </a:prstGeom>
          <a:solidFill>
            <a:srgbClr val="B45F06"/>
          </a:solidFill>
          <a:ln cap="flat" cmpd="sng" w="11075">
            <a:solidFill>
              <a:srgbClr val="FFD966"/>
            </a:solidFill>
            <a:prstDash val="solid"/>
            <a:round/>
            <a:headEnd len="sm" w="sm" type="none"/>
            <a:tailEnd len="sm" w="sm" type="none"/>
          </a:ln>
          <a:effectLst>
            <a:outerShdw blurRad="99744" rotWithShape="0" algn="bl" dir="3900000" dist="55414">
              <a:srgbClr val="000000">
                <a:alpha val="21176"/>
              </a:srgbClr>
            </a:outerShdw>
          </a:effectLst>
        </p:spPr>
        <p:txBody>
          <a:bodyPr anchorCtr="0" anchor="t" bIns="106375" lIns="106375" spcFirstLastPara="1" rIns="106375" wrap="square" tIns="106375">
            <a:noAutofit/>
          </a:bodyPr>
          <a:lstStyle/>
          <a:p>
            <a:pPr indent="0" lvl="0" marL="0" marR="0" rtl="0" algn="l">
              <a:lnSpc>
                <a:spcPct val="115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Required</a:t>
            </a:r>
            <a:endParaRPr b="1" i="0" sz="14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lt2"/>
                </a:solidFill>
                <a:latin typeface="Arial"/>
                <a:ea typeface="Arial"/>
                <a:cs typeface="Arial"/>
                <a:sym typeface="Arial"/>
              </a:rPr>
              <a:t>✓ Tracker complete</a:t>
            </a:r>
            <a:endParaRPr b="0" i="0" sz="1200" u="none" cap="none" strike="noStrike">
              <a:solidFill>
                <a:schemeClr val="lt2"/>
              </a:solidFill>
              <a:latin typeface="Arial"/>
              <a:ea typeface="Arial"/>
              <a:cs typeface="Arial"/>
              <a:sym typeface="Arial"/>
            </a:endParaRPr>
          </a:p>
          <a:p>
            <a:pPr indent="0" lvl="0" marL="0" marR="0" rtl="0" algn="l">
              <a:lnSpc>
                <a:spcPct val="115000"/>
              </a:lnSpc>
              <a:spcBef>
                <a:spcPts val="1000"/>
              </a:spcBef>
              <a:spcAft>
                <a:spcPts val="0"/>
              </a:spcAft>
              <a:buClr>
                <a:srgbClr val="000000"/>
              </a:buClr>
              <a:buSzPts val="1200"/>
              <a:buFont typeface="Arial"/>
              <a:buNone/>
            </a:pPr>
            <a:r>
              <a:rPr b="0" i="0" lang="en" sz="1200" u="none" cap="none" strike="noStrike">
                <a:solidFill>
                  <a:schemeClr val="lt2"/>
                </a:solidFill>
                <a:latin typeface="Arial"/>
                <a:ea typeface="Arial"/>
                <a:cs typeface="Arial"/>
                <a:sym typeface="Arial"/>
              </a:rPr>
              <a:t>✓ RCA PDF</a:t>
            </a:r>
            <a:endParaRPr b="0" i="0" sz="1200" u="none" cap="none" strike="noStrike">
              <a:solidFill>
                <a:schemeClr val="lt2"/>
              </a:solidFill>
              <a:latin typeface="Arial"/>
              <a:ea typeface="Arial"/>
              <a:cs typeface="Arial"/>
              <a:sym typeface="Arial"/>
            </a:endParaRPr>
          </a:p>
          <a:p>
            <a:pPr indent="0" lvl="0" marL="0" marR="0" rtl="0" algn="l">
              <a:lnSpc>
                <a:spcPct val="115000"/>
              </a:lnSpc>
              <a:spcBef>
                <a:spcPts val="1000"/>
              </a:spcBef>
              <a:spcAft>
                <a:spcPts val="0"/>
              </a:spcAft>
              <a:buClr>
                <a:srgbClr val="000000"/>
              </a:buClr>
              <a:buSzPts val="1200"/>
              <a:buFont typeface="Arial"/>
              <a:buNone/>
            </a:pPr>
            <a:r>
              <a:rPr b="0" i="0" lang="en" sz="1200" u="none" cap="none" strike="noStrike">
                <a:solidFill>
                  <a:schemeClr val="lt2"/>
                </a:solidFill>
                <a:latin typeface="Arial"/>
                <a:ea typeface="Arial"/>
                <a:cs typeface="Arial"/>
                <a:sym typeface="Arial"/>
              </a:rPr>
              <a:t>✓ Executed AI-assisted test + evidence</a:t>
            </a:r>
            <a:endParaRPr b="0" i="0" sz="1200" u="none" cap="none" strike="noStrike">
              <a:solidFill>
                <a:schemeClr val="lt2"/>
              </a:solidFill>
              <a:latin typeface="Arial"/>
              <a:ea typeface="Arial"/>
              <a:cs typeface="Arial"/>
              <a:sym typeface="Arial"/>
            </a:endParaRPr>
          </a:p>
          <a:p>
            <a:pPr indent="0" lvl="0" marL="0" marR="0" rtl="0" algn="l">
              <a:lnSpc>
                <a:spcPct val="115000"/>
              </a:lnSpc>
              <a:spcBef>
                <a:spcPts val="1000"/>
              </a:spcBef>
              <a:spcAft>
                <a:spcPts val="0"/>
              </a:spcAft>
              <a:buClr>
                <a:srgbClr val="000000"/>
              </a:buClr>
              <a:buSzPts val="1200"/>
              <a:buFont typeface="Arial"/>
              <a:buNone/>
            </a:pPr>
            <a:r>
              <a:rPr b="0" i="0" lang="en" sz="1200" u="none" cap="none" strike="noStrike">
                <a:solidFill>
                  <a:schemeClr val="lt2"/>
                </a:solidFill>
                <a:latin typeface="Arial"/>
                <a:ea typeface="Arial"/>
                <a:cs typeface="Arial"/>
                <a:sym typeface="Arial"/>
              </a:rPr>
              <a:t>✓ Regression + coverage report</a:t>
            </a:r>
            <a:endParaRPr b="0" i="0" sz="1200" u="none" cap="none" strike="noStrike">
              <a:solidFill>
                <a:schemeClr val="lt2"/>
              </a:solidFill>
              <a:latin typeface="Arial"/>
              <a:ea typeface="Arial"/>
              <a:cs typeface="Arial"/>
              <a:sym typeface="Arial"/>
            </a:endParaRPr>
          </a:p>
          <a:p>
            <a:pPr indent="0" lvl="0" marL="0" marR="0" rtl="0" algn="l">
              <a:lnSpc>
                <a:spcPct val="115000"/>
              </a:lnSpc>
              <a:spcBef>
                <a:spcPts val="1000"/>
              </a:spcBef>
              <a:spcAft>
                <a:spcPts val="0"/>
              </a:spcAft>
              <a:buClr>
                <a:srgbClr val="000000"/>
              </a:buClr>
              <a:buSzPts val="1200"/>
              <a:buFont typeface="Arial"/>
              <a:buNone/>
            </a:pPr>
            <a:r>
              <a:rPr b="0" i="0" lang="en" sz="1200" u="none" cap="none" strike="noStrike">
                <a:solidFill>
                  <a:schemeClr val="lt2"/>
                </a:solidFill>
                <a:latin typeface="Arial"/>
                <a:ea typeface="Arial"/>
                <a:cs typeface="Arial"/>
                <a:sym typeface="Arial"/>
              </a:rPr>
              <a:t>✓ Loom video link</a:t>
            </a:r>
            <a:endParaRPr b="0" i="0" sz="1200" u="none" cap="none" strike="noStrike">
              <a:solidFill>
                <a:schemeClr val="lt2"/>
              </a:solidFill>
              <a:latin typeface="Arial"/>
              <a:ea typeface="Arial"/>
              <a:cs typeface="Arial"/>
              <a:sym typeface="Arial"/>
            </a:endParaRPr>
          </a:p>
          <a:p>
            <a:pPr indent="0" lvl="0" marL="0" marR="0" rtl="0" algn="l">
              <a:lnSpc>
                <a:spcPct val="115000"/>
              </a:lnSpc>
              <a:spcBef>
                <a:spcPts val="1000"/>
              </a:spcBef>
              <a:spcAft>
                <a:spcPts val="1000"/>
              </a:spcAft>
              <a:buClr>
                <a:srgbClr val="000000"/>
              </a:buClr>
              <a:buSzPts val="1200"/>
              <a:buFont typeface="Arial"/>
              <a:buNone/>
            </a:pPr>
            <a:r>
              <a:rPr b="0" i="0" lang="en" sz="1200" u="none" cap="none" strike="noStrike">
                <a:solidFill>
                  <a:schemeClr val="lt2"/>
                </a:solidFill>
                <a:latin typeface="Arial"/>
                <a:ea typeface="Arial"/>
                <a:cs typeface="Arial"/>
                <a:sym typeface="Arial"/>
              </a:rPr>
              <a:t>✓ Drive folder complete</a:t>
            </a:r>
            <a:endParaRPr b="0" i="0" sz="1200" u="none" cap="none" strike="noStrike">
              <a:solidFill>
                <a:schemeClr val="lt2"/>
              </a:solidFill>
              <a:latin typeface="Arial"/>
              <a:ea typeface="Arial"/>
              <a:cs typeface="Arial"/>
              <a:sym typeface="Arial"/>
            </a:endParaRPr>
          </a:p>
        </p:txBody>
      </p:sp>
      <p:sp>
        <p:nvSpPr>
          <p:cNvPr id="246" name="Google Shape;246;p15"/>
          <p:cNvSpPr/>
          <p:nvPr/>
        </p:nvSpPr>
        <p:spPr>
          <a:xfrm>
            <a:off x="4818925" y="1568525"/>
            <a:ext cx="3515100" cy="3030000"/>
          </a:xfrm>
          <a:prstGeom prst="roundRect">
            <a:avLst>
              <a:gd fmla="val 16667" name="adj"/>
            </a:avLst>
          </a:prstGeom>
          <a:solidFill>
            <a:srgbClr val="2D5FAA"/>
          </a:solidFill>
          <a:ln cap="flat" cmpd="sng" w="11075">
            <a:solidFill>
              <a:srgbClr val="FFD966"/>
            </a:solidFill>
            <a:prstDash val="solid"/>
            <a:round/>
            <a:headEnd len="sm" w="sm" type="none"/>
            <a:tailEnd len="sm" w="sm" type="none"/>
          </a:ln>
          <a:effectLst>
            <a:outerShdw blurRad="99744" rotWithShape="0" algn="bl" dir="3900000" dist="55414">
              <a:srgbClr val="000000">
                <a:alpha val="21176"/>
              </a:srgbClr>
            </a:outerShdw>
          </a:effectLst>
        </p:spPr>
        <p:txBody>
          <a:bodyPr anchorCtr="0" anchor="t" bIns="106375" lIns="106375" spcFirstLastPara="1" rIns="106375" wrap="square" tIns="106375">
            <a:noAutofit/>
          </a:bodyPr>
          <a:lstStyle/>
          <a:p>
            <a:pPr indent="0" lvl="0" marL="0" marR="0" rtl="0" algn="l">
              <a:lnSpc>
                <a:spcPct val="115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Pass Criteria</a:t>
            </a:r>
            <a:endParaRPr b="1" i="0" sz="14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00"/>
              <a:buFont typeface="Arial"/>
              <a:buNone/>
            </a:pPr>
            <a:r>
              <a:t/>
            </a:r>
            <a:endParaRPr b="1" i="0" sz="14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lt2"/>
                </a:solidFill>
                <a:latin typeface="Arial"/>
                <a:ea typeface="Arial"/>
                <a:cs typeface="Arial"/>
                <a:sym typeface="Arial"/>
              </a:rPr>
              <a:t>✓ ≥3 L3 skills on real work</a:t>
            </a:r>
            <a:endParaRPr b="0" i="0" sz="1200" u="none" cap="none" strike="noStrike">
              <a:solidFill>
                <a:schemeClr val="lt2"/>
              </a:solidFill>
              <a:latin typeface="Arial"/>
              <a:ea typeface="Arial"/>
              <a:cs typeface="Arial"/>
              <a:sym typeface="Arial"/>
            </a:endParaRPr>
          </a:p>
          <a:p>
            <a:pPr indent="0" lvl="0" marL="0" marR="0" rtl="0" algn="l">
              <a:lnSpc>
                <a:spcPct val="115000"/>
              </a:lnSpc>
              <a:spcBef>
                <a:spcPts val="1000"/>
              </a:spcBef>
              <a:spcAft>
                <a:spcPts val="0"/>
              </a:spcAft>
              <a:buClr>
                <a:srgbClr val="000000"/>
              </a:buClr>
              <a:buSzPts val="1200"/>
              <a:buFont typeface="Arial"/>
              <a:buNone/>
            </a:pPr>
            <a:r>
              <a:rPr b="0" i="0" lang="en" sz="1200" u="none" cap="none" strike="noStrike">
                <a:solidFill>
                  <a:schemeClr val="lt2"/>
                </a:solidFill>
                <a:latin typeface="Arial"/>
                <a:ea typeface="Arial"/>
                <a:cs typeface="Arial"/>
                <a:sym typeface="Arial"/>
              </a:rPr>
              <a:t>✓ AI test generated + reviewed</a:t>
            </a:r>
            <a:endParaRPr b="0" i="0" sz="1200" u="none" cap="none" strike="noStrike">
              <a:solidFill>
                <a:schemeClr val="lt2"/>
              </a:solidFill>
              <a:latin typeface="Arial"/>
              <a:ea typeface="Arial"/>
              <a:cs typeface="Arial"/>
              <a:sym typeface="Arial"/>
            </a:endParaRPr>
          </a:p>
          <a:p>
            <a:pPr indent="0" lvl="0" marL="0" marR="0" rtl="0" algn="l">
              <a:lnSpc>
                <a:spcPct val="115000"/>
              </a:lnSpc>
              <a:spcBef>
                <a:spcPts val="1000"/>
              </a:spcBef>
              <a:spcAft>
                <a:spcPts val="0"/>
              </a:spcAft>
              <a:buClr>
                <a:srgbClr val="000000"/>
              </a:buClr>
              <a:buSzPts val="1200"/>
              <a:buFont typeface="Arial"/>
              <a:buNone/>
            </a:pPr>
            <a:r>
              <a:rPr b="0" i="0" lang="en" sz="1200" u="none" cap="none" strike="noStrike">
                <a:solidFill>
                  <a:schemeClr val="lt2"/>
                </a:solidFill>
                <a:latin typeface="Arial"/>
                <a:ea typeface="Arial"/>
                <a:cs typeface="Arial"/>
                <a:sym typeface="Arial"/>
              </a:rPr>
              <a:t>✓ Validation checklist still in daily use</a:t>
            </a:r>
            <a:endParaRPr b="0" i="0" sz="1200" u="none" cap="none" strike="noStrike">
              <a:solidFill>
                <a:schemeClr val="lt2"/>
              </a:solidFill>
              <a:latin typeface="Arial"/>
              <a:ea typeface="Arial"/>
              <a:cs typeface="Arial"/>
              <a:sym typeface="Arial"/>
            </a:endParaRPr>
          </a:p>
          <a:p>
            <a:pPr indent="0" lvl="0" marL="0" marR="0" rtl="0" algn="l">
              <a:lnSpc>
                <a:spcPct val="115000"/>
              </a:lnSpc>
              <a:spcBef>
                <a:spcPts val="1000"/>
              </a:spcBef>
              <a:spcAft>
                <a:spcPts val="0"/>
              </a:spcAft>
              <a:buClr>
                <a:srgbClr val="000000"/>
              </a:buClr>
              <a:buSzPts val="1200"/>
              <a:buFont typeface="Arial"/>
              <a:buNone/>
            </a:pPr>
            <a:r>
              <a:rPr b="0" i="0" lang="en" sz="1200" u="none" cap="none" strike="noStrike">
                <a:solidFill>
                  <a:schemeClr val="lt2"/>
                </a:solidFill>
                <a:latin typeface="Arial"/>
                <a:ea typeface="Arial"/>
                <a:cs typeface="Arial"/>
                <a:sym typeface="Arial"/>
              </a:rPr>
              <a:t>✓ Loom explains prompts/iterations</a:t>
            </a:r>
            <a:endParaRPr b="0" i="0" sz="1200" u="none" cap="none" strike="noStrike">
              <a:solidFill>
                <a:schemeClr val="lt2"/>
              </a:solidFill>
              <a:latin typeface="Arial"/>
              <a:ea typeface="Arial"/>
              <a:cs typeface="Arial"/>
              <a:sym typeface="Arial"/>
            </a:endParaRPr>
          </a:p>
          <a:p>
            <a:pPr indent="0" lvl="0" marL="0" marR="0" rtl="0" algn="l">
              <a:lnSpc>
                <a:spcPct val="115000"/>
              </a:lnSpc>
              <a:spcBef>
                <a:spcPts val="1000"/>
              </a:spcBef>
              <a:spcAft>
                <a:spcPts val="0"/>
              </a:spcAft>
              <a:buClr>
                <a:srgbClr val="000000"/>
              </a:buClr>
              <a:buSzPts val="1200"/>
              <a:buFont typeface="Arial"/>
              <a:buNone/>
            </a:pPr>
            <a:r>
              <a:rPr b="0" i="0" lang="en" sz="1200" u="none" cap="none" strike="noStrike">
                <a:solidFill>
                  <a:schemeClr val="lt2"/>
                </a:solidFill>
                <a:latin typeface="Arial"/>
                <a:ea typeface="Arial"/>
                <a:cs typeface="Arial"/>
                <a:sym typeface="Arial"/>
              </a:rPr>
              <a:t>✓ Tracker shows validation outcomes</a:t>
            </a:r>
            <a:endParaRPr b="0" i="0" sz="1200" u="none" cap="none" strike="noStrike">
              <a:solidFill>
                <a:schemeClr val="lt2"/>
              </a:solidFill>
              <a:latin typeface="Arial"/>
              <a:ea typeface="Arial"/>
              <a:cs typeface="Arial"/>
              <a:sym typeface="Arial"/>
            </a:endParaRPr>
          </a:p>
          <a:p>
            <a:pPr indent="0" lvl="0" marL="0" marR="0" rtl="0" algn="l">
              <a:lnSpc>
                <a:spcPct val="115000"/>
              </a:lnSpc>
              <a:spcBef>
                <a:spcPts val="1000"/>
              </a:spcBef>
              <a:spcAft>
                <a:spcPts val="0"/>
              </a:spcAft>
              <a:buClr>
                <a:srgbClr val="000000"/>
              </a:buClr>
              <a:buSzPts val="1200"/>
              <a:buFont typeface="Arial"/>
              <a:buNone/>
            </a:pPr>
            <a:r>
              <a:rPr b="0" i="0" lang="en" sz="1200" u="none" cap="none" strike="noStrike">
                <a:solidFill>
                  <a:schemeClr val="lt2"/>
                </a:solidFill>
                <a:latin typeface="Arial"/>
                <a:ea typeface="Arial"/>
                <a:cs typeface="Arial"/>
                <a:sym typeface="Arial"/>
              </a:rPr>
              <a:t>✓ Coach passes Gate</a:t>
            </a:r>
            <a:endParaRPr b="0" i="0" sz="1200" u="none" cap="none" strike="noStrike">
              <a:solidFill>
                <a:schemeClr val="lt2"/>
              </a:solidFill>
              <a:latin typeface="Arial"/>
              <a:ea typeface="Arial"/>
              <a:cs typeface="Arial"/>
              <a:sym typeface="Arial"/>
            </a:endParaRPr>
          </a:p>
          <a:p>
            <a:pPr indent="0" lvl="0" marL="0" marR="0" rtl="0" algn="l">
              <a:lnSpc>
                <a:spcPct val="115000"/>
              </a:lnSpc>
              <a:spcBef>
                <a:spcPts val="1000"/>
              </a:spcBef>
              <a:spcAft>
                <a:spcPts val="0"/>
              </a:spcAft>
              <a:buClr>
                <a:srgbClr val="000000"/>
              </a:buClr>
              <a:buSzPts val="1400"/>
              <a:buFont typeface="Arial"/>
              <a:buNone/>
            </a:pPr>
            <a:r>
              <a:t/>
            </a:r>
            <a:endParaRPr b="1"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0" st="0"/>
                                            </p:txEl>
                                          </p:spTgt>
                                        </p:tgtEl>
                                        <p:attrNameLst>
                                          <p:attrName>style.visibility</p:attrName>
                                        </p:attrNameLst>
                                      </p:cBhvr>
                                      <p:to>
                                        <p:strVal val="visible"/>
                                      </p:to>
                                    </p:set>
                                    <p:animEffect filter="fade" transition="in">
                                      <p:cBhvr>
                                        <p:cTn dur="1"/>
                                        <p:tgtEl>
                                          <p:spTgt spid="2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1" st="1"/>
                                            </p:txEl>
                                          </p:spTgt>
                                        </p:tgtEl>
                                        <p:attrNameLst>
                                          <p:attrName>style.visibility</p:attrName>
                                        </p:attrNameLst>
                                      </p:cBhvr>
                                      <p:to>
                                        <p:strVal val="visible"/>
                                      </p:to>
                                    </p:set>
                                    <p:animEffect filter="fade" transition="in">
                                      <p:cBhvr>
                                        <p:cTn dur="1"/>
                                        <p:tgtEl>
                                          <p:spTgt spid="2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2" st="2"/>
                                            </p:txEl>
                                          </p:spTgt>
                                        </p:tgtEl>
                                        <p:attrNameLst>
                                          <p:attrName>style.visibility</p:attrName>
                                        </p:attrNameLst>
                                      </p:cBhvr>
                                      <p:to>
                                        <p:strVal val="visible"/>
                                      </p:to>
                                    </p:set>
                                    <p:animEffect filter="fade" transition="in">
                                      <p:cBhvr>
                                        <p:cTn dur="1"/>
                                        <p:tgtEl>
                                          <p:spTgt spid="24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3" st="3"/>
                                            </p:txEl>
                                          </p:spTgt>
                                        </p:tgtEl>
                                        <p:attrNameLst>
                                          <p:attrName>style.visibility</p:attrName>
                                        </p:attrNameLst>
                                      </p:cBhvr>
                                      <p:to>
                                        <p:strVal val="visible"/>
                                      </p:to>
                                    </p:set>
                                    <p:animEffect filter="fade" transition="in">
                                      <p:cBhvr>
                                        <p:cTn dur="1"/>
                                        <p:tgtEl>
                                          <p:spTgt spid="24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4" st="4"/>
                                            </p:txEl>
                                          </p:spTgt>
                                        </p:tgtEl>
                                        <p:attrNameLst>
                                          <p:attrName>style.visibility</p:attrName>
                                        </p:attrNameLst>
                                      </p:cBhvr>
                                      <p:to>
                                        <p:strVal val="visible"/>
                                      </p:to>
                                    </p:set>
                                    <p:animEffect filter="fade" transition="in">
                                      <p:cBhvr>
                                        <p:cTn dur="1"/>
                                        <p:tgtEl>
                                          <p:spTgt spid="24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5" st="5"/>
                                            </p:txEl>
                                          </p:spTgt>
                                        </p:tgtEl>
                                        <p:attrNameLst>
                                          <p:attrName>style.visibility</p:attrName>
                                        </p:attrNameLst>
                                      </p:cBhvr>
                                      <p:to>
                                        <p:strVal val="visible"/>
                                      </p:to>
                                    </p:set>
                                    <p:animEffect filter="fade" transition="in">
                                      <p:cBhvr>
                                        <p:cTn dur="1"/>
                                        <p:tgtEl>
                                          <p:spTgt spid="24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6" st="6"/>
                                            </p:txEl>
                                          </p:spTgt>
                                        </p:tgtEl>
                                        <p:attrNameLst>
                                          <p:attrName>style.visibility</p:attrName>
                                        </p:attrNameLst>
                                      </p:cBhvr>
                                      <p:to>
                                        <p:strVal val="visible"/>
                                      </p:to>
                                    </p:set>
                                    <p:animEffect filter="fade" transition="in">
                                      <p:cBhvr>
                                        <p:cTn dur="1"/>
                                        <p:tgtEl>
                                          <p:spTgt spid="24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7" st="7"/>
                                            </p:txEl>
                                          </p:spTgt>
                                        </p:tgtEl>
                                        <p:attrNameLst>
                                          <p:attrName>style.visibility</p:attrName>
                                        </p:attrNameLst>
                                      </p:cBhvr>
                                      <p:to>
                                        <p:strVal val="visible"/>
                                      </p:to>
                                    </p:set>
                                    <p:animEffect filter="fade" transition="in">
                                      <p:cBhvr>
                                        <p:cTn dur="1"/>
                                        <p:tgtEl>
                                          <p:spTgt spid="24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xEl>
                                              <p:pRg end="0" st="0"/>
                                            </p:txEl>
                                          </p:spTgt>
                                        </p:tgtEl>
                                        <p:attrNameLst>
                                          <p:attrName>style.visibility</p:attrName>
                                        </p:attrNameLst>
                                      </p:cBhvr>
                                      <p:to>
                                        <p:strVal val="visible"/>
                                      </p:to>
                                    </p:set>
                                    <p:animEffect filter="fade" transition="in">
                                      <p:cBhvr>
                                        <p:cTn dur="1000"/>
                                        <p:tgtEl>
                                          <p:spTgt spid="24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xEl>
                                              <p:pRg end="1" st="1"/>
                                            </p:txEl>
                                          </p:spTgt>
                                        </p:tgtEl>
                                        <p:attrNameLst>
                                          <p:attrName>style.visibility</p:attrName>
                                        </p:attrNameLst>
                                      </p:cBhvr>
                                      <p:to>
                                        <p:strVal val="visible"/>
                                      </p:to>
                                    </p:set>
                                    <p:animEffect filter="fade" transition="in">
                                      <p:cBhvr>
                                        <p:cTn dur="1000"/>
                                        <p:tgtEl>
                                          <p:spTgt spid="24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xEl>
                                              <p:pRg end="2" st="2"/>
                                            </p:txEl>
                                          </p:spTgt>
                                        </p:tgtEl>
                                        <p:attrNameLst>
                                          <p:attrName>style.visibility</p:attrName>
                                        </p:attrNameLst>
                                      </p:cBhvr>
                                      <p:to>
                                        <p:strVal val="visible"/>
                                      </p:to>
                                    </p:set>
                                    <p:animEffect filter="fade" transition="in">
                                      <p:cBhvr>
                                        <p:cTn dur="1000"/>
                                        <p:tgtEl>
                                          <p:spTgt spid="24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xEl>
                                              <p:pRg end="3" st="3"/>
                                            </p:txEl>
                                          </p:spTgt>
                                        </p:tgtEl>
                                        <p:attrNameLst>
                                          <p:attrName>style.visibility</p:attrName>
                                        </p:attrNameLst>
                                      </p:cBhvr>
                                      <p:to>
                                        <p:strVal val="visible"/>
                                      </p:to>
                                    </p:set>
                                    <p:animEffect filter="fade" transition="in">
                                      <p:cBhvr>
                                        <p:cTn dur="1000"/>
                                        <p:tgtEl>
                                          <p:spTgt spid="24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xEl>
                                              <p:pRg end="4" st="4"/>
                                            </p:txEl>
                                          </p:spTgt>
                                        </p:tgtEl>
                                        <p:attrNameLst>
                                          <p:attrName>style.visibility</p:attrName>
                                        </p:attrNameLst>
                                      </p:cBhvr>
                                      <p:to>
                                        <p:strVal val="visible"/>
                                      </p:to>
                                    </p:set>
                                    <p:animEffect filter="fade" transition="in">
                                      <p:cBhvr>
                                        <p:cTn dur="1000"/>
                                        <p:tgtEl>
                                          <p:spTgt spid="24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xEl>
                                              <p:pRg end="5" st="5"/>
                                            </p:txEl>
                                          </p:spTgt>
                                        </p:tgtEl>
                                        <p:attrNameLst>
                                          <p:attrName>style.visibility</p:attrName>
                                        </p:attrNameLst>
                                      </p:cBhvr>
                                      <p:to>
                                        <p:strVal val="visible"/>
                                      </p:to>
                                    </p:set>
                                    <p:animEffect filter="fade" transition="in">
                                      <p:cBhvr>
                                        <p:cTn dur="1000"/>
                                        <p:tgtEl>
                                          <p:spTgt spid="24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xEl>
                                              <p:pRg end="6" st="6"/>
                                            </p:txEl>
                                          </p:spTgt>
                                        </p:tgtEl>
                                        <p:attrNameLst>
                                          <p:attrName>style.visibility</p:attrName>
                                        </p:attrNameLst>
                                      </p:cBhvr>
                                      <p:to>
                                        <p:strVal val="visible"/>
                                      </p:to>
                                    </p:set>
                                    <p:animEffect filter="fade" transition="in">
                                      <p:cBhvr>
                                        <p:cTn dur="1000"/>
                                        <p:tgtEl>
                                          <p:spTgt spid="24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xEl>
                                              <p:pRg end="7" st="7"/>
                                            </p:txEl>
                                          </p:spTgt>
                                        </p:tgtEl>
                                        <p:attrNameLst>
                                          <p:attrName>style.visibility</p:attrName>
                                        </p:attrNameLst>
                                      </p:cBhvr>
                                      <p:to>
                                        <p:strVal val="visible"/>
                                      </p:to>
                                    </p:set>
                                    <p:animEffect filter="fade" transition="in">
                                      <p:cBhvr>
                                        <p:cTn dur="1000"/>
                                        <p:tgtEl>
                                          <p:spTgt spid="24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xEl>
                                              <p:pRg end="8" st="8"/>
                                            </p:txEl>
                                          </p:spTgt>
                                        </p:tgtEl>
                                        <p:attrNameLst>
                                          <p:attrName>style.visibility</p:attrName>
                                        </p:attrNameLst>
                                      </p:cBhvr>
                                      <p:to>
                                        <p:strVal val="visible"/>
                                      </p:to>
                                    </p:set>
                                    <p:animEffect filter="fade" transition="in">
                                      <p:cBhvr>
                                        <p:cTn dur="1000"/>
                                        <p:tgtEl>
                                          <p:spTgt spid="246">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250" name="Shape 250"/>
        <p:cNvGrpSpPr/>
        <p:nvPr/>
      </p:nvGrpSpPr>
      <p:grpSpPr>
        <a:xfrm>
          <a:off x="0" y="0"/>
          <a:ext cx="0" cy="0"/>
          <a:chOff x="0" y="0"/>
          <a:chExt cx="0" cy="0"/>
        </a:xfrm>
      </p:grpSpPr>
      <p:pic>
        <p:nvPicPr>
          <p:cNvPr id="251" name="Google Shape;251;p16"/>
          <p:cNvPicPr preferRelativeResize="0"/>
          <p:nvPr/>
        </p:nvPicPr>
        <p:blipFill rotWithShape="1">
          <a:blip r:embed="rId3">
            <a:alphaModFix amt="5000"/>
          </a:blip>
          <a:srcRect b="0" l="0" r="0" t="0"/>
          <a:stretch/>
        </p:blipFill>
        <p:spPr>
          <a:xfrm>
            <a:off x="3592905" y="-647761"/>
            <a:ext cx="5662948" cy="6097674"/>
          </a:xfrm>
          <a:prstGeom prst="rect">
            <a:avLst/>
          </a:prstGeom>
          <a:noFill/>
          <a:ln>
            <a:noFill/>
          </a:ln>
        </p:spPr>
      </p:pic>
      <p:pic>
        <p:nvPicPr>
          <p:cNvPr id="252" name="Google Shape;252;p16"/>
          <p:cNvPicPr preferRelativeResize="0"/>
          <p:nvPr/>
        </p:nvPicPr>
        <p:blipFill rotWithShape="1">
          <a:blip r:embed="rId4">
            <a:alphaModFix/>
          </a:blip>
          <a:srcRect b="0" l="0" r="0" t="0"/>
          <a:stretch/>
        </p:blipFill>
        <p:spPr>
          <a:xfrm>
            <a:off x="147800" y="4833018"/>
            <a:ext cx="781539" cy="182880"/>
          </a:xfrm>
          <a:prstGeom prst="rect">
            <a:avLst/>
          </a:prstGeom>
          <a:noFill/>
          <a:ln>
            <a:noFill/>
          </a:ln>
        </p:spPr>
      </p:pic>
      <p:sp>
        <p:nvSpPr>
          <p:cNvPr id="253" name="Google Shape;253;p16"/>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254" name="Google Shape;254;p16"/>
          <p:cNvPicPr preferRelativeResize="0"/>
          <p:nvPr/>
        </p:nvPicPr>
        <p:blipFill rotWithShape="1">
          <a:blip r:embed="rId6">
            <a:alphaModFix/>
          </a:blip>
          <a:srcRect b="0" l="0" r="0" t="0"/>
          <a:stretch/>
        </p:blipFill>
        <p:spPr>
          <a:xfrm>
            <a:off x="8274176" y="74417"/>
            <a:ext cx="781550" cy="781550"/>
          </a:xfrm>
          <a:prstGeom prst="rect">
            <a:avLst/>
          </a:prstGeom>
          <a:noFill/>
          <a:ln>
            <a:noFill/>
          </a:ln>
        </p:spPr>
      </p:pic>
      <p:sp>
        <p:nvSpPr>
          <p:cNvPr id="255" name="Google Shape;255;p16"/>
          <p:cNvSpPr txBox="1"/>
          <p:nvPr/>
        </p:nvSpPr>
        <p:spPr>
          <a:xfrm>
            <a:off x="731527" y="461950"/>
            <a:ext cx="72378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chemeClr val="lt1"/>
                </a:solidFill>
                <a:latin typeface="Poppins SemiBold"/>
                <a:ea typeface="Poppins SemiBold"/>
                <a:cs typeface="Poppins SemiBold"/>
                <a:sym typeface="Poppins SemiBold"/>
              </a:rPr>
              <a:t>Loom Walkthrough — What to Show</a:t>
            </a:r>
            <a:endParaRPr b="0" i="0" sz="1900" u="none" cap="none" strike="noStrike">
              <a:solidFill>
                <a:schemeClr val="lt1"/>
              </a:solidFill>
              <a:latin typeface="Poppins SemiBold"/>
              <a:ea typeface="Poppins SemiBold"/>
              <a:cs typeface="Poppins SemiBold"/>
              <a:sym typeface="Poppins SemiBold"/>
            </a:endParaRPr>
          </a:p>
        </p:txBody>
      </p:sp>
      <p:sp>
        <p:nvSpPr>
          <p:cNvPr id="256" name="Google Shape;256;p16"/>
          <p:cNvSpPr txBox="1"/>
          <p:nvPr/>
        </p:nvSpPr>
        <p:spPr>
          <a:xfrm>
            <a:off x="731799" y="1014300"/>
            <a:ext cx="6047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30000"/>
              </a:lnSpc>
              <a:spcBef>
                <a:spcPts val="0"/>
              </a:spcBef>
              <a:spcAft>
                <a:spcPts val="0"/>
              </a:spcAft>
              <a:buClr>
                <a:srgbClr val="000000"/>
              </a:buClr>
              <a:buSzPts val="1400"/>
              <a:buFont typeface="Arial"/>
              <a:buNone/>
            </a:pPr>
            <a:r>
              <a:rPr b="0" i="0" lang="en" sz="1400" u="none" cap="none" strike="noStrike">
                <a:solidFill>
                  <a:schemeClr val="lt1"/>
                </a:solidFill>
                <a:latin typeface="Poppins"/>
                <a:ea typeface="Poppins"/>
                <a:cs typeface="Poppins"/>
                <a:sym typeface="Poppins"/>
              </a:rPr>
              <a:t>Explain the process, not just the results</a:t>
            </a:r>
            <a:endParaRPr b="0" i="0" sz="1400" u="none" cap="none" strike="noStrike">
              <a:solidFill>
                <a:schemeClr val="lt1"/>
              </a:solidFill>
              <a:latin typeface="Poppins"/>
              <a:ea typeface="Poppins"/>
              <a:cs typeface="Poppins"/>
              <a:sym typeface="Poppins"/>
            </a:endParaRPr>
          </a:p>
        </p:txBody>
      </p:sp>
      <p:sp>
        <p:nvSpPr>
          <p:cNvPr id="257" name="Google Shape;257;p16"/>
          <p:cNvSpPr/>
          <p:nvPr/>
        </p:nvSpPr>
        <p:spPr>
          <a:xfrm>
            <a:off x="860475" y="1568525"/>
            <a:ext cx="7108800" cy="3030000"/>
          </a:xfrm>
          <a:prstGeom prst="roundRect">
            <a:avLst>
              <a:gd fmla="val 16667" name="adj"/>
            </a:avLst>
          </a:prstGeom>
          <a:solidFill>
            <a:srgbClr val="351C75"/>
          </a:solidFill>
          <a:ln cap="flat" cmpd="sng" w="11075">
            <a:solidFill>
              <a:srgbClr val="FFD966"/>
            </a:solidFill>
            <a:prstDash val="solid"/>
            <a:round/>
            <a:headEnd len="sm" w="sm" type="none"/>
            <a:tailEnd len="sm" w="sm" type="none"/>
          </a:ln>
          <a:effectLst>
            <a:outerShdw blurRad="99744" rotWithShape="0" algn="bl" dir="3900000" dist="55414">
              <a:srgbClr val="000000">
                <a:alpha val="21176"/>
              </a:srgbClr>
            </a:outerShdw>
          </a:effectLst>
        </p:spPr>
        <p:txBody>
          <a:bodyPr anchorCtr="0" anchor="ctr" bIns="106375" lIns="106375" spcFirstLastPara="1" rIns="106375" wrap="square" tIns="106375">
            <a:noAutofit/>
          </a:bodyPr>
          <a:lstStyle/>
          <a:p>
            <a:pPr indent="-311150" lvl="0" marL="457200" marR="0" rtl="0" algn="l">
              <a:lnSpc>
                <a:spcPct val="115000"/>
              </a:lnSpc>
              <a:spcBef>
                <a:spcPts val="0"/>
              </a:spcBef>
              <a:spcAft>
                <a:spcPts val="0"/>
              </a:spcAft>
              <a:buClr>
                <a:schemeClr val="lt2"/>
              </a:buClr>
              <a:buSzPts val="1300"/>
              <a:buFont typeface="Arial"/>
              <a:buChar char="❖"/>
            </a:pPr>
            <a:r>
              <a:rPr b="0" i="0" lang="en" sz="1300" u="none" cap="none" strike="noStrike">
                <a:solidFill>
                  <a:schemeClr val="lt2"/>
                </a:solidFill>
                <a:latin typeface="Arial"/>
                <a:ea typeface="Arial"/>
                <a:cs typeface="Arial"/>
                <a:sym typeface="Arial"/>
              </a:rPr>
              <a:t>Identify the work item and environment.</a:t>
            </a:r>
            <a:endParaRPr b="0" i="0" sz="1300" u="none" cap="none" strike="noStrike">
              <a:solidFill>
                <a:schemeClr val="lt2"/>
              </a:solidFill>
              <a:latin typeface="Arial"/>
              <a:ea typeface="Arial"/>
              <a:cs typeface="Arial"/>
              <a:sym typeface="Arial"/>
            </a:endParaRPr>
          </a:p>
          <a:p>
            <a:pPr indent="-311150" lvl="0" marL="457200" marR="0" rtl="0" algn="l">
              <a:lnSpc>
                <a:spcPct val="115000"/>
              </a:lnSpc>
              <a:spcBef>
                <a:spcPts val="0"/>
              </a:spcBef>
              <a:spcAft>
                <a:spcPts val="0"/>
              </a:spcAft>
              <a:buClr>
                <a:schemeClr val="lt2"/>
              </a:buClr>
              <a:buSzPts val="1300"/>
              <a:buFont typeface="Arial"/>
              <a:buChar char="❖"/>
            </a:pPr>
            <a:r>
              <a:rPr b="0" i="0" lang="en" sz="1300" u="none" cap="none" strike="noStrike">
                <a:solidFill>
                  <a:schemeClr val="lt2"/>
                </a:solidFill>
                <a:latin typeface="Arial"/>
                <a:ea typeface="Arial"/>
                <a:cs typeface="Arial"/>
                <a:sym typeface="Arial"/>
              </a:rPr>
              <a:t>Show prompts and meaningful iterations.</a:t>
            </a:r>
            <a:endParaRPr b="0" i="0" sz="1300" u="none" cap="none" strike="noStrike">
              <a:solidFill>
                <a:schemeClr val="lt2"/>
              </a:solidFill>
              <a:latin typeface="Arial"/>
              <a:ea typeface="Arial"/>
              <a:cs typeface="Arial"/>
              <a:sym typeface="Arial"/>
            </a:endParaRPr>
          </a:p>
          <a:p>
            <a:pPr indent="-311150" lvl="0" marL="457200" marR="0" rtl="0" algn="l">
              <a:lnSpc>
                <a:spcPct val="115000"/>
              </a:lnSpc>
              <a:spcBef>
                <a:spcPts val="0"/>
              </a:spcBef>
              <a:spcAft>
                <a:spcPts val="0"/>
              </a:spcAft>
              <a:buClr>
                <a:schemeClr val="lt2"/>
              </a:buClr>
              <a:buSzPts val="1300"/>
              <a:buFont typeface="Arial"/>
              <a:buChar char="❖"/>
            </a:pPr>
            <a:r>
              <a:rPr b="0" i="0" lang="en" sz="1300" u="none" cap="none" strike="noStrike">
                <a:solidFill>
                  <a:schemeClr val="lt2"/>
                </a:solidFill>
                <a:latin typeface="Arial"/>
                <a:ea typeface="Arial"/>
                <a:cs typeface="Arial"/>
                <a:sym typeface="Arial"/>
              </a:rPr>
              <a:t>Show AI output and what you accepted/rejected.</a:t>
            </a:r>
            <a:endParaRPr b="0" i="0" sz="1300" u="none" cap="none" strike="noStrike">
              <a:solidFill>
                <a:schemeClr val="lt2"/>
              </a:solidFill>
              <a:latin typeface="Arial"/>
              <a:ea typeface="Arial"/>
              <a:cs typeface="Arial"/>
              <a:sym typeface="Arial"/>
            </a:endParaRPr>
          </a:p>
          <a:p>
            <a:pPr indent="-311150" lvl="0" marL="457200" marR="0" rtl="0" algn="l">
              <a:lnSpc>
                <a:spcPct val="115000"/>
              </a:lnSpc>
              <a:spcBef>
                <a:spcPts val="0"/>
              </a:spcBef>
              <a:spcAft>
                <a:spcPts val="0"/>
              </a:spcAft>
              <a:buClr>
                <a:schemeClr val="lt2"/>
              </a:buClr>
              <a:buSzPts val="1300"/>
              <a:buFont typeface="Arial"/>
              <a:buChar char="❖"/>
            </a:pPr>
            <a:r>
              <a:rPr b="0" i="0" lang="en" sz="1300" u="none" cap="none" strike="noStrike">
                <a:solidFill>
                  <a:schemeClr val="lt2"/>
                </a:solidFill>
                <a:latin typeface="Arial"/>
                <a:ea typeface="Arial"/>
                <a:cs typeface="Arial"/>
                <a:sym typeface="Arial"/>
              </a:rPr>
              <a:t>Show evidence: logs, code, PR diff, execution result, requirements.</a:t>
            </a:r>
            <a:endParaRPr b="0" i="0" sz="1300" u="none" cap="none" strike="noStrike">
              <a:solidFill>
                <a:schemeClr val="lt2"/>
              </a:solidFill>
              <a:latin typeface="Arial"/>
              <a:ea typeface="Arial"/>
              <a:cs typeface="Arial"/>
              <a:sym typeface="Arial"/>
            </a:endParaRPr>
          </a:p>
          <a:p>
            <a:pPr indent="-311150" lvl="0" marL="457200" marR="0" rtl="0" algn="l">
              <a:lnSpc>
                <a:spcPct val="115000"/>
              </a:lnSpc>
              <a:spcBef>
                <a:spcPts val="0"/>
              </a:spcBef>
              <a:spcAft>
                <a:spcPts val="0"/>
              </a:spcAft>
              <a:buClr>
                <a:schemeClr val="lt2"/>
              </a:buClr>
              <a:buSzPts val="1300"/>
              <a:buFont typeface="Arial"/>
              <a:buChar char="❖"/>
            </a:pPr>
            <a:r>
              <a:rPr b="0" i="0" lang="en" sz="1300" u="none" cap="none" strike="noStrike">
                <a:solidFill>
                  <a:schemeClr val="lt2"/>
                </a:solidFill>
                <a:latin typeface="Arial"/>
                <a:ea typeface="Arial"/>
                <a:cs typeface="Arial"/>
                <a:sym typeface="Arial"/>
              </a:rPr>
              <a:t>Explain what changed because of validation.</a:t>
            </a:r>
            <a:endParaRPr b="0" i="0" sz="1300" u="none" cap="none" strike="noStrike">
              <a:solidFill>
                <a:schemeClr val="lt2"/>
              </a:solidFill>
              <a:latin typeface="Arial"/>
              <a:ea typeface="Arial"/>
              <a:cs typeface="Arial"/>
              <a:sym typeface="Arial"/>
            </a:endParaRPr>
          </a:p>
          <a:p>
            <a:pPr indent="-311150" lvl="0" marL="457200" marR="0" rtl="0" algn="l">
              <a:lnSpc>
                <a:spcPct val="115000"/>
              </a:lnSpc>
              <a:spcBef>
                <a:spcPts val="0"/>
              </a:spcBef>
              <a:spcAft>
                <a:spcPts val="0"/>
              </a:spcAft>
              <a:buClr>
                <a:schemeClr val="lt2"/>
              </a:buClr>
              <a:buSzPts val="1300"/>
              <a:buFont typeface="Arial"/>
              <a:buChar char="❖"/>
            </a:pPr>
            <a:r>
              <a:rPr b="0" i="0" lang="en" sz="1300" u="none" cap="none" strike="noStrike">
                <a:solidFill>
                  <a:schemeClr val="lt2"/>
                </a:solidFill>
                <a:latin typeface="Arial"/>
                <a:ea typeface="Arial"/>
                <a:cs typeface="Arial"/>
                <a:sym typeface="Arial"/>
              </a:rPr>
              <a:t>Keep the focus on reasoning and QA judgment.</a:t>
            </a:r>
            <a:endParaRPr b="0" i="0" sz="1300" u="none" cap="none" strike="noStrike">
              <a:solidFill>
                <a:schemeClr val="lt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1000"/>
                                        <p:tgtEl>
                                          <p:spTgt spid="2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4E"/>
        </a:solidFill>
      </p:bgPr>
    </p:bg>
    <p:spTree>
      <p:nvGrpSpPr>
        <p:cNvPr id="261" name="Shape 261"/>
        <p:cNvGrpSpPr/>
        <p:nvPr/>
      </p:nvGrpSpPr>
      <p:grpSpPr>
        <a:xfrm>
          <a:off x="0" y="0"/>
          <a:ext cx="0" cy="0"/>
          <a:chOff x="0" y="0"/>
          <a:chExt cx="0" cy="0"/>
        </a:xfrm>
      </p:grpSpPr>
      <p:pic>
        <p:nvPicPr>
          <p:cNvPr id="262" name="Google Shape;262;p17"/>
          <p:cNvPicPr preferRelativeResize="0"/>
          <p:nvPr/>
        </p:nvPicPr>
        <p:blipFill rotWithShape="1">
          <a:blip r:embed="rId3">
            <a:alphaModFix amt="5000"/>
          </a:blip>
          <a:srcRect b="0" l="0" r="0" t="0"/>
          <a:stretch/>
        </p:blipFill>
        <p:spPr>
          <a:xfrm>
            <a:off x="3592905" y="-647761"/>
            <a:ext cx="5662948" cy="6097674"/>
          </a:xfrm>
          <a:prstGeom prst="rect">
            <a:avLst/>
          </a:prstGeom>
          <a:noFill/>
          <a:ln>
            <a:noFill/>
          </a:ln>
        </p:spPr>
      </p:pic>
      <p:pic>
        <p:nvPicPr>
          <p:cNvPr id="263" name="Google Shape;263;p17"/>
          <p:cNvPicPr preferRelativeResize="0"/>
          <p:nvPr/>
        </p:nvPicPr>
        <p:blipFill rotWithShape="1">
          <a:blip r:embed="rId4">
            <a:alphaModFix/>
          </a:blip>
          <a:srcRect b="0" l="0" r="0" t="0"/>
          <a:stretch/>
        </p:blipFill>
        <p:spPr>
          <a:xfrm>
            <a:off x="147800" y="4833018"/>
            <a:ext cx="781539" cy="182880"/>
          </a:xfrm>
          <a:prstGeom prst="rect">
            <a:avLst/>
          </a:prstGeom>
          <a:noFill/>
          <a:ln>
            <a:noFill/>
          </a:ln>
        </p:spPr>
      </p:pic>
      <p:sp>
        <p:nvSpPr>
          <p:cNvPr id="264" name="Google Shape;264;p17"/>
          <p:cNvSpPr/>
          <p:nvPr/>
        </p:nvSpPr>
        <p:spPr>
          <a:xfrm>
            <a:off x="0" y="0"/>
            <a:ext cx="860467" cy="461961"/>
          </a:xfrm>
          <a:custGeom>
            <a:rect b="b" l="l" r="r" t="t"/>
            <a:pathLst>
              <a:path extrusionOk="0" h="1527143" w="1428161">
                <a:moveTo>
                  <a:pt x="0" y="0"/>
                </a:moveTo>
                <a:lnTo>
                  <a:pt x="1428161" y="0"/>
                </a:lnTo>
                <a:lnTo>
                  <a:pt x="1428161" y="1527143"/>
                </a:lnTo>
                <a:lnTo>
                  <a:pt x="0" y="1527143"/>
                </a:lnTo>
                <a:lnTo>
                  <a:pt x="0" y="0"/>
                </a:lnTo>
                <a:close/>
              </a:path>
            </a:pathLst>
          </a:custGeom>
          <a:blipFill rotWithShape="1">
            <a:blip r:embed="rId5">
              <a:alphaModFix/>
            </a:blip>
            <a:stretch>
              <a:fillRect b="0" l="0" r="0" t="0"/>
            </a:stretch>
          </a:blipFill>
          <a:ln>
            <a:noFill/>
          </a:ln>
        </p:spPr>
      </p:sp>
      <p:pic>
        <p:nvPicPr>
          <p:cNvPr id="265" name="Google Shape;265;p17"/>
          <p:cNvPicPr preferRelativeResize="0"/>
          <p:nvPr/>
        </p:nvPicPr>
        <p:blipFill rotWithShape="1">
          <a:blip r:embed="rId6">
            <a:alphaModFix/>
          </a:blip>
          <a:srcRect b="0" l="0" r="0" t="0"/>
          <a:stretch/>
        </p:blipFill>
        <p:spPr>
          <a:xfrm>
            <a:off x="8274176" y="74417"/>
            <a:ext cx="781550" cy="781550"/>
          </a:xfrm>
          <a:prstGeom prst="rect">
            <a:avLst/>
          </a:prstGeom>
          <a:noFill/>
          <a:ln>
            <a:noFill/>
          </a:ln>
        </p:spPr>
      </p:pic>
      <p:sp>
        <p:nvSpPr>
          <p:cNvPr id="266" name="Google Shape;266;p17"/>
          <p:cNvSpPr txBox="1"/>
          <p:nvPr/>
        </p:nvSpPr>
        <p:spPr>
          <a:xfrm>
            <a:off x="731527" y="461950"/>
            <a:ext cx="72378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chemeClr val="lt1"/>
                </a:solidFill>
                <a:latin typeface="Poppins SemiBold"/>
                <a:ea typeface="Poppins SemiBold"/>
                <a:cs typeface="Poppins SemiBold"/>
                <a:sym typeface="Poppins SemiBold"/>
              </a:rPr>
              <a:t>Week 3 Takeaway</a:t>
            </a:r>
            <a:endParaRPr b="0" i="0" sz="1900" u="none" cap="none" strike="noStrike">
              <a:solidFill>
                <a:schemeClr val="lt1"/>
              </a:solidFill>
              <a:latin typeface="Poppins SemiBold"/>
              <a:ea typeface="Poppins SemiBold"/>
              <a:cs typeface="Poppins SemiBold"/>
              <a:sym typeface="Poppins SemiBold"/>
            </a:endParaRPr>
          </a:p>
        </p:txBody>
      </p:sp>
      <p:sp>
        <p:nvSpPr>
          <p:cNvPr id="267" name="Google Shape;267;p17"/>
          <p:cNvSpPr txBox="1"/>
          <p:nvPr/>
        </p:nvSpPr>
        <p:spPr>
          <a:xfrm>
            <a:off x="731799" y="1014300"/>
            <a:ext cx="6047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30000"/>
              </a:lnSpc>
              <a:spcBef>
                <a:spcPts val="0"/>
              </a:spcBef>
              <a:spcAft>
                <a:spcPts val="0"/>
              </a:spcAft>
              <a:buClr>
                <a:srgbClr val="000000"/>
              </a:buClr>
              <a:buSzPts val="1400"/>
              <a:buFont typeface="Arial"/>
              <a:buNone/>
            </a:pPr>
            <a:r>
              <a:rPr b="0" i="0" lang="en" sz="1400" u="none" cap="none" strike="noStrike">
                <a:solidFill>
                  <a:schemeClr val="lt1"/>
                </a:solidFill>
                <a:latin typeface="Poppins"/>
                <a:ea typeface="Poppins"/>
                <a:cs typeface="Poppins"/>
                <a:sym typeface="Poppins"/>
              </a:rPr>
              <a:t>AI accelerates QA work — evidence determines QA decisions</a:t>
            </a:r>
            <a:endParaRPr b="0" i="0" sz="1400" u="none" cap="none" strike="noStrike">
              <a:solidFill>
                <a:schemeClr val="lt1"/>
              </a:solidFill>
              <a:latin typeface="Poppins"/>
              <a:ea typeface="Poppins"/>
              <a:cs typeface="Poppins"/>
              <a:sym typeface="Poppins"/>
            </a:endParaRPr>
          </a:p>
        </p:txBody>
      </p:sp>
      <p:sp>
        <p:nvSpPr>
          <p:cNvPr id="268" name="Google Shape;268;p17"/>
          <p:cNvSpPr/>
          <p:nvPr/>
        </p:nvSpPr>
        <p:spPr>
          <a:xfrm>
            <a:off x="860475" y="1568525"/>
            <a:ext cx="7108800" cy="3030000"/>
          </a:xfrm>
          <a:prstGeom prst="roundRect">
            <a:avLst>
              <a:gd fmla="val 16667" name="adj"/>
            </a:avLst>
          </a:prstGeom>
          <a:solidFill>
            <a:srgbClr val="351C75"/>
          </a:solidFill>
          <a:ln cap="flat" cmpd="sng" w="11075">
            <a:solidFill>
              <a:srgbClr val="FFD966"/>
            </a:solidFill>
            <a:prstDash val="solid"/>
            <a:round/>
            <a:headEnd len="sm" w="sm" type="none"/>
            <a:tailEnd len="sm" w="sm" type="none"/>
          </a:ln>
          <a:effectLst>
            <a:outerShdw blurRad="99744" rotWithShape="0" algn="bl" dir="3900000" dist="55414">
              <a:srgbClr val="000000">
                <a:alpha val="21176"/>
              </a:srgbClr>
            </a:outerShdw>
          </a:effectLst>
        </p:spPr>
        <p:txBody>
          <a:bodyPr anchorCtr="0" anchor="ctr" bIns="106375" lIns="106375" spcFirstLastPara="1" rIns="106375" wrap="square" tIns="10637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Analyze → Generate → Prioritize</a:t>
            </a:r>
            <a:endParaRPr b="1" i="0" sz="1400" u="none" cap="none" strike="noStrike">
              <a:solidFill>
                <a:schemeClr val="lt1"/>
              </a:solidFill>
              <a:latin typeface="Arial"/>
              <a:ea typeface="Arial"/>
              <a:cs typeface="Arial"/>
              <a:sym typeface="Arial"/>
            </a:endParaRPr>
          </a:p>
          <a:p>
            <a:pPr indent="0" lvl="0" marL="0" marR="0" rtl="0" algn="ctr">
              <a:lnSpc>
                <a:spcPct val="100000"/>
              </a:lnSpc>
              <a:spcBef>
                <a:spcPts val="1000"/>
              </a:spcBef>
              <a:spcAft>
                <a:spcPts val="0"/>
              </a:spcAft>
              <a:buClr>
                <a:srgbClr val="000000"/>
              </a:buClr>
              <a:buSzPts val="1600"/>
              <a:buFont typeface="Arial"/>
              <a:buNone/>
            </a:pPr>
            <a:r>
              <a:rPr b="1" i="0" lang="en" sz="1600" u="none" cap="none" strike="noStrike">
                <a:solidFill>
                  <a:srgbClr val="B6D7A8"/>
                </a:solidFill>
                <a:latin typeface="Arial"/>
                <a:ea typeface="Arial"/>
                <a:cs typeface="Arial"/>
                <a:sym typeface="Arial"/>
              </a:rPr>
              <a:t>Validate → Execute → Investigate → Decide</a:t>
            </a:r>
            <a:endParaRPr b="1" i="0" sz="1600" u="none" cap="none" strike="noStrike">
              <a:solidFill>
                <a:srgbClr val="B6D7A8"/>
              </a:solidFill>
              <a:latin typeface="Arial"/>
              <a:ea typeface="Arial"/>
              <a:cs typeface="Arial"/>
              <a:sym typeface="Arial"/>
            </a:endParaRPr>
          </a:p>
          <a:p>
            <a:pPr indent="0" lvl="0" marL="0" marR="0" rtl="0" algn="ctr">
              <a:lnSpc>
                <a:spcPct val="100000"/>
              </a:lnSpc>
              <a:spcBef>
                <a:spcPts val="1000"/>
              </a:spcBef>
              <a:spcAft>
                <a:spcPts val="0"/>
              </a:spcAft>
              <a:buClr>
                <a:srgbClr val="000000"/>
              </a:buClr>
              <a:buSzPts val="1600"/>
              <a:buFont typeface="Arial"/>
              <a:buNone/>
            </a:pPr>
            <a:r>
              <a:t/>
            </a:r>
            <a:endParaRPr b="1" i="0" sz="1600" u="none" cap="none" strike="noStrike">
              <a:solidFill>
                <a:srgbClr val="B6D7A8"/>
              </a:solidFill>
              <a:latin typeface="Arial"/>
              <a:ea typeface="Arial"/>
              <a:cs typeface="Arial"/>
              <a:sym typeface="Arial"/>
            </a:endParaRPr>
          </a:p>
          <a:p>
            <a:pPr indent="0" lvl="0" marL="0" marR="0" rtl="0" algn="ctr">
              <a:lnSpc>
                <a:spcPct val="100000"/>
              </a:lnSpc>
              <a:spcBef>
                <a:spcPts val="1000"/>
              </a:spcBef>
              <a:spcAft>
                <a:spcPts val="0"/>
              </a:spcAft>
              <a:buClr>
                <a:srgbClr val="000000"/>
              </a:buClr>
              <a:buSzPts val="1400"/>
              <a:buFont typeface="Arial"/>
              <a:buNone/>
            </a:pPr>
            <a:r>
              <a:rPr b="0" i="0" lang="en" sz="1400" u="none" cap="none" strike="noStrike">
                <a:solidFill>
                  <a:srgbClr val="D9D9D9"/>
                </a:solidFill>
                <a:latin typeface="Arial"/>
                <a:ea typeface="Arial"/>
                <a:cs typeface="Arial"/>
                <a:sym typeface="Arial"/>
              </a:rPr>
              <a:t>Manual or automation: the QA judgment stays with the tester.</a:t>
            </a:r>
            <a:endParaRPr b="0" i="0" sz="1400" u="none" cap="none" strike="noStrike">
              <a:solidFill>
                <a:srgbClr val="D9D9D9"/>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1000"/>
                                        <p:tgtEl>
                                          <p:spTgt spid="2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