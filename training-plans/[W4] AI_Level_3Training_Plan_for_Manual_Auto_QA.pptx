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oppins"/>
      <p:regular r:id="rId24"/>
      <p:bold r:id="rId25"/>
      <p:italic r:id="rId26"/>
      <p:boldItalic r:id="rId27"/>
    </p:embeddedFont>
    <p:embeddedFont>
      <p:font typeface="Poppins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SemiBold-regular.fntdata"/><Relationship Id="rId27"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boldItalic.fntdata"/><Relationship Id="rId30" Type="http://schemas.openxmlformats.org/officeDocument/2006/relationships/font" Target="fonts/Poppins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67ab3d96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67ab3d96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d9b143df4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d9b143df4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Week 4 has three outcomes. First, create one reusable AI asset and share it with the team. Second, practice the Level 3 interview and receive feedback. Third, complete the formal reassessment and have the result recorded.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audience includes manual and automation testers. The reusable asset should support real QA work, with examples that may be automation-focused but are reusable across the participant's role.</a:t>
            </a:r>
            <a:endParaRPr sz="14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ab8f56b2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ab8f56b2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For Activity 1, pull five failed test runs from your own suite or use the coach-provided shared set. Give AI the relevant logs and stack traces. Ask it to identify patterns and possible common causes. Then validate each claim against the actual evidence and, where possible, code. The final report must distinguish a supported root cause from a hypothesis.</a:t>
            </a:r>
            <a:endParaRPr sz="14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ab8f56b2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ab8f56b2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floor is deliberately focused on reusability. The asset needs a clear name and description, evidence that it was tested on a second real task, enough detail for a teammate to use it without asking the author, and proof that it was actually shared to the team library.</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acfc6744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acfc6744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Here is an example of what a reusable asset could look like.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point is not to create a perfect prompt. The point is to capture a repeatable workflow with enough context, inputs, constraints, expected output, and validation guidance that another tester can use it.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second-task test is critical because it tells us whether the asset generalizes.</a:t>
            </a:r>
            <a:endParaRPr sz="14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acfc6744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acfc6744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deliverable is one reusable asset. The team should be able to discover it, understand its purpose, and use it.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MD file should contain the name, purpose, inputs, instructions, expected output, validation notes, second-task evidence, and intended audience or usage context.</a:t>
            </a:r>
            <a:endParaRPr sz="1400">
              <a:solidFill>
                <a:schemeClr val="dk1"/>
              </a:solidFill>
            </a:endParaRPr>
          </a:p>
          <a:p>
            <a:pPr indent="0" lvl="0" marL="0" rtl="0" algn="l">
              <a:spcBef>
                <a:spcPts val="0"/>
              </a:spcBef>
              <a:spcAft>
                <a:spcPts val="0"/>
              </a:spcAft>
              <a:buNone/>
            </a:pPr>
            <a:r>
              <a:t/>
            </a:r>
            <a:endParaRPr sz="1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acfc6744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acfc6744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second activity is preparation for the formal reassessment.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Participants pair up with another Automation QA program member, use the AI Leveling Interview Guide, and take turns as interviewer and candidate.</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important requirement is that answers come from real work across Weeks 1 through 4, not hypothetical examples.</a:t>
            </a:r>
            <a:endParaRPr sz="1400">
              <a:solidFill>
                <a:schemeClr val="dk1"/>
              </a:solidFill>
            </a:endParaRPr>
          </a:p>
          <a:p>
            <a:pPr indent="0" lvl="0" marL="0" rtl="0" algn="l">
              <a:spcBef>
                <a:spcPts val="0"/>
              </a:spcBef>
              <a:spcAft>
                <a:spcPts val="0"/>
              </a:spcAft>
              <a:buNone/>
            </a:pPr>
            <a:r>
              <a:t/>
            </a:r>
            <a:endParaRPr sz="14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ab8f56b23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ab8f56b23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goal of the dry run is not to memorize polished answers. It is to practice explaining actual work clearly.</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 strong answer names the situation, explains what the participant did with AI, describes validation, gives evidence, and explains the outcome.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 weak answer stays hypothetical or says only that AI helped without showing what changed.</a:t>
            </a:r>
            <a:endParaRPr sz="14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ab8f56b23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ab8f56b23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floor requires a full pass through the Interview Guide, real work examples from Weeks 1 through 4, partner feedback on at least two answers, QA Coach feedback on at least one answer, and a daily-log entry.</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feedback should identify where an answer was specific and where it was vague or hypothetical.</a:t>
            </a:r>
            <a:endParaRPr sz="14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ab8f56b23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ab8f56b23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third activity is the formal reassessment.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Participants sit the Strict-mode Leveling interview with the QA Coach or assigned interviewer. Answers should be based on real work across all four weeks.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result is scored by the Full Scale AI Assessment skill, appended to the assessment tracker, and reflected in the next dashboard build.</a:t>
            </a:r>
            <a:endParaRPr sz="14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ab8f56b23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ab8f56b2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Participants should prepare to discuss concrete examples from all four weeks.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interviewer is looking for evidence of the Level 3 habit: using AI in real work, validating output, integrating the workflow, identifying mistakes, and explaining decisions.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Do not invent examples for the interview. Use the work already captured in the program tracker and artifacts.</a:t>
            </a:r>
            <a:endParaRPr sz="14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acfc6744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acfc6744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Gate explicitly checks that the validation habit is sustained across Weeks 2 through 4.</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tracker should show repeated use of the validation checklist, not just one entry from Week 2.</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reusable asset should be live in the team library, and the reassessment result should be recorded.</a:t>
            </a:r>
            <a:endParaRPr sz="14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ab8f56b23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ab8f56b23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The Gate has three actions: verify validation checklist use across Weeks 2 through 4, complete the Strict-mode interview, and confirm the reusable asset is live.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Passing the Gate requires Level 3 with Medium or higher confidence, the specified Workflow Integration and Validation signals, a concrete yesterday example, no Rule-5 red-flag phrase, sustained checklist use, and Coach approval.</a:t>
            </a:r>
            <a:endParaRPr sz="14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ab8f56b23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ab8f56b23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Review each Gate condition carefully. The minimum confidence is Medium. Both Workflow Integration and Validation signals must meet the threshold. There must be at least one concrete yesterday example during reassessment, and the participant must avoid the Rule-5 red-flag phrase.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checklist must be visible as a sustained habit across Weeks 2 through 4.</a:t>
            </a:r>
            <a:endParaRPr sz="14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ad0d8626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ad0d8626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a:t>
            </a:r>
            <a:endParaRPr sz="1400">
              <a:solidFill>
                <a:schemeClr val="dk1"/>
              </a:solidFill>
            </a:endParaRPr>
          </a:p>
          <a:p>
            <a:pPr indent="0" lvl="0" marL="0" rtl="0" algn="l">
              <a:spcBef>
                <a:spcPts val="0"/>
              </a:spcBef>
              <a:spcAft>
                <a:spcPts val="0"/>
              </a:spcAft>
              <a:buNone/>
            </a:pPr>
            <a:r>
              <a:rPr lang="en" sz="1400">
                <a:solidFill>
                  <a:schemeClr val="dk1"/>
                </a:solidFill>
              </a:rPr>
              <a:t>If the Gate is missed, the program specifies a follow-up coaching plan and a re-interview date with the QA Coach.</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is not a punishment. The purpose is to identify the weak signal, target coaching, and reassess with evidence.</a:t>
            </a:r>
            <a:endParaRPr sz="14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ab8f56b23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ab8f56b23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Presenter Script — Week 4 1-Hour Synchronous Class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0–5 min — Week 4 Kickoff</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is our consolidation week. Over the last three weeks, you've used AI on real QA work, validated AI output, investigated failures, generated tests, and worked with regression and coverage analysis.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week, we're going to do three things: turn something you've repeatedly done into a reusable asset, practice explaining your real work in a Level 3 interview, and then complete the formal reassessment.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goal is not just to demonstrate that you can use AI. We want to see that the workflow has become a repeatable habit.”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5–15 min — Activity 1: Build a Reusable Asset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“Let's start with the reusable asset.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Think about something you've had to rebuild more than once during this program. Maybe it's a prompt for generating automation scripts, a prompt for analyzing flaky tests, a regression-prioritization template, or a validation checklist.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Instead of rebuilding that from scratch again, we're going to turn it into something another tester can actually use.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Your asset can be a reusable prompt template, saved configuration or agent, or a checklist.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important part is that it must be understandable without you sitting beside the person explaining it.”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Ask participants: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“What is one AI-assisted task you've already repeated more than once?”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Allow 1–2 participants to answer.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15–25 min — Reusable Asset Walkthrough</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“Let's walk through what makes an asset reusable.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First, give it a clear name and explain when someone should use it.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Second, document what inputs it needs.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Third, provide the actual prompt, instructions, configuration, or checklist.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Fourth, explain what output the user should expect.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And most importantly, we're going to test it on a second, different real task.</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If it only works for the original example, we haven't really built a reusable asset. We need evidence that it generalizes.”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Then show your example: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“For example, if I created a regression-prioritization prompt from one authentication PR, I shouldn't stop there. I would run the same asset against a different PR and see whether it still produces useful results.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If something needs to change, I update the asset and document what I learned.”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25–35 min — Activity 2: Dry Run</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second part of today is interview preparation.</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You're going to participate in a mock Level 3 interview using the AI Leveling Interview Guide.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important thing here is that your answers need to come from your actual work during Weeks 1 through 4.</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Don't tell the interviewer what you would do. Tell them what you actually did.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For example, instead of saying, ‘I would validate an AI-generated test,’ explain the actual test AI generated, what was wrong with it, how you discovered the problem, and what you did afterward.”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Then emphasize: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“Specific evidence is much stronger than a general explanation.”</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35–43 min — Mock Interview Practice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“Now let's practice.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I'll give you a sample question. Answer it as if you're already in the Level 3 interview.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question is: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‘Tell me about a time AI produced an output that you could not accept.’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Don't give me a hypothetical answer. Give me the actual situation, what AI produced, how you validated it, what you found, and what you did.”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After one participant answers: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“That's the level of specificity we're looking for. We want the interviewer to be able to understand the actual work, not just the concept.”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For another question:</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“Tell me about one AI-assisted workflow you improved during the program and how you know the improvement actually worked.”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43–48 min — Feedback &amp; Coaching</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“After the mock interview, you'll exchange feedback with your partner.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Focus on two things: where the answer was specific and where it became vague or hypothetical.</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Your QA Coach will also review at least part of the interview or recording.</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Don't treat feedback as simply ‘good’ or ‘bad.’ We want actionable feedback such as: ‘You explained what AI generated, but you didn't explain how you validated it,’ or ‘You gave the result but didn't explain what changed because of AI.’”</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48–55 min — Activity 3: Formal Reassessment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“After the dry run, you'll complete the real Strict-mode Leveling interview.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interview covers your work across all four weeks.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expectation is that you can explain not only what you produced, but how you used AI, how you validated it, what you accepted or rejected, and what evidence supports your decisions.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Your result will be recorded in the assessment tracker and reflected in the next dashboard build.”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Then remind them:</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“So make sure your Week 1 through Week 4 artifacts and tracker entries are complete before the formal interview.”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55–60 min — Gate &amp; Async Execution</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“Finally, let's review what you need to complete this week.</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 need your reusable asset shared to the team library, your completed mock interview with feedback, and your Strict-mode interview result recorded in the tracker.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Gate also checks that your validation checklist habit continued across Weeks 2 through 4.</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goal isn't to have one successful interview. We want evidence that Level 3 behavior has become part of your normal QA workflow.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If the Gate is missed, there will be a follow-up coaching plan and re-interview date. There is no automatic pass.”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Closing statement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“So the main message for Week 4 is: don't just use AI—build repeatable workflows around it, explain your decisions with evidence, and demonstrate that the behavior is sustained.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That's what we're looking for at Level 3.”</a:t>
            </a:r>
            <a:endParaRPr sz="14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ab8f56b2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ab8f56b2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we wrap up Week 4, let's go through the final checklist to make sure everything required for the Gate is complete.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make sure your </a:t>
            </a:r>
            <a:r>
              <a:rPr b="1" lang="en">
                <a:solidFill>
                  <a:schemeClr val="dk1"/>
                </a:solidFill>
              </a:rPr>
              <a:t>reusable AI asset is complete and shared to the team library</a:t>
            </a:r>
            <a:r>
              <a:rPr lang="en">
                <a:solidFill>
                  <a:schemeClr val="dk1"/>
                </a:solidFill>
              </a:rPr>
              <a:t>. It should not just be saved in your personal folder.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Second, make sure your </a:t>
            </a:r>
            <a:r>
              <a:rPr b="1" lang="en">
                <a:solidFill>
                  <a:schemeClr val="dk1"/>
                </a:solidFill>
              </a:rPr>
              <a:t>mock Level 3 interview is completed</a:t>
            </a:r>
            <a:r>
              <a:rPr lang="en">
                <a:solidFill>
                  <a:schemeClr val="dk1"/>
                </a:solidFill>
              </a:rPr>
              <a:t>, including the feedback you received from your partner and your QA Coach.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Third, make sure your </a:t>
            </a:r>
            <a:r>
              <a:rPr b="1" lang="en">
                <a:solidFill>
                  <a:schemeClr val="dk1"/>
                </a:solidFill>
              </a:rPr>
              <a:t>Strict-mode Leveling interview result is recorded in the assessment tracker</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check your tracker across the program and confirm that your </a:t>
            </a:r>
            <a:r>
              <a:rPr b="1" lang="en">
                <a:solidFill>
                  <a:schemeClr val="dk1"/>
                </a:solidFill>
              </a:rPr>
              <a:t>Validation Checklist use is visible from Weeks 2 through 4</a:t>
            </a:r>
            <a:r>
              <a:rPr lang="en">
                <a:solidFill>
                  <a:schemeClr val="dk1"/>
                </a:solidFill>
              </a:rPr>
              <a:t>. We are looking for evidence that validation became a sustained habit, not something you only did during Week 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the Gate review, make sure all of these items are complete, accessible, and supported by evidence</a:t>
            </a:r>
            <a:endParaRPr>
              <a:solidFill>
                <a:schemeClr val="dk1"/>
              </a:solidFill>
            </a:endParaRPr>
          </a:p>
          <a:p>
            <a:pPr indent="0" lvl="0" marL="0" rtl="0" algn="l">
              <a:spcBef>
                <a:spcPts val="1200"/>
              </a:spcBef>
              <a:spcAft>
                <a:spcPts val="0"/>
              </a:spcAft>
              <a:buNone/>
            </a:pPr>
            <a:r>
              <a:t/>
            </a:r>
            <a:endParaRPr sz="14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ab8f56b23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ab8f56b23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Week 4 is where we bring everything together.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Over the past four weeks, you’ve moved from using AI on individual QA tasks to building a reusable asset that can support the team. You’ve also practiced explaining your actual work through the mock interview and now completed the formal reassessment.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But the goal of Week 4 is not simply to finish the program or pass an interview.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goal is to show that the Level 3 workflow has become a sustained habit—something you can continue using in your day-to-day QA work.</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Your reusable asset should be useful to the team, your decisions should continue to be supported by evidence, and the validation practices you developed should continue even after the program ends.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In other words, we're looking for a behavior that lasts beyond Week 4, not just a successful final assessment.</a:t>
            </a:r>
            <a:endParaRPr sz="14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53" name="Shape 53"/>
        <p:cNvGrpSpPr/>
        <p:nvPr/>
      </p:nvGrpSpPr>
      <p:grpSpPr>
        <a:xfrm>
          <a:off x="0" y="0"/>
          <a:ext cx="0" cy="0"/>
          <a:chOff x="0" y="0"/>
          <a:chExt cx="0" cy="0"/>
        </a:xfrm>
      </p:grpSpPr>
      <p:sp>
        <p:nvSpPr>
          <p:cNvPr id="54" name="Google Shape;54;p13"/>
          <p:cNvSpPr txBox="1"/>
          <p:nvPr/>
        </p:nvSpPr>
        <p:spPr>
          <a:xfrm>
            <a:off x="731525" y="461950"/>
            <a:ext cx="7439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lt1"/>
                </a:solidFill>
                <a:latin typeface="Poppins SemiBold"/>
                <a:ea typeface="Poppins SemiBold"/>
                <a:cs typeface="Poppins SemiBold"/>
                <a:sym typeface="Poppins SemiBold"/>
              </a:rPr>
              <a:t>WEEK 4 — SUSTAIN, REUSE, REASSESS</a:t>
            </a:r>
            <a:br>
              <a:rPr lang="en" sz="3000">
                <a:solidFill>
                  <a:schemeClr val="lt1"/>
                </a:solidFill>
                <a:latin typeface="Poppins SemiBold"/>
                <a:ea typeface="Poppins SemiBold"/>
                <a:cs typeface="Poppins SemiBold"/>
                <a:sym typeface="Poppins SemiBold"/>
              </a:rPr>
            </a:br>
            <a:r>
              <a:rPr lang="en" sz="1200">
                <a:solidFill>
                  <a:schemeClr val="lt1"/>
                </a:solidFill>
                <a:latin typeface="Poppins SemiBold"/>
                <a:ea typeface="Poppins SemiBold"/>
                <a:cs typeface="Poppins SemiBold"/>
                <a:sym typeface="Poppins SemiBold"/>
              </a:rPr>
              <a:t>1-hour synchronous class + async execution • Manual + Automation QA participants</a:t>
            </a:r>
            <a:endParaRPr sz="1200">
              <a:solidFill>
                <a:schemeClr val="lt1"/>
              </a:solidFill>
              <a:latin typeface="Poppins SemiBold"/>
              <a:ea typeface="Poppins SemiBold"/>
              <a:cs typeface="Poppins SemiBold"/>
              <a:sym typeface="Poppins SemiBold"/>
            </a:endParaRPr>
          </a:p>
        </p:txBody>
      </p:sp>
      <p:pic>
        <p:nvPicPr>
          <p:cNvPr id="55" name="Google Shape;55;p13"/>
          <p:cNvPicPr preferRelativeResize="0"/>
          <p:nvPr/>
        </p:nvPicPr>
        <p:blipFill>
          <a:blip r:embed="rId3">
            <a:alphaModFix amt="5000"/>
          </a:blip>
          <a:stretch>
            <a:fillRect/>
          </a:stretch>
        </p:blipFill>
        <p:spPr>
          <a:xfrm>
            <a:off x="3543480" y="-74536"/>
            <a:ext cx="5662948" cy="6097674"/>
          </a:xfrm>
          <a:prstGeom prst="rect">
            <a:avLst/>
          </a:prstGeom>
          <a:noFill/>
          <a:ln>
            <a:noFill/>
          </a:ln>
        </p:spPr>
      </p:pic>
      <p:pic>
        <p:nvPicPr>
          <p:cNvPr id="56" name="Google Shape;56;p13"/>
          <p:cNvPicPr preferRelativeResize="0"/>
          <p:nvPr/>
        </p:nvPicPr>
        <p:blipFill>
          <a:blip r:embed="rId4">
            <a:alphaModFix amt="30000"/>
          </a:blip>
          <a:stretch>
            <a:fillRect/>
          </a:stretch>
        </p:blipFill>
        <p:spPr>
          <a:xfrm>
            <a:off x="147800" y="4833018"/>
            <a:ext cx="781539" cy="182880"/>
          </a:xfrm>
          <a:prstGeom prst="rect">
            <a:avLst/>
          </a:prstGeom>
          <a:noFill/>
          <a:ln>
            <a:noFill/>
          </a:ln>
        </p:spPr>
      </p:pic>
      <p:sp>
        <p:nvSpPr>
          <p:cNvPr id="57" name="Google Shape;57;p13"/>
          <p:cNvSpPr txBox="1"/>
          <p:nvPr/>
        </p:nvSpPr>
        <p:spPr>
          <a:xfrm>
            <a:off x="731520" y="2997775"/>
            <a:ext cx="79461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rgbClr val="FFFFFF"/>
              </a:buClr>
              <a:buSzPts val="1200"/>
              <a:buFont typeface="Poppins"/>
              <a:buChar char="❖"/>
            </a:pPr>
            <a:r>
              <a:rPr lang="en" sz="1200">
                <a:solidFill>
                  <a:srgbClr val="FFFFFF"/>
                </a:solidFill>
                <a:latin typeface="Poppins"/>
                <a:ea typeface="Poppins"/>
                <a:cs typeface="Poppins"/>
                <a:sym typeface="Poppins"/>
              </a:rPr>
              <a:t>Prepare with evidence from Weeks 1–4.</a:t>
            </a:r>
            <a:endParaRPr sz="1200">
              <a:solidFill>
                <a:srgbClr val="FFFFFF"/>
              </a:solidFill>
              <a:latin typeface="Poppins"/>
              <a:ea typeface="Poppins"/>
              <a:cs typeface="Poppins"/>
              <a:sym typeface="Poppins"/>
            </a:endParaRPr>
          </a:p>
        </p:txBody>
      </p:sp>
      <p:sp>
        <p:nvSpPr>
          <p:cNvPr id="58" name="Google Shape;58;p13"/>
          <p:cNvSpPr txBox="1"/>
          <p:nvPr/>
        </p:nvSpPr>
        <p:spPr>
          <a:xfrm>
            <a:off x="731802" y="2247050"/>
            <a:ext cx="7946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oppins SemiBold"/>
                <a:ea typeface="Poppins SemiBold"/>
                <a:cs typeface="Poppins SemiBold"/>
                <a:sym typeface="Poppins SemiBold"/>
              </a:rPr>
              <a:t>REUSE → PRACTICE → REASSESS</a:t>
            </a:r>
            <a:br>
              <a:rPr lang="en" sz="1800">
                <a:solidFill>
                  <a:schemeClr val="lt1"/>
                </a:solidFill>
                <a:latin typeface="Poppins SemiBold"/>
                <a:ea typeface="Poppins SemiBold"/>
                <a:cs typeface="Poppins SemiBold"/>
                <a:sym typeface="Poppins SemiBold"/>
              </a:rPr>
            </a:br>
            <a:r>
              <a:rPr lang="en" sz="1200">
                <a:solidFill>
                  <a:schemeClr val="lt1"/>
                </a:solidFill>
                <a:latin typeface="Poppins SemiBold"/>
                <a:ea typeface="Poppins SemiBold"/>
                <a:cs typeface="Poppins SemiBold"/>
                <a:sym typeface="Poppins SemiBold"/>
              </a:rPr>
              <a:t>Turn repeated AI-assisted QA work into a team asset.</a:t>
            </a:r>
            <a:endParaRPr sz="1200">
              <a:solidFill>
                <a:schemeClr val="lt1"/>
              </a:solidFill>
              <a:latin typeface="Poppins SemiBold"/>
              <a:ea typeface="Poppins SemiBold"/>
              <a:cs typeface="Poppins SemiBold"/>
              <a:sym typeface="Poppins SemiBold"/>
            </a:endParaRPr>
          </a:p>
        </p:txBody>
      </p:sp>
      <p:sp>
        <p:nvSpPr>
          <p:cNvPr id="59" name="Google Shape;59;p13"/>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60" name="Google Shape;60;p13"/>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61" name="Google Shape;61;p13"/>
          <p:cNvSpPr txBox="1"/>
          <p:nvPr/>
        </p:nvSpPr>
        <p:spPr>
          <a:xfrm>
            <a:off x="731795" y="1697088"/>
            <a:ext cx="356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a:ea typeface="Poppins"/>
                <a:cs typeface="Poppins"/>
                <a:sym typeface="Poppins"/>
              </a:rPr>
              <a:t>September</a:t>
            </a:r>
            <a:endParaRPr>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65" name="Shape 65"/>
        <p:cNvGrpSpPr/>
        <p:nvPr/>
      </p:nvGrpSpPr>
      <p:grpSpPr>
        <a:xfrm>
          <a:off x="0" y="0"/>
          <a:ext cx="0" cy="0"/>
          <a:chOff x="0" y="0"/>
          <a:chExt cx="0" cy="0"/>
        </a:xfrm>
      </p:grpSpPr>
      <p:pic>
        <p:nvPicPr>
          <p:cNvPr id="66" name="Google Shape;66;p14"/>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67" name="Google Shape;67;p14"/>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68" name="Google Shape;68;p14"/>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69" name="Google Shape;69;p14"/>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70" name="Google Shape;70;p14"/>
          <p:cNvSpPr txBox="1"/>
          <p:nvPr/>
        </p:nvSpPr>
        <p:spPr>
          <a:xfrm>
            <a:off x="731527" y="461950"/>
            <a:ext cx="7731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lt1"/>
                </a:solidFill>
                <a:latin typeface="Poppins SemiBold"/>
                <a:ea typeface="Poppins SemiBold"/>
                <a:cs typeface="Poppins SemiBold"/>
                <a:sym typeface="Poppins SemiBold"/>
              </a:rPr>
              <a:t>Week 4 Objectives</a:t>
            </a:r>
            <a:endParaRPr sz="3000">
              <a:solidFill>
                <a:schemeClr val="lt1"/>
              </a:solidFill>
              <a:latin typeface="Poppins SemiBold"/>
              <a:ea typeface="Poppins SemiBold"/>
              <a:cs typeface="Poppins SemiBold"/>
              <a:sym typeface="Poppins SemiBold"/>
            </a:endParaRPr>
          </a:p>
        </p:txBody>
      </p:sp>
      <p:sp>
        <p:nvSpPr>
          <p:cNvPr id="71" name="Google Shape;71;p14"/>
          <p:cNvSpPr txBox="1"/>
          <p:nvPr/>
        </p:nvSpPr>
        <p:spPr>
          <a:xfrm>
            <a:off x="731800" y="1014300"/>
            <a:ext cx="7542300" cy="609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sz="1200">
                <a:solidFill>
                  <a:schemeClr val="lt1"/>
                </a:solidFill>
                <a:latin typeface="Poppins"/>
                <a:ea typeface="Poppins"/>
                <a:cs typeface="Poppins"/>
                <a:sym typeface="Poppins"/>
              </a:rPr>
              <a:t>By the end of the week, the participant should have evidence that the Level 3 habit is reusable and sustained.</a:t>
            </a:r>
            <a:endParaRPr sz="1200">
              <a:solidFill>
                <a:schemeClr val="lt1"/>
              </a:solidFill>
              <a:latin typeface="Poppins"/>
              <a:ea typeface="Poppins"/>
              <a:cs typeface="Poppins"/>
              <a:sym typeface="Poppins"/>
            </a:endParaRPr>
          </a:p>
        </p:txBody>
      </p:sp>
      <p:sp>
        <p:nvSpPr>
          <p:cNvPr id="72" name="Google Shape;72;p14"/>
          <p:cNvSpPr/>
          <p:nvPr/>
        </p:nvSpPr>
        <p:spPr>
          <a:xfrm>
            <a:off x="823100" y="1653775"/>
            <a:ext cx="3608700" cy="13425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ACTIVITY 1</a:t>
            </a:r>
            <a:endParaRPr b="1"/>
          </a:p>
          <a:p>
            <a:pPr indent="0" lvl="0" marL="0" rtl="0" algn="l">
              <a:spcBef>
                <a:spcPts val="0"/>
              </a:spcBef>
              <a:spcAft>
                <a:spcPts val="0"/>
              </a:spcAft>
              <a:buClr>
                <a:schemeClr val="dk1"/>
              </a:buClr>
              <a:buFont typeface="Arial"/>
              <a:buNone/>
            </a:pPr>
            <a:r>
              <a:t/>
            </a:r>
            <a:endParaRPr b="1"/>
          </a:p>
          <a:p>
            <a:pPr indent="0" lvl="0" marL="0" rtl="0" algn="l">
              <a:spcBef>
                <a:spcPts val="0"/>
              </a:spcBef>
              <a:spcAft>
                <a:spcPts val="0"/>
              </a:spcAft>
              <a:buClr>
                <a:schemeClr val="dk1"/>
              </a:buClr>
              <a:buFont typeface="Arial"/>
              <a:buNone/>
            </a:pPr>
            <a:r>
              <a:rPr lang="en" sz="1250">
                <a:solidFill>
                  <a:srgbClr val="5A6473"/>
                </a:solidFill>
                <a:latin typeface="Calibri"/>
                <a:ea typeface="Calibri"/>
                <a:cs typeface="Calibri"/>
                <a:sym typeface="Calibri"/>
              </a:rPr>
              <a:t>Build one reusable AI asset: prompt template, saved agent/config, or checklist. Test it on a second real task and share it.</a:t>
            </a:r>
            <a:endParaRPr sz="1250">
              <a:solidFill>
                <a:srgbClr val="5A6473"/>
              </a:solidFill>
              <a:latin typeface="Calibri"/>
              <a:ea typeface="Calibri"/>
              <a:cs typeface="Calibri"/>
              <a:sym typeface="Calibri"/>
            </a:endParaRPr>
          </a:p>
        </p:txBody>
      </p:sp>
      <p:sp>
        <p:nvSpPr>
          <p:cNvPr id="73" name="Google Shape;73;p14"/>
          <p:cNvSpPr/>
          <p:nvPr/>
        </p:nvSpPr>
        <p:spPr>
          <a:xfrm>
            <a:off x="4702850" y="1653775"/>
            <a:ext cx="3608700" cy="1342500"/>
          </a:xfrm>
          <a:prstGeom prst="roundRect">
            <a:avLst>
              <a:gd fmla="val 16667" name="adj"/>
            </a:avLst>
          </a:prstGeom>
          <a:solidFill>
            <a:srgbClr val="99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ACTIVITY 2</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250">
                <a:solidFill>
                  <a:schemeClr val="lt1"/>
                </a:solidFill>
                <a:latin typeface="Calibri"/>
                <a:ea typeface="Calibri"/>
                <a:cs typeface="Calibri"/>
                <a:sym typeface="Calibri"/>
              </a:rPr>
              <a:t>Run a mock Level 3 interview with a partner, exchange feedback, and receive QA Coach feedback.</a:t>
            </a:r>
            <a:endParaRPr sz="1250">
              <a:solidFill>
                <a:schemeClr val="lt1"/>
              </a:solidFill>
              <a:latin typeface="Calibri"/>
              <a:ea typeface="Calibri"/>
              <a:cs typeface="Calibri"/>
              <a:sym typeface="Calibri"/>
            </a:endParaRPr>
          </a:p>
        </p:txBody>
      </p:sp>
      <p:sp>
        <p:nvSpPr>
          <p:cNvPr id="74" name="Google Shape;74;p14"/>
          <p:cNvSpPr/>
          <p:nvPr/>
        </p:nvSpPr>
        <p:spPr>
          <a:xfrm>
            <a:off x="2767650" y="3314438"/>
            <a:ext cx="3608700" cy="13425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ACTIVITY 3</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250">
                <a:solidFill>
                  <a:schemeClr val="lt1"/>
                </a:solidFill>
                <a:latin typeface="Calibri"/>
                <a:ea typeface="Calibri"/>
                <a:cs typeface="Calibri"/>
                <a:sym typeface="Calibri"/>
              </a:rPr>
              <a:t>Complete the Strict-mode Leveling interview and record the result in the assessment tracker.</a:t>
            </a:r>
            <a:endParaRPr sz="1250">
              <a:solidFill>
                <a:schemeClr val="lt1"/>
              </a:solidFill>
              <a:latin typeface="Calibri"/>
              <a:ea typeface="Calibri"/>
              <a:cs typeface="Calibri"/>
              <a:sym typeface="Calibri"/>
            </a:endParaRPr>
          </a:p>
          <a:p>
            <a:pPr indent="0" lvl="0" marL="0" rtl="0" algn="l">
              <a:spcBef>
                <a:spcPts val="0"/>
              </a:spcBef>
              <a:spcAft>
                <a:spcPts val="0"/>
              </a:spcAft>
              <a:buNone/>
            </a:pPr>
            <a:r>
              <a:t/>
            </a:r>
            <a:endParaRPr b="1">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1000"/>
                                        <p:tgtEl>
                                          <p:spTgt spid="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78" name="Shape 78"/>
        <p:cNvGrpSpPr/>
        <p:nvPr/>
      </p:nvGrpSpPr>
      <p:grpSpPr>
        <a:xfrm>
          <a:off x="0" y="0"/>
          <a:ext cx="0" cy="0"/>
          <a:chOff x="0" y="0"/>
          <a:chExt cx="0" cy="0"/>
        </a:xfrm>
      </p:grpSpPr>
      <p:pic>
        <p:nvPicPr>
          <p:cNvPr id="79" name="Google Shape;79;p15"/>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80" name="Google Shape;80;p15"/>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81" name="Google Shape;81;p15"/>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82" name="Google Shape;82;p15"/>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83" name="Google Shape;83;p15"/>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Activity 1 — Build a Reusable Asset</a:t>
            </a:r>
            <a:endParaRPr sz="2300">
              <a:solidFill>
                <a:schemeClr val="lt1"/>
              </a:solidFill>
              <a:latin typeface="Poppins SemiBold"/>
              <a:ea typeface="Poppins SemiBold"/>
              <a:cs typeface="Poppins SemiBold"/>
              <a:sym typeface="Poppins SemiBold"/>
            </a:endParaRPr>
          </a:p>
        </p:txBody>
      </p:sp>
      <p:sp>
        <p:nvSpPr>
          <p:cNvPr id="84" name="Google Shape;84;p15"/>
          <p:cNvSpPr txBox="1"/>
          <p:nvPr/>
        </p:nvSpPr>
        <p:spPr>
          <a:xfrm>
            <a:off x="731800" y="1014300"/>
            <a:ext cx="6729300" cy="609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sz="1200">
                <a:solidFill>
                  <a:schemeClr val="lt1"/>
                </a:solidFill>
                <a:latin typeface="Poppins"/>
                <a:ea typeface="Poppins"/>
                <a:cs typeface="Poppins"/>
                <a:sym typeface="Poppins"/>
              </a:rPr>
              <a:t>Objective: produce one reusable AI asset for automation QA work and share it to the team library.</a:t>
            </a:r>
            <a:endParaRPr sz="1200">
              <a:solidFill>
                <a:schemeClr val="lt1"/>
              </a:solidFill>
              <a:latin typeface="Poppins"/>
              <a:ea typeface="Poppins"/>
              <a:cs typeface="Poppins"/>
              <a:sym typeface="Poppins"/>
            </a:endParaRPr>
          </a:p>
        </p:txBody>
      </p:sp>
      <p:sp>
        <p:nvSpPr>
          <p:cNvPr id="85" name="Google Shape;85;p15"/>
          <p:cNvSpPr/>
          <p:nvPr/>
        </p:nvSpPr>
        <p:spPr>
          <a:xfrm>
            <a:off x="860500" y="1638900"/>
            <a:ext cx="7108800" cy="2016900"/>
          </a:xfrm>
          <a:prstGeom prst="roundRect">
            <a:avLst>
              <a:gd fmla="val 16667" name="adj"/>
            </a:avLst>
          </a:prstGeom>
          <a:solidFill>
            <a:srgbClr val="FFFF00"/>
          </a:solidFill>
          <a:ln cap="flat" cmpd="sng" w="23975">
            <a:solidFill>
              <a:srgbClr val="FFD966"/>
            </a:solidFill>
            <a:prstDash val="solid"/>
            <a:round/>
            <a:headEnd len="sm" w="sm" type="none"/>
            <a:tailEnd len="sm" w="sm" type="none"/>
          </a:ln>
          <a:effectLst>
            <a:outerShdw blurRad="215863" rotWithShape="0" algn="bl" dir="3900000" dist="119924">
              <a:srgbClr val="000000">
                <a:alpha val="21000"/>
              </a:srgbClr>
            </a:outerShdw>
          </a:effectLst>
        </p:spPr>
        <p:txBody>
          <a:bodyPr anchorCtr="0" anchor="t" bIns="230200" lIns="230200" spcFirstLastPara="1" rIns="230200" wrap="square" tIns="230200">
            <a:noAutofit/>
          </a:bodyPr>
          <a:lstStyle/>
          <a:p>
            <a:pPr indent="-304800" lvl="0" marL="457200" rtl="0" algn="l">
              <a:spcBef>
                <a:spcPts val="0"/>
              </a:spcBef>
              <a:spcAft>
                <a:spcPts val="0"/>
              </a:spcAft>
              <a:buClr>
                <a:srgbClr val="666666"/>
              </a:buClr>
              <a:buSzPts val="1200"/>
              <a:buChar char="❖"/>
            </a:pPr>
            <a:r>
              <a:rPr lang="en" sz="1200">
                <a:solidFill>
                  <a:srgbClr val="666666"/>
                </a:solidFill>
              </a:rPr>
              <a:t>Pick something you've rebuilt from scratch more than once during the program.</a:t>
            </a:r>
            <a:endParaRPr sz="1200">
              <a:solidFill>
                <a:srgbClr val="666666"/>
              </a:solidFill>
            </a:endParaRPr>
          </a:p>
          <a:p>
            <a:pPr indent="-304800" lvl="0" marL="457200" rtl="0" algn="l">
              <a:spcBef>
                <a:spcPts val="0"/>
              </a:spcBef>
              <a:spcAft>
                <a:spcPts val="0"/>
              </a:spcAft>
              <a:buClr>
                <a:srgbClr val="666666"/>
              </a:buClr>
              <a:buSzPts val="1200"/>
              <a:buChar char="❖"/>
            </a:pPr>
            <a:r>
              <a:rPr lang="en" sz="1200">
                <a:solidFill>
                  <a:srgbClr val="666666"/>
                </a:solidFill>
              </a:rPr>
              <a:t>Examples: script-generation prompt, flaky-test triage prompt, regression-prioritization template.</a:t>
            </a:r>
            <a:endParaRPr sz="1200">
              <a:solidFill>
                <a:srgbClr val="666666"/>
              </a:solidFill>
            </a:endParaRPr>
          </a:p>
          <a:p>
            <a:pPr indent="-304800" lvl="0" marL="457200" rtl="0" algn="l">
              <a:spcBef>
                <a:spcPts val="0"/>
              </a:spcBef>
              <a:spcAft>
                <a:spcPts val="0"/>
              </a:spcAft>
              <a:buClr>
                <a:srgbClr val="666666"/>
              </a:buClr>
              <a:buSzPts val="1200"/>
              <a:buChar char="❖"/>
            </a:pPr>
            <a:r>
              <a:rPr lang="en" sz="1200">
                <a:solidFill>
                  <a:srgbClr val="666666"/>
                </a:solidFill>
              </a:rPr>
              <a:t>Turn it into a reusable prompt template, saved agent/config, or checklist.</a:t>
            </a:r>
            <a:endParaRPr sz="1200">
              <a:solidFill>
                <a:srgbClr val="666666"/>
              </a:solidFill>
            </a:endParaRPr>
          </a:p>
          <a:p>
            <a:pPr indent="-304800" lvl="0" marL="457200" rtl="0" algn="l">
              <a:spcBef>
                <a:spcPts val="0"/>
              </a:spcBef>
              <a:spcAft>
                <a:spcPts val="0"/>
              </a:spcAft>
              <a:buClr>
                <a:srgbClr val="666666"/>
              </a:buClr>
              <a:buSzPts val="1200"/>
              <a:buChar char="❖"/>
            </a:pPr>
            <a:r>
              <a:rPr lang="en" sz="1200">
                <a:solidFill>
                  <a:srgbClr val="666666"/>
                </a:solidFill>
              </a:rPr>
              <a:t>Test it on a second, different real task.</a:t>
            </a:r>
            <a:endParaRPr sz="1200">
              <a:solidFill>
                <a:srgbClr val="666666"/>
              </a:solidFill>
            </a:endParaRPr>
          </a:p>
          <a:p>
            <a:pPr indent="-304800" lvl="0" marL="457200" rtl="0" algn="l">
              <a:spcBef>
                <a:spcPts val="0"/>
              </a:spcBef>
              <a:spcAft>
                <a:spcPts val="0"/>
              </a:spcAft>
              <a:buClr>
                <a:srgbClr val="666666"/>
              </a:buClr>
              <a:buSzPts val="1200"/>
              <a:buChar char="❖"/>
            </a:pPr>
            <a:r>
              <a:rPr lang="en" sz="1200">
                <a:solidFill>
                  <a:srgbClr val="666666"/>
                </a:solidFill>
              </a:rPr>
              <a:t>Share it to the team library and state who it is for and when to use it.</a:t>
            </a:r>
            <a:endParaRPr sz="1200">
              <a:solidFill>
                <a:srgbClr val="666666"/>
              </a:solidFill>
            </a:endParaRPr>
          </a:p>
          <a:p>
            <a:pPr indent="-304800" lvl="0" marL="457200" rtl="0" algn="l">
              <a:spcBef>
                <a:spcPts val="0"/>
              </a:spcBef>
              <a:spcAft>
                <a:spcPts val="0"/>
              </a:spcAft>
              <a:buClr>
                <a:srgbClr val="666666"/>
              </a:buClr>
              <a:buSzPts val="1200"/>
              <a:buChar char="❖"/>
            </a:pPr>
            <a:r>
              <a:rPr lang="en" sz="1200">
                <a:solidFill>
                  <a:srgbClr val="666666"/>
                </a:solidFill>
              </a:rPr>
              <a:t>Required format for this activity: MD file.</a:t>
            </a:r>
            <a:endParaRPr sz="1200">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89" name="Shape 89"/>
        <p:cNvGrpSpPr/>
        <p:nvPr/>
      </p:nvGrpSpPr>
      <p:grpSpPr>
        <a:xfrm>
          <a:off x="0" y="0"/>
          <a:ext cx="0" cy="0"/>
          <a:chOff x="0" y="0"/>
          <a:chExt cx="0" cy="0"/>
        </a:xfrm>
      </p:grpSpPr>
      <p:pic>
        <p:nvPicPr>
          <p:cNvPr id="90" name="Google Shape;90;p16"/>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91" name="Google Shape;91;p16"/>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92" name="Google Shape;92;p16"/>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93" name="Google Shape;93;p16"/>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94" name="Google Shape;94;p16"/>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Activity 1 — What Makes the Asset Reusable?</a:t>
            </a:r>
            <a:endParaRPr sz="2300">
              <a:solidFill>
                <a:schemeClr val="lt1"/>
              </a:solidFill>
              <a:latin typeface="Poppins SemiBold"/>
              <a:ea typeface="Poppins SemiBold"/>
              <a:cs typeface="Poppins SemiBold"/>
              <a:sym typeface="Poppins SemiBold"/>
            </a:endParaRPr>
          </a:p>
        </p:txBody>
      </p:sp>
      <p:sp>
        <p:nvSpPr>
          <p:cNvPr id="95" name="Google Shape;95;p16"/>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The asset should work beyond the original case.</a:t>
            </a:r>
            <a:endParaRPr>
              <a:solidFill>
                <a:schemeClr val="lt1"/>
              </a:solidFill>
              <a:latin typeface="Poppins"/>
              <a:ea typeface="Poppins"/>
              <a:cs typeface="Poppins"/>
              <a:sym typeface="Poppins"/>
            </a:endParaRPr>
          </a:p>
        </p:txBody>
      </p:sp>
      <p:sp>
        <p:nvSpPr>
          <p:cNvPr id="96" name="Google Shape;96;p16"/>
          <p:cNvSpPr/>
          <p:nvPr/>
        </p:nvSpPr>
        <p:spPr>
          <a:xfrm>
            <a:off x="1063513" y="1840700"/>
            <a:ext cx="1592700" cy="2084100"/>
          </a:xfrm>
          <a:prstGeom prst="roundRect">
            <a:avLst>
              <a:gd fmla="val 16667" name="adj"/>
            </a:avLst>
          </a:prstGeom>
          <a:solidFill>
            <a:srgbClr val="FFFF00"/>
          </a:solidFill>
          <a:ln cap="flat" cmpd="sng" w="9525">
            <a:solidFill>
              <a:srgbClr val="BF9000"/>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82336"/>
                </a:solidFill>
                <a:latin typeface="Calibri"/>
                <a:ea typeface="Calibri"/>
                <a:cs typeface="Calibri"/>
                <a:sym typeface="Calibri"/>
              </a:rPr>
              <a:t>1 • NAMED</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rPr lang="en" sz="1000">
                <a:solidFill>
                  <a:srgbClr val="5A6473"/>
                </a:solidFill>
                <a:latin typeface="Calibri"/>
                <a:ea typeface="Calibri"/>
                <a:cs typeface="Calibri"/>
                <a:sym typeface="Calibri"/>
              </a:rPr>
              <a:t>Logs, tickets, requirements, PR diff, suite</a:t>
            </a:r>
            <a:endParaRPr sz="1000">
              <a:solidFill>
                <a:srgbClr val="5A6473"/>
              </a:solidFill>
              <a:latin typeface="Calibri"/>
              <a:ea typeface="Calibri"/>
              <a:cs typeface="Calibri"/>
              <a:sym typeface="Calibri"/>
            </a:endParaRPr>
          </a:p>
        </p:txBody>
      </p:sp>
      <p:sp>
        <p:nvSpPr>
          <p:cNvPr id="97" name="Google Shape;97;p16"/>
          <p:cNvSpPr/>
          <p:nvPr/>
        </p:nvSpPr>
        <p:spPr>
          <a:xfrm>
            <a:off x="2849652" y="1840700"/>
            <a:ext cx="1592700" cy="2084100"/>
          </a:xfrm>
          <a:prstGeom prst="roundRect">
            <a:avLst>
              <a:gd fmla="val 16667" name="adj"/>
            </a:avLst>
          </a:prstGeom>
          <a:solidFill>
            <a:srgbClr val="9900FF"/>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lt1"/>
                </a:solidFill>
              </a:rPr>
              <a:t>2 • TESTED</a:t>
            </a:r>
            <a:endParaRPr b="1" sz="1200">
              <a:solidFill>
                <a:schemeClr val="lt1"/>
              </a:solidFill>
            </a:endParaRPr>
          </a:p>
          <a:p>
            <a:pPr indent="0" lvl="0" marL="0" rtl="0" algn="l">
              <a:spcBef>
                <a:spcPts val="0"/>
              </a:spcBef>
              <a:spcAft>
                <a:spcPts val="0"/>
              </a:spcAft>
              <a:buClr>
                <a:schemeClr val="dk1"/>
              </a:buClr>
              <a:buSzPts val="1100"/>
              <a:buFont typeface="Arial"/>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Analyze, generate, compare, prioritize</a:t>
            </a:r>
            <a:endParaRPr sz="1000">
              <a:solidFill>
                <a:schemeClr val="lt1"/>
              </a:solidFill>
              <a:latin typeface="Calibri"/>
              <a:ea typeface="Calibri"/>
              <a:cs typeface="Calibri"/>
              <a:sym typeface="Calibri"/>
            </a:endParaRPr>
          </a:p>
        </p:txBody>
      </p:sp>
      <p:sp>
        <p:nvSpPr>
          <p:cNvPr id="98" name="Google Shape;98;p16"/>
          <p:cNvSpPr/>
          <p:nvPr/>
        </p:nvSpPr>
        <p:spPr>
          <a:xfrm>
            <a:off x="4635821" y="1840700"/>
            <a:ext cx="1592700" cy="2084100"/>
          </a:xfrm>
          <a:prstGeom prst="roundRect">
            <a:avLst>
              <a:gd fmla="val 16667" name="adj"/>
            </a:avLst>
          </a:prstGeom>
          <a:solidFill>
            <a:srgbClr val="274E13"/>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rPr>
              <a:t>3 • USABLE</a:t>
            </a:r>
            <a:endParaRPr b="1" sz="1200">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Enough detail for a teammate</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No hand-holding required</a:t>
            </a:r>
            <a:endParaRPr sz="1000">
              <a:solidFill>
                <a:schemeClr val="lt1"/>
              </a:solidFill>
              <a:latin typeface="Calibri"/>
              <a:ea typeface="Calibri"/>
              <a:cs typeface="Calibri"/>
              <a:sym typeface="Calibri"/>
            </a:endParaRPr>
          </a:p>
        </p:txBody>
      </p:sp>
      <p:sp>
        <p:nvSpPr>
          <p:cNvPr id="99" name="Google Shape;99;p16"/>
          <p:cNvSpPr/>
          <p:nvPr/>
        </p:nvSpPr>
        <p:spPr>
          <a:xfrm>
            <a:off x="6487793" y="1840700"/>
            <a:ext cx="1592700" cy="2084100"/>
          </a:xfrm>
          <a:prstGeom prst="roundRect">
            <a:avLst>
              <a:gd fmla="val 16667" name="adj"/>
            </a:avLst>
          </a:prstGeom>
          <a:solidFill>
            <a:srgbClr val="351C75"/>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rPr>
              <a:t>4 • SHARED</a:t>
            </a:r>
            <a:endParaRPr b="1" sz="1200">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Actually in the team library</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Not only a personal folder</a:t>
            </a:r>
            <a:endParaRPr sz="10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03" name="Shape 103"/>
        <p:cNvGrpSpPr/>
        <p:nvPr/>
      </p:nvGrpSpPr>
      <p:grpSpPr>
        <a:xfrm>
          <a:off x="0" y="0"/>
          <a:ext cx="0" cy="0"/>
          <a:chOff x="0" y="0"/>
          <a:chExt cx="0" cy="0"/>
        </a:xfrm>
      </p:grpSpPr>
      <p:pic>
        <p:nvPicPr>
          <p:cNvPr id="104" name="Google Shape;104;p17"/>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05" name="Google Shape;105;p17"/>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06" name="Google Shape;106;p17"/>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07" name="Google Shape;107;p17"/>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08" name="Google Shape;108;p17"/>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Reusable Asset Example</a:t>
            </a:r>
            <a:endParaRPr sz="2300">
              <a:solidFill>
                <a:schemeClr val="lt1"/>
              </a:solidFill>
              <a:latin typeface="Poppins SemiBold"/>
              <a:ea typeface="Poppins SemiBold"/>
              <a:cs typeface="Poppins SemiBold"/>
              <a:sym typeface="Poppins SemiBold"/>
            </a:endParaRPr>
          </a:p>
        </p:txBody>
      </p:sp>
      <p:sp>
        <p:nvSpPr>
          <p:cNvPr id="109" name="Google Shape;109;p17"/>
          <p:cNvSpPr txBox="1"/>
          <p:nvPr/>
        </p:nvSpPr>
        <p:spPr>
          <a:xfrm>
            <a:off x="731799" y="1014300"/>
            <a:ext cx="6047400" cy="6804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Example only — participants should build an asset from their own repeated work.</a:t>
            </a:r>
            <a:endParaRPr>
              <a:solidFill>
                <a:schemeClr val="lt1"/>
              </a:solidFill>
              <a:latin typeface="Poppins"/>
              <a:ea typeface="Poppins"/>
              <a:cs typeface="Poppins"/>
              <a:sym typeface="Poppins"/>
            </a:endParaRPr>
          </a:p>
        </p:txBody>
      </p:sp>
      <p:sp>
        <p:nvSpPr>
          <p:cNvPr id="110" name="Google Shape;110;p17"/>
          <p:cNvSpPr/>
          <p:nvPr/>
        </p:nvSpPr>
        <p:spPr>
          <a:xfrm>
            <a:off x="860475" y="1758475"/>
            <a:ext cx="3494700" cy="2992200"/>
          </a:xfrm>
          <a:prstGeom prst="roundRect">
            <a:avLst>
              <a:gd fmla="val 16667" name="adj"/>
            </a:avLst>
          </a:prstGeom>
          <a:solidFill>
            <a:srgbClr val="FFFF00"/>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200"/>
              <a:t>MD ASSET: Regression Prioritization Template</a:t>
            </a:r>
            <a:endParaRPr b="1" sz="1200"/>
          </a:p>
          <a:p>
            <a:pPr indent="0" lvl="0" marL="0" rtl="0" algn="l">
              <a:spcBef>
                <a:spcPts val="0"/>
              </a:spcBef>
              <a:spcAft>
                <a:spcPts val="0"/>
              </a:spcAft>
              <a:buNone/>
            </a:pPr>
            <a:r>
              <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Purpose: prioritize regression tests against a PR.</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Inputs:</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PR diff / changed files</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Current regression suite</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Requirements</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Output:</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Priority-ranked tests</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Reason for each priority</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Coverage gaps</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 Validation checks</a:t>
            </a:r>
            <a:endParaRPr sz="1000">
              <a:solidFill>
                <a:srgbClr val="5A6473"/>
              </a:solidFill>
              <a:latin typeface="Calibri"/>
              <a:ea typeface="Calibri"/>
              <a:cs typeface="Calibri"/>
              <a:sym typeface="Calibri"/>
            </a:endParaRPr>
          </a:p>
          <a:p>
            <a:pPr indent="0" lvl="0" marL="0" rtl="0" algn="l">
              <a:spcBef>
                <a:spcPts val="0"/>
              </a:spcBef>
              <a:spcAft>
                <a:spcPts val="0"/>
              </a:spcAft>
              <a:buNone/>
            </a:pPr>
            <a:r>
              <a:t/>
            </a:r>
            <a:endParaRPr sz="1000">
              <a:solidFill>
                <a:srgbClr val="5A6473"/>
              </a:solidFill>
              <a:latin typeface="Calibri"/>
              <a:ea typeface="Calibri"/>
              <a:cs typeface="Calibri"/>
              <a:sym typeface="Calibri"/>
            </a:endParaRPr>
          </a:p>
          <a:p>
            <a:pPr indent="0" lvl="0" marL="0" rtl="0" algn="l">
              <a:spcBef>
                <a:spcPts val="0"/>
              </a:spcBef>
              <a:spcAft>
                <a:spcPts val="0"/>
              </a:spcAft>
              <a:buNone/>
            </a:pPr>
            <a:r>
              <a:rPr lang="en" sz="1000">
                <a:solidFill>
                  <a:srgbClr val="5A6473"/>
                </a:solidFill>
                <a:latin typeface="Calibri"/>
                <a:ea typeface="Calibri"/>
                <a:cs typeface="Calibri"/>
                <a:sym typeface="Calibri"/>
              </a:rPr>
              <a:t>Use when: a PR changes behavior and regression scope must be assessed.</a:t>
            </a:r>
            <a:endParaRPr sz="1000">
              <a:solidFill>
                <a:srgbClr val="5A6473"/>
              </a:solidFill>
              <a:latin typeface="Calibri"/>
              <a:ea typeface="Calibri"/>
              <a:cs typeface="Calibri"/>
              <a:sym typeface="Calibri"/>
            </a:endParaRPr>
          </a:p>
        </p:txBody>
      </p:sp>
      <p:sp>
        <p:nvSpPr>
          <p:cNvPr id="111" name="Google Shape;111;p17"/>
          <p:cNvSpPr/>
          <p:nvPr/>
        </p:nvSpPr>
        <p:spPr>
          <a:xfrm>
            <a:off x="4779625" y="1758475"/>
            <a:ext cx="3494700" cy="29922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Clr>
                <a:schemeClr val="dk1"/>
              </a:buClr>
              <a:buSzPts val="1234"/>
              <a:buFont typeface="Arial"/>
              <a:buNone/>
            </a:pPr>
            <a:r>
              <a:rPr b="1" lang="en" sz="1346">
                <a:solidFill>
                  <a:schemeClr val="lt1"/>
                </a:solidFill>
              </a:rPr>
              <a:t>SECOND-TASK TEST</a:t>
            </a:r>
            <a:endParaRPr b="1" sz="1346">
              <a:solidFill>
                <a:schemeClr val="lt1"/>
              </a:solidFill>
            </a:endParaRPr>
          </a:p>
          <a:p>
            <a:pPr indent="0" lvl="0" marL="0" rtl="0" algn="l">
              <a:spcBef>
                <a:spcPts val="0"/>
              </a:spcBef>
              <a:spcAft>
                <a:spcPts val="0"/>
              </a:spcAft>
              <a:buClr>
                <a:schemeClr val="dk1"/>
              </a:buClr>
              <a:buSzPts val="1234"/>
              <a:buFont typeface="Arial"/>
              <a:buNone/>
            </a:pPr>
            <a:r>
              <a:t/>
            </a:r>
            <a:endParaRPr b="1" sz="157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Task 1: authentication-related PR</a:t>
            </a:r>
            <a:endParaRPr sz="1000">
              <a:solidFill>
                <a:schemeClr val="lt1"/>
              </a:solidFill>
              <a:latin typeface="Calibri"/>
              <a:ea typeface="Calibri"/>
              <a:cs typeface="Calibri"/>
              <a:sym typeface="Calibri"/>
            </a:endParaRPr>
          </a:p>
          <a:p>
            <a:pPr indent="0" lvl="0" marL="0" rtl="0" algn="l">
              <a:spcBef>
                <a:spcPts val="0"/>
              </a:spcBef>
              <a:spcAft>
                <a:spcPts val="0"/>
              </a:spcAft>
              <a:buNone/>
            </a:pPr>
            <a:r>
              <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Task 2: unrelated business-feature PR</a:t>
            </a:r>
            <a:endParaRPr sz="1000">
              <a:solidFill>
                <a:schemeClr val="lt1"/>
              </a:solidFill>
              <a:latin typeface="Calibri"/>
              <a:ea typeface="Calibri"/>
              <a:cs typeface="Calibri"/>
              <a:sym typeface="Calibri"/>
            </a:endParaRPr>
          </a:p>
          <a:p>
            <a:pPr indent="0" lvl="0" marL="0" rtl="0" algn="l">
              <a:spcBef>
                <a:spcPts val="0"/>
              </a:spcBef>
              <a:spcAft>
                <a:spcPts val="0"/>
              </a:spcAft>
              <a:buNone/>
            </a:pPr>
            <a:r>
              <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Compare:</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 Does the template still produce useful prioritization?</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 Are assumptions exposed?</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 Does it identify coverage gaps?</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 What had to be changed?</a:t>
            </a:r>
            <a:endParaRPr sz="1000">
              <a:solidFill>
                <a:schemeClr val="lt1"/>
              </a:solidFill>
              <a:latin typeface="Calibri"/>
              <a:ea typeface="Calibri"/>
              <a:cs typeface="Calibri"/>
              <a:sym typeface="Calibri"/>
            </a:endParaRPr>
          </a:p>
          <a:p>
            <a:pPr indent="0" lvl="0" marL="0" rtl="0" algn="l">
              <a:spcBef>
                <a:spcPts val="0"/>
              </a:spcBef>
              <a:spcAft>
                <a:spcPts val="0"/>
              </a:spcAft>
              <a:buNone/>
            </a:pPr>
            <a:r>
              <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Record the evidence in the MD file.</a:t>
            </a:r>
            <a:endParaRPr sz="10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15" name="Shape 115"/>
        <p:cNvGrpSpPr/>
        <p:nvPr/>
      </p:nvGrpSpPr>
      <p:grpSpPr>
        <a:xfrm>
          <a:off x="0" y="0"/>
          <a:ext cx="0" cy="0"/>
          <a:chOff x="0" y="0"/>
          <a:chExt cx="0" cy="0"/>
        </a:xfrm>
      </p:grpSpPr>
      <p:pic>
        <p:nvPicPr>
          <p:cNvPr id="116" name="Google Shape;116;p18"/>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17" name="Google Shape;117;p18"/>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18" name="Google Shape;118;p18"/>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19" name="Google Shape;119;p18"/>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20" name="Google Shape;120;p18"/>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Activity 1 — Deliverable &amp; Sharing</a:t>
            </a:r>
            <a:endParaRPr sz="2300">
              <a:solidFill>
                <a:schemeClr val="lt1"/>
              </a:solidFill>
              <a:latin typeface="Poppins SemiBold"/>
              <a:ea typeface="Poppins SemiBold"/>
              <a:cs typeface="Poppins SemiBold"/>
              <a:sym typeface="Poppins SemiBold"/>
            </a:endParaRPr>
          </a:p>
        </p:txBody>
      </p:sp>
      <p:sp>
        <p:nvSpPr>
          <p:cNvPr id="121" name="Google Shape;121;p18"/>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One reusable asset shared to the team library.</a:t>
            </a:r>
            <a:endParaRPr>
              <a:solidFill>
                <a:schemeClr val="lt1"/>
              </a:solidFill>
              <a:latin typeface="Poppins"/>
              <a:ea typeface="Poppins"/>
              <a:cs typeface="Poppins"/>
              <a:sym typeface="Poppins"/>
            </a:endParaRPr>
          </a:p>
        </p:txBody>
      </p:sp>
      <p:sp>
        <p:nvSpPr>
          <p:cNvPr id="122" name="Google Shape;122;p18"/>
          <p:cNvSpPr/>
          <p:nvPr/>
        </p:nvSpPr>
        <p:spPr>
          <a:xfrm>
            <a:off x="1160575" y="1659675"/>
            <a:ext cx="6808800" cy="2549400"/>
          </a:xfrm>
          <a:prstGeom prst="roundRect">
            <a:avLst>
              <a:gd fmla="val 16667" name="adj"/>
            </a:avLst>
          </a:prstGeom>
          <a:solidFill>
            <a:srgbClr val="B45F06"/>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Failed Run A</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Asset name</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One-line description / when to use</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Intended user or audience</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Inputs required</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Instructions / prompt / checklist</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Expected output</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Validation notes</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Evidence from a second, different real task</a:t>
            </a:r>
            <a:endParaRPr sz="1022">
              <a:solidFill>
                <a:schemeClr val="lt1"/>
              </a:solidFill>
              <a:latin typeface="Calibri"/>
              <a:ea typeface="Calibri"/>
              <a:cs typeface="Calibri"/>
              <a:sym typeface="Calibri"/>
            </a:endParaRPr>
          </a:p>
          <a:p>
            <a:pPr indent="-293498" lvl="0" marL="457200" rtl="0" algn="l">
              <a:spcBef>
                <a:spcPts val="0"/>
              </a:spcBef>
              <a:spcAft>
                <a:spcPts val="0"/>
              </a:spcAft>
              <a:buClr>
                <a:schemeClr val="lt1"/>
              </a:buClr>
              <a:buSzPts val="1022"/>
              <a:buFont typeface="Calibri"/>
              <a:buChar char="❖"/>
            </a:pPr>
            <a:r>
              <a:rPr lang="en" sz="1022">
                <a:solidFill>
                  <a:schemeClr val="lt1"/>
                </a:solidFill>
                <a:latin typeface="Calibri"/>
                <a:ea typeface="Calibri"/>
                <a:cs typeface="Calibri"/>
                <a:sym typeface="Calibri"/>
              </a:rPr>
              <a:t>Team-library location / link</a:t>
            </a:r>
            <a:endParaRPr sz="1022">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26" name="Shape 126"/>
        <p:cNvGrpSpPr/>
        <p:nvPr/>
      </p:nvGrpSpPr>
      <p:grpSpPr>
        <a:xfrm>
          <a:off x="0" y="0"/>
          <a:ext cx="0" cy="0"/>
          <a:chOff x="0" y="0"/>
          <a:chExt cx="0" cy="0"/>
        </a:xfrm>
      </p:grpSpPr>
      <p:pic>
        <p:nvPicPr>
          <p:cNvPr id="127" name="Google Shape;127;p19"/>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28" name="Google Shape;128;p19"/>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29" name="Google Shape;129;p19"/>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30" name="Google Shape;130;p19"/>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31" name="Google Shape;131;p19"/>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Activity 2 — Dry Run</a:t>
            </a:r>
            <a:endParaRPr sz="2300">
              <a:solidFill>
                <a:schemeClr val="lt1"/>
              </a:solidFill>
              <a:latin typeface="Poppins SemiBold"/>
              <a:ea typeface="Poppins SemiBold"/>
              <a:cs typeface="Poppins SemiBold"/>
              <a:sym typeface="Poppins SemiBold"/>
            </a:endParaRPr>
          </a:p>
        </p:txBody>
      </p:sp>
      <p:sp>
        <p:nvSpPr>
          <p:cNvPr id="132" name="Google Shape;132;p19"/>
          <p:cNvSpPr txBox="1"/>
          <p:nvPr/>
        </p:nvSpPr>
        <p:spPr>
          <a:xfrm>
            <a:off x="731799" y="1014300"/>
            <a:ext cx="6047400" cy="6804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Objective: practice a mock Level 3 interview and receive direct feedback before the real interview.</a:t>
            </a:r>
            <a:endParaRPr>
              <a:solidFill>
                <a:schemeClr val="lt1"/>
              </a:solidFill>
              <a:latin typeface="Poppins"/>
              <a:ea typeface="Poppins"/>
              <a:cs typeface="Poppins"/>
              <a:sym typeface="Poppins"/>
            </a:endParaRPr>
          </a:p>
        </p:txBody>
      </p:sp>
      <p:sp>
        <p:nvSpPr>
          <p:cNvPr id="133" name="Google Shape;133;p19"/>
          <p:cNvSpPr/>
          <p:nvPr/>
        </p:nvSpPr>
        <p:spPr>
          <a:xfrm>
            <a:off x="1160575" y="1870600"/>
            <a:ext cx="2044200" cy="2338500"/>
          </a:xfrm>
          <a:prstGeom prst="roundRect">
            <a:avLst>
              <a:gd fmla="val 16667" name="adj"/>
            </a:avLst>
          </a:prstGeom>
          <a:solidFill>
            <a:srgbClr val="FFFF00"/>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600">
                <a:solidFill>
                  <a:srgbClr val="182336"/>
                </a:solidFill>
                <a:latin typeface="Calibri"/>
                <a:ea typeface="Calibri"/>
                <a:cs typeface="Calibri"/>
                <a:sym typeface="Calibri"/>
              </a:rPr>
              <a:t>PAIR</a:t>
            </a:r>
            <a:endParaRPr b="1" sz="1346"/>
          </a:p>
          <a:p>
            <a:pPr indent="0" lvl="0" marL="0" rtl="0" algn="l">
              <a:spcBef>
                <a:spcPts val="0"/>
              </a:spcBef>
              <a:spcAft>
                <a:spcPts val="0"/>
              </a:spcAft>
              <a:buNone/>
            </a:pPr>
            <a:r>
              <a:t/>
            </a:r>
            <a:endParaRPr b="1" sz="1571"/>
          </a:p>
          <a:p>
            <a:pPr indent="0" lvl="0" marL="0" rtl="0" algn="l">
              <a:spcBef>
                <a:spcPts val="0"/>
              </a:spcBef>
              <a:spcAft>
                <a:spcPts val="0"/>
              </a:spcAft>
              <a:buNone/>
            </a:pPr>
            <a:r>
              <a:rPr lang="en" sz="1122">
                <a:solidFill>
                  <a:srgbClr val="5A6473"/>
                </a:solidFill>
                <a:latin typeface="Calibri"/>
                <a:ea typeface="Calibri"/>
                <a:cs typeface="Calibri"/>
                <a:sym typeface="Calibri"/>
              </a:rPr>
              <a:t>Partner with another program member.</a:t>
            </a:r>
            <a:endParaRPr sz="1122">
              <a:solidFill>
                <a:srgbClr val="5A6473"/>
              </a:solidFill>
              <a:latin typeface="Calibri"/>
              <a:ea typeface="Calibri"/>
              <a:cs typeface="Calibri"/>
              <a:sym typeface="Calibri"/>
            </a:endParaRPr>
          </a:p>
          <a:p>
            <a:pPr indent="0" lvl="0" marL="0" rtl="0" algn="l">
              <a:spcBef>
                <a:spcPts val="0"/>
              </a:spcBef>
              <a:spcAft>
                <a:spcPts val="0"/>
              </a:spcAft>
              <a:buNone/>
            </a:pPr>
            <a:r>
              <a:t/>
            </a:r>
            <a:endParaRPr sz="1122">
              <a:solidFill>
                <a:srgbClr val="5A6473"/>
              </a:solidFill>
              <a:latin typeface="Calibri"/>
              <a:ea typeface="Calibri"/>
              <a:cs typeface="Calibri"/>
              <a:sym typeface="Calibri"/>
            </a:endParaRPr>
          </a:p>
          <a:p>
            <a:pPr indent="0" lvl="0" marL="0" rtl="0" algn="l">
              <a:spcBef>
                <a:spcPts val="0"/>
              </a:spcBef>
              <a:spcAft>
                <a:spcPts val="0"/>
              </a:spcAft>
              <a:buNone/>
            </a:pPr>
            <a:r>
              <a:rPr lang="en" sz="1122">
                <a:solidFill>
                  <a:srgbClr val="5A6473"/>
                </a:solidFill>
                <a:latin typeface="Calibri"/>
                <a:ea typeface="Calibri"/>
                <a:cs typeface="Calibri"/>
                <a:sym typeface="Calibri"/>
              </a:rPr>
              <a:t>Take turns as interviewer and candidate.</a:t>
            </a:r>
            <a:endParaRPr sz="1122">
              <a:solidFill>
                <a:srgbClr val="5A6473"/>
              </a:solidFill>
              <a:latin typeface="Calibri"/>
              <a:ea typeface="Calibri"/>
              <a:cs typeface="Calibri"/>
              <a:sym typeface="Calibri"/>
            </a:endParaRPr>
          </a:p>
        </p:txBody>
      </p:sp>
      <p:sp>
        <p:nvSpPr>
          <p:cNvPr id="134" name="Google Shape;134;p19"/>
          <p:cNvSpPr/>
          <p:nvPr/>
        </p:nvSpPr>
        <p:spPr>
          <a:xfrm>
            <a:off x="3453139" y="1870600"/>
            <a:ext cx="20442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Clr>
                <a:schemeClr val="dk1"/>
              </a:buClr>
              <a:buSzPts val="1234"/>
              <a:buFont typeface="Arial"/>
              <a:buNone/>
            </a:pPr>
            <a:r>
              <a:rPr b="1" lang="en" sz="1346">
                <a:solidFill>
                  <a:schemeClr val="lt1"/>
                </a:solidFill>
              </a:rPr>
              <a:t>INTERVIEW</a:t>
            </a:r>
            <a:endParaRPr b="1" sz="1346">
              <a:solidFill>
                <a:schemeClr val="lt1"/>
              </a:solidFill>
            </a:endParaRPr>
          </a:p>
          <a:p>
            <a:pPr indent="0" lvl="0" marL="0" rtl="0" algn="l">
              <a:spcBef>
                <a:spcPts val="0"/>
              </a:spcBef>
              <a:spcAft>
                <a:spcPts val="0"/>
              </a:spcAft>
              <a:buClr>
                <a:schemeClr val="dk1"/>
              </a:buClr>
              <a:buSzPts val="1234"/>
              <a:buFont typeface="Arial"/>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Run the full Interview Guide.</a:t>
            </a:r>
            <a:endParaRPr sz="1122">
              <a:solidFill>
                <a:schemeClr val="lt1"/>
              </a:solidFill>
              <a:latin typeface="Calibri"/>
              <a:ea typeface="Calibri"/>
              <a:cs typeface="Calibri"/>
              <a:sym typeface="Calibri"/>
            </a:endParaRPr>
          </a:p>
          <a:p>
            <a:pPr indent="0" lvl="0" marL="0" rtl="0" algn="l">
              <a:spcBef>
                <a:spcPts val="0"/>
              </a:spcBef>
              <a:spcAft>
                <a:spcPts val="0"/>
              </a:spcAft>
              <a:buNone/>
            </a:pPr>
            <a:r>
              <a:t/>
            </a:r>
            <a:endParaRPr sz="1122">
              <a:solidFill>
                <a:schemeClr val="lt1"/>
              </a:solidFill>
              <a:latin typeface="Calibri"/>
              <a:ea typeface="Calibri"/>
              <a:cs typeface="Calibri"/>
              <a:sym typeface="Calibri"/>
            </a:endParaRPr>
          </a:p>
          <a:p>
            <a:pPr indent="0" lvl="0" marL="0" rtl="0" algn="l">
              <a:spcBef>
                <a:spcPts val="0"/>
              </a:spcBef>
              <a:spcAft>
                <a:spcPts val="0"/>
              </a:spcAft>
              <a:buNone/>
            </a:pPr>
            <a:r>
              <a:rPr lang="en" sz="1122">
                <a:solidFill>
                  <a:schemeClr val="lt1"/>
                </a:solidFill>
                <a:latin typeface="Calibri"/>
                <a:ea typeface="Calibri"/>
                <a:cs typeface="Calibri"/>
                <a:sym typeface="Calibri"/>
              </a:rPr>
              <a:t>Do not skip questions.</a:t>
            </a:r>
            <a:endParaRPr sz="1122">
              <a:solidFill>
                <a:schemeClr val="lt1"/>
              </a:solidFill>
              <a:latin typeface="Calibri"/>
              <a:ea typeface="Calibri"/>
              <a:cs typeface="Calibri"/>
              <a:sym typeface="Calibri"/>
            </a:endParaRPr>
          </a:p>
        </p:txBody>
      </p:sp>
      <p:sp>
        <p:nvSpPr>
          <p:cNvPr id="135" name="Google Shape;135;p19"/>
          <p:cNvSpPr/>
          <p:nvPr/>
        </p:nvSpPr>
        <p:spPr>
          <a:xfrm>
            <a:off x="5745741" y="1870600"/>
            <a:ext cx="2044200" cy="2338500"/>
          </a:xfrm>
          <a:prstGeom prst="roundRect">
            <a:avLst>
              <a:gd fmla="val 16667" name="adj"/>
            </a:avLst>
          </a:prstGeom>
          <a:solidFill>
            <a:srgbClr val="274E13"/>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FEEDBACK</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Exchange honest feedback.</a:t>
            </a:r>
            <a:endParaRPr sz="1122">
              <a:solidFill>
                <a:schemeClr val="lt1"/>
              </a:solidFill>
              <a:latin typeface="Calibri"/>
              <a:ea typeface="Calibri"/>
              <a:cs typeface="Calibri"/>
              <a:sym typeface="Calibri"/>
            </a:endParaRPr>
          </a:p>
          <a:p>
            <a:pPr indent="0" lvl="0" marL="0" rtl="0" algn="l">
              <a:spcBef>
                <a:spcPts val="0"/>
              </a:spcBef>
              <a:spcAft>
                <a:spcPts val="0"/>
              </a:spcAft>
              <a:buNone/>
            </a:pPr>
            <a:r>
              <a:t/>
            </a:r>
            <a:endParaRPr sz="1122">
              <a:solidFill>
                <a:schemeClr val="lt1"/>
              </a:solidFill>
              <a:latin typeface="Calibri"/>
              <a:ea typeface="Calibri"/>
              <a:cs typeface="Calibri"/>
              <a:sym typeface="Calibri"/>
            </a:endParaRPr>
          </a:p>
          <a:p>
            <a:pPr indent="0" lvl="0" marL="0" rtl="0" algn="l">
              <a:spcBef>
                <a:spcPts val="0"/>
              </a:spcBef>
              <a:spcAft>
                <a:spcPts val="0"/>
              </a:spcAft>
              <a:buNone/>
            </a:pPr>
            <a:r>
              <a:rPr lang="en" sz="1122">
                <a:solidFill>
                  <a:schemeClr val="lt1"/>
                </a:solidFill>
                <a:latin typeface="Calibri"/>
                <a:ea typeface="Calibri"/>
                <a:cs typeface="Calibri"/>
                <a:sym typeface="Calibri"/>
              </a:rPr>
              <a:t>Coach observes part of one pairing or reviews a recording.</a:t>
            </a:r>
            <a:endParaRPr sz="1122">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39" name="Shape 139"/>
        <p:cNvGrpSpPr/>
        <p:nvPr/>
      </p:nvGrpSpPr>
      <p:grpSpPr>
        <a:xfrm>
          <a:off x="0" y="0"/>
          <a:ext cx="0" cy="0"/>
          <a:chOff x="0" y="0"/>
          <a:chExt cx="0" cy="0"/>
        </a:xfrm>
      </p:grpSpPr>
      <p:pic>
        <p:nvPicPr>
          <p:cNvPr id="140" name="Google Shape;140;p20"/>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41" name="Google Shape;141;p20"/>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42" name="Google Shape;142;p20"/>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43" name="Google Shape;143;p20"/>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44" name="Google Shape;144;p20"/>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Dry Run — What Good Answers Look Like</a:t>
            </a:r>
            <a:endParaRPr sz="2300">
              <a:solidFill>
                <a:schemeClr val="lt1"/>
              </a:solidFill>
              <a:latin typeface="Poppins SemiBold"/>
              <a:ea typeface="Poppins SemiBold"/>
              <a:cs typeface="Poppins SemiBold"/>
              <a:sym typeface="Poppins SemiBold"/>
            </a:endParaRPr>
          </a:p>
        </p:txBody>
      </p:sp>
      <p:sp>
        <p:nvSpPr>
          <p:cNvPr id="145" name="Google Shape;145;p20"/>
          <p:cNvSpPr txBox="1"/>
          <p:nvPr/>
        </p:nvSpPr>
        <p:spPr>
          <a:xfrm>
            <a:off x="731800" y="1014300"/>
            <a:ext cx="71283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Specific evidence beats generic statements.</a:t>
            </a:r>
            <a:endParaRPr>
              <a:solidFill>
                <a:schemeClr val="lt1"/>
              </a:solidFill>
              <a:latin typeface="Poppins"/>
              <a:ea typeface="Poppins"/>
              <a:cs typeface="Poppins"/>
              <a:sym typeface="Poppins"/>
            </a:endParaRPr>
          </a:p>
        </p:txBody>
      </p:sp>
      <p:grpSp>
        <p:nvGrpSpPr>
          <p:cNvPr id="146" name="Google Shape;146;p20"/>
          <p:cNvGrpSpPr/>
          <p:nvPr/>
        </p:nvGrpSpPr>
        <p:grpSpPr>
          <a:xfrm>
            <a:off x="409161" y="1758422"/>
            <a:ext cx="3958324" cy="2736572"/>
            <a:chOff x="860475" y="1638825"/>
            <a:chExt cx="2234700" cy="1285500"/>
          </a:xfrm>
        </p:grpSpPr>
        <p:sp>
          <p:nvSpPr>
            <p:cNvPr id="147" name="Google Shape;147;p20"/>
            <p:cNvSpPr/>
            <p:nvPr/>
          </p:nvSpPr>
          <p:spPr>
            <a:xfrm>
              <a:off x="860475" y="1638825"/>
              <a:ext cx="2234700" cy="12855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t" bIns="106375" lIns="106375" spcFirstLastPara="1" rIns="106375" wrap="square" tIns="106375">
              <a:noAutofit/>
            </a:bodyPr>
            <a:lstStyle/>
            <a:p>
              <a:pPr indent="0" lvl="0" marL="0" rtl="0" algn="l">
                <a:spcBef>
                  <a:spcPts val="0"/>
                </a:spcBef>
                <a:spcAft>
                  <a:spcPts val="0"/>
                </a:spcAft>
                <a:buNone/>
              </a:pPr>
              <a:r>
                <a:t/>
              </a:r>
              <a:endParaRPr b="1" sz="1629">
                <a:solidFill>
                  <a:schemeClr val="lt1"/>
                </a:solidFill>
              </a:endParaRPr>
            </a:p>
          </p:txBody>
        </p:sp>
        <p:sp>
          <p:nvSpPr>
            <p:cNvPr id="148" name="Google Shape;148;p20"/>
            <p:cNvSpPr txBox="1"/>
            <p:nvPr/>
          </p:nvSpPr>
          <p:spPr>
            <a:xfrm>
              <a:off x="976594" y="1737059"/>
              <a:ext cx="1416900" cy="201900"/>
            </a:xfrm>
            <a:prstGeom prst="rect">
              <a:avLst/>
            </a:prstGeom>
            <a:noFill/>
            <a:ln>
              <a:noFill/>
            </a:ln>
          </p:spPr>
          <p:txBody>
            <a:bodyPr anchorCtr="0" anchor="t" bIns="106375" lIns="106375" spcFirstLastPara="1" rIns="106375" wrap="square" tIns="106375">
              <a:spAutoFit/>
            </a:bodyPr>
            <a:lstStyle/>
            <a:p>
              <a:pPr indent="0" lvl="0" marL="0" rtl="0" algn="l">
                <a:spcBef>
                  <a:spcPts val="0"/>
                </a:spcBef>
                <a:spcAft>
                  <a:spcPts val="0"/>
                </a:spcAft>
                <a:buNone/>
              </a:pPr>
              <a:r>
                <a:rPr b="1" lang="en" sz="1396">
                  <a:solidFill>
                    <a:schemeClr val="lt1"/>
                  </a:solidFill>
                </a:rPr>
                <a:t>WEAK / VAGUE</a:t>
              </a:r>
              <a:endParaRPr b="1" sz="1396">
                <a:solidFill>
                  <a:schemeClr val="lt1"/>
                </a:solidFill>
              </a:endParaRPr>
            </a:p>
          </p:txBody>
        </p:sp>
        <p:sp>
          <p:nvSpPr>
            <p:cNvPr id="149" name="Google Shape;149;p20"/>
            <p:cNvSpPr txBox="1"/>
            <p:nvPr/>
          </p:nvSpPr>
          <p:spPr>
            <a:xfrm>
              <a:off x="929175" y="1962730"/>
              <a:ext cx="2097300" cy="486900"/>
            </a:xfrm>
            <a:prstGeom prst="rect">
              <a:avLst/>
            </a:prstGeom>
            <a:noFill/>
            <a:ln>
              <a:noFill/>
            </a:ln>
          </p:spPr>
          <p:txBody>
            <a:bodyPr anchorCtr="0" anchor="t" bIns="106375" lIns="106375" spcFirstLastPara="1" rIns="106375" wrap="square" tIns="106375">
              <a:spAutoFit/>
            </a:bodyPr>
            <a:lstStyle/>
            <a:p>
              <a:pPr indent="-304800" lvl="0" marL="457200" rtl="0" algn="l">
                <a:lnSpc>
                  <a:spcPct val="115000"/>
                </a:lnSpc>
                <a:spcBef>
                  <a:spcPts val="0"/>
                </a:spcBef>
                <a:spcAft>
                  <a:spcPts val="0"/>
                </a:spcAft>
                <a:buClr>
                  <a:schemeClr val="lt1"/>
                </a:buClr>
                <a:buSzPts val="1200"/>
                <a:buChar char="❖"/>
              </a:pPr>
              <a:r>
                <a:rPr lang="en" sz="1200">
                  <a:solidFill>
                    <a:schemeClr val="lt1"/>
                  </a:solidFill>
                </a:rPr>
                <a:t>“I used AI to improve my tests.”</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n" sz="1200">
                  <a:solidFill>
                    <a:schemeClr val="lt1"/>
                  </a:solidFill>
                </a:rPr>
                <a:t>“I checked the output and it worked.”</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n" sz="1200">
                  <a:solidFill>
                    <a:schemeClr val="lt1"/>
                  </a:solidFill>
                </a:rPr>
                <a:t>“I would probably validate it.”</a:t>
              </a:r>
              <a:endParaRPr sz="1200">
                <a:solidFill>
                  <a:schemeClr val="lt1"/>
                </a:solidFill>
              </a:endParaRPr>
            </a:p>
            <a:p>
              <a:pPr indent="0" lvl="0" marL="457200" rtl="0" algn="l">
                <a:lnSpc>
                  <a:spcPct val="115000"/>
                </a:lnSpc>
                <a:spcBef>
                  <a:spcPts val="0"/>
                </a:spcBef>
                <a:spcAft>
                  <a:spcPts val="0"/>
                </a:spcAft>
                <a:buNone/>
              </a:pPr>
              <a:r>
                <a:t/>
              </a:r>
              <a:endParaRPr sz="1200">
                <a:solidFill>
                  <a:schemeClr val="lt1"/>
                </a:solidFill>
              </a:endParaRPr>
            </a:p>
          </p:txBody>
        </p:sp>
      </p:grpSp>
      <p:grpSp>
        <p:nvGrpSpPr>
          <p:cNvPr id="150" name="Google Shape;150;p20"/>
          <p:cNvGrpSpPr/>
          <p:nvPr/>
        </p:nvGrpSpPr>
        <p:grpSpPr>
          <a:xfrm>
            <a:off x="4572012" y="1758422"/>
            <a:ext cx="3961555" cy="2736572"/>
            <a:chOff x="860475" y="1638825"/>
            <a:chExt cx="2297752" cy="1285500"/>
          </a:xfrm>
        </p:grpSpPr>
        <p:sp>
          <p:nvSpPr>
            <p:cNvPr id="151" name="Google Shape;151;p20"/>
            <p:cNvSpPr/>
            <p:nvPr/>
          </p:nvSpPr>
          <p:spPr>
            <a:xfrm>
              <a:off x="860475" y="1638825"/>
              <a:ext cx="2234700" cy="1285500"/>
            </a:xfrm>
            <a:prstGeom prst="roundRect">
              <a:avLst>
                <a:gd fmla="val 16667" name="adj"/>
              </a:avLst>
            </a:prstGeom>
            <a:solidFill>
              <a:srgbClr val="A61C00"/>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t" bIns="106375" lIns="106375" spcFirstLastPara="1" rIns="106375" wrap="square" tIns="106375">
              <a:noAutofit/>
            </a:bodyPr>
            <a:lstStyle/>
            <a:p>
              <a:pPr indent="0" lvl="0" marL="0" rtl="0" algn="l">
                <a:spcBef>
                  <a:spcPts val="0"/>
                </a:spcBef>
                <a:spcAft>
                  <a:spcPts val="0"/>
                </a:spcAft>
                <a:buNone/>
              </a:pPr>
              <a:r>
                <a:t/>
              </a:r>
              <a:endParaRPr b="1" sz="1629"/>
            </a:p>
          </p:txBody>
        </p:sp>
        <p:sp>
          <p:nvSpPr>
            <p:cNvPr id="152" name="Google Shape;152;p20"/>
            <p:cNvSpPr txBox="1"/>
            <p:nvPr/>
          </p:nvSpPr>
          <p:spPr>
            <a:xfrm>
              <a:off x="986581" y="1739928"/>
              <a:ext cx="1855500" cy="201900"/>
            </a:xfrm>
            <a:prstGeom prst="rect">
              <a:avLst/>
            </a:prstGeom>
            <a:noFill/>
            <a:ln>
              <a:noFill/>
            </a:ln>
          </p:spPr>
          <p:txBody>
            <a:bodyPr anchorCtr="0" anchor="t" bIns="106375" lIns="106375" spcFirstLastPara="1" rIns="106375" wrap="square" tIns="106375">
              <a:spAutoFit/>
            </a:bodyPr>
            <a:lstStyle/>
            <a:p>
              <a:pPr indent="0" lvl="0" marL="0" rtl="0" algn="l">
                <a:spcBef>
                  <a:spcPts val="0"/>
                </a:spcBef>
                <a:spcAft>
                  <a:spcPts val="0"/>
                </a:spcAft>
                <a:buNone/>
              </a:pPr>
              <a:r>
                <a:rPr b="1" lang="en" sz="1396">
                  <a:solidFill>
                    <a:schemeClr val="lt1"/>
                  </a:solidFill>
                </a:rPr>
                <a:t>STRONG / SPECIFIC</a:t>
              </a:r>
              <a:endParaRPr b="1" sz="1396">
                <a:solidFill>
                  <a:schemeClr val="lt1"/>
                </a:solidFill>
              </a:endParaRPr>
            </a:p>
          </p:txBody>
        </p:sp>
        <p:sp>
          <p:nvSpPr>
            <p:cNvPr id="153" name="Google Shape;153;p20"/>
            <p:cNvSpPr txBox="1"/>
            <p:nvPr/>
          </p:nvSpPr>
          <p:spPr>
            <a:xfrm>
              <a:off x="923527" y="1941826"/>
              <a:ext cx="2234700" cy="578100"/>
            </a:xfrm>
            <a:prstGeom prst="rect">
              <a:avLst/>
            </a:prstGeom>
            <a:noFill/>
            <a:ln>
              <a:noFill/>
            </a:ln>
          </p:spPr>
          <p:txBody>
            <a:bodyPr anchorCtr="0" anchor="t" bIns="106375" lIns="106375" spcFirstLastPara="1" rIns="106375" wrap="square" tIns="106375">
              <a:spAutoFit/>
            </a:bodyPr>
            <a:lstStyle/>
            <a:p>
              <a:pPr indent="0" lvl="0" marL="457200" rtl="0" algn="l">
                <a:lnSpc>
                  <a:spcPct val="150000"/>
                </a:lnSpc>
                <a:spcBef>
                  <a:spcPts val="0"/>
                </a:spcBef>
                <a:spcAft>
                  <a:spcPts val="0"/>
                </a:spcAft>
                <a:buNone/>
              </a:pPr>
              <a:r>
                <a:rPr lang="en" sz="1200">
                  <a:solidFill>
                    <a:schemeClr val="lt1"/>
                  </a:solidFill>
                </a:rPr>
                <a:t>“AI generated the selector. I ran it and the selector matched the wrong element. I checked the DOM, corrected it, reran the test, and logged the finding.”</a:t>
              </a:r>
              <a:endParaRPr sz="1200">
                <a:solidFill>
                  <a:schemeClr val="lt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57" name="Shape 157"/>
        <p:cNvGrpSpPr/>
        <p:nvPr/>
      </p:nvGrpSpPr>
      <p:grpSpPr>
        <a:xfrm>
          <a:off x="0" y="0"/>
          <a:ext cx="0" cy="0"/>
          <a:chOff x="0" y="0"/>
          <a:chExt cx="0" cy="0"/>
        </a:xfrm>
      </p:grpSpPr>
      <p:pic>
        <p:nvPicPr>
          <p:cNvPr id="158" name="Google Shape;158;p21"/>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59" name="Google Shape;159;p21"/>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60" name="Google Shape;160;p21"/>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61" name="Google Shape;161;p21"/>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62" name="Google Shape;162;p21"/>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Poppins SemiBold"/>
                <a:ea typeface="Poppins SemiBold"/>
                <a:cs typeface="Poppins SemiBold"/>
                <a:sym typeface="Poppins SemiBold"/>
              </a:rPr>
              <a:t>Dry Run — Minimum Standard</a:t>
            </a:r>
            <a:endParaRPr sz="2300">
              <a:solidFill>
                <a:schemeClr val="lt1"/>
              </a:solidFill>
              <a:latin typeface="Poppins SemiBold"/>
              <a:ea typeface="Poppins SemiBold"/>
              <a:cs typeface="Poppins SemiBold"/>
              <a:sym typeface="Poppins SemiBold"/>
            </a:endParaRPr>
          </a:p>
        </p:txBody>
      </p:sp>
      <p:sp>
        <p:nvSpPr>
          <p:cNvPr id="163" name="Google Shape;163;p21"/>
          <p:cNvSpPr txBox="1"/>
          <p:nvPr/>
        </p:nvSpPr>
        <p:spPr>
          <a:xfrm>
            <a:off x="731800" y="1014300"/>
            <a:ext cx="71283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Every participant completes the full guide and receives feedback.</a:t>
            </a:r>
            <a:endParaRPr>
              <a:solidFill>
                <a:schemeClr val="lt1"/>
              </a:solidFill>
              <a:latin typeface="Poppins"/>
              <a:ea typeface="Poppins"/>
              <a:cs typeface="Poppins"/>
              <a:sym typeface="Poppins"/>
            </a:endParaRPr>
          </a:p>
        </p:txBody>
      </p:sp>
      <p:sp>
        <p:nvSpPr>
          <p:cNvPr id="164" name="Google Shape;164;p21"/>
          <p:cNvSpPr/>
          <p:nvPr/>
        </p:nvSpPr>
        <p:spPr>
          <a:xfrm>
            <a:off x="929350" y="1634325"/>
            <a:ext cx="7037100" cy="27408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ctr" bIns="106375" lIns="106375" spcFirstLastPara="1" rIns="106375" wrap="square" tIns="106375">
            <a:noAutofit/>
          </a:bodyPr>
          <a:lstStyle/>
          <a:p>
            <a:pPr indent="0" lvl="0" marL="0" rtl="0" algn="l">
              <a:lnSpc>
                <a:spcPct val="115000"/>
              </a:lnSpc>
              <a:spcBef>
                <a:spcPts val="0"/>
              </a:spcBef>
              <a:spcAft>
                <a:spcPts val="0"/>
              </a:spcAft>
              <a:buNone/>
            </a:pPr>
            <a:r>
              <a:rPr lang="en">
                <a:solidFill>
                  <a:schemeClr val="lt1"/>
                </a:solidFill>
              </a:rPr>
              <a:t>✓ Full pass through the Interview Guide</a:t>
            </a:r>
            <a:endParaRPr>
              <a:solidFill>
                <a:schemeClr val="lt1"/>
              </a:solidFill>
            </a:endParaRPr>
          </a:p>
          <a:p>
            <a:pPr indent="0" lvl="0" marL="0" rtl="0" algn="l">
              <a:lnSpc>
                <a:spcPct val="115000"/>
              </a:lnSpc>
              <a:spcBef>
                <a:spcPts val="0"/>
              </a:spcBef>
              <a:spcAft>
                <a:spcPts val="0"/>
              </a:spcAft>
              <a:buNone/>
            </a:pPr>
            <a:r>
              <a:rPr lang="en">
                <a:solidFill>
                  <a:schemeClr val="lt1"/>
                </a:solidFill>
              </a:rPr>
              <a:t>✓ Answers grounded in real work from Weeks 1–4</a:t>
            </a:r>
            <a:endParaRPr>
              <a:solidFill>
                <a:schemeClr val="lt1"/>
              </a:solidFill>
            </a:endParaRPr>
          </a:p>
          <a:p>
            <a:pPr indent="0" lvl="0" marL="0" rtl="0" algn="l">
              <a:lnSpc>
                <a:spcPct val="115000"/>
              </a:lnSpc>
              <a:spcBef>
                <a:spcPts val="0"/>
              </a:spcBef>
              <a:spcAft>
                <a:spcPts val="0"/>
              </a:spcAft>
              <a:buNone/>
            </a:pPr>
            <a:r>
              <a:rPr lang="en">
                <a:solidFill>
                  <a:schemeClr val="lt1"/>
                </a:solidFill>
              </a:rPr>
              <a:t>✓ Partner feedback on at least 2 answers</a:t>
            </a:r>
            <a:endParaRPr>
              <a:solidFill>
                <a:schemeClr val="lt1"/>
              </a:solidFill>
            </a:endParaRPr>
          </a:p>
          <a:p>
            <a:pPr indent="0" lvl="0" marL="0" rtl="0" algn="l">
              <a:lnSpc>
                <a:spcPct val="115000"/>
              </a:lnSpc>
              <a:spcBef>
                <a:spcPts val="0"/>
              </a:spcBef>
              <a:spcAft>
                <a:spcPts val="0"/>
              </a:spcAft>
              <a:buNone/>
            </a:pPr>
            <a:r>
              <a:rPr lang="en">
                <a:solidFill>
                  <a:schemeClr val="lt1"/>
                </a:solidFill>
              </a:rPr>
              <a:t>✓ QA Coach feedback on at least 1 answer</a:t>
            </a:r>
            <a:endParaRPr>
              <a:solidFill>
                <a:schemeClr val="lt1"/>
              </a:solidFill>
            </a:endParaRPr>
          </a:p>
          <a:p>
            <a:pPr indent="0" lvl="0" marL="0" rtl="0" algn="l">
              <a:lnSpc>
                <a:spcPct val="115000"/>
              </a:lnSpc>
              <a:spcBef>
                <a:spcPts val="0"/>
              </a:spcBef>
              <a:spcAft>
                <a:spcPts val="0"/>
              </a:spcAft>
              <a:buNone/>
            </a:pPr>
            <a:r>
              <a:rPr lang="en">
                <a:solidFill>
                  <a:schemeClr val="lt1"/>
                </a:solidFill>
              </a:rPr>
              <a:t>✓ Logged in the daily-log file</a:t>
            </a:r>
            <a:endParaRPr>
              <a:solidFill>
                <a:schemeClr val="lt1"/>
              </a:solidFill>
            </a:endParaRPr>
          </a:p>
          <a:p>
            <a:pPr indent="0" lvl="0" marL="0" rtl="0" algn="l">
              <a:lnSpc>
                <a:spcPct val="115000"/>
              </a:lnSpc>
              <a:spcBef>
                <a:spcPts val="0"/>
              </a:spcBef>
              <a:spcAft>
                <a:spcPts val="0"/>
              </a:spcAft>
              <a:buNone/>
            </a:pPr>
            <a:r>
              <a:t/>
            </a:r>
            <a:endParaRPr>
              <a:solidFill>
                <a:schemeClr val="lt1"/>
              </a:solidFill>
            </a:endParaRPr>
          </a:p>
          <a:p>
            <a:pPr indent="0" lvl="0" marL="0" rtl="0" algn="l">
              <a:lnSpc>
                <a:spcPct val="115000"/>
              </a:lnSpc>
              <a:spcBef>
                <a:spcPts val="0"/>
              </a:spcBef>
              <a:spcAft>
                <a:spcPts val="0"/>
              </a:spcAft>
              <a:buNone/>
            </a:pPr>
            <a:r>
              <a:rPr lang="en">
                <a:solidFill>
                  <a:schemeClr val="lt1"/>
                </a:solidFill>
              </a:rPr>
              <a:t>Deliverable: completed mock interview + partner and Coach feedback notes</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68" name="Shape 168"/>
        <p:cNvGrpSpPr/>
        <p:nvPr/>
      </p:nvGrpSpPr>
      <p:grpSpPr>
        <a:xfrm>
          <a:off x="0" y="0"/>
          <a:ext cx="0" cy="0"/>
          <a:chOff x="0" y="0"/>
          <a:chExt cx="0" cy="0"/>
        </a:xfrm>
      </p:grpSpPr>
      <p:pic>
        <p:nvPicPr>
          <p:cNvPr id="169" name="Google Shape;169;p22"/>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70" name="Google Shape;170;p22"/>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71" name="Google Shape;171;p22"/>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72" name="Google Shape;172;p22"/>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73" name="Google Shape;173;p22"/>
          <p:cNvSpPr txBox="1"/>
          <p:nvPr/>
        </p:nvSpPr>
        <p:spPr>
          <a:xfrm>
            <a:off x="731525" y="461950"/>
            <a:ext cx="780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Poppins SemiBold"/>
                <a:ea typeface="Poppins SemiBold"/>
                <a:cs typeface="Poppins SemiBold"/>
                <a:sym typeface="Poppins SemiBold"/>
              </a:rPr>
              <a:t>Activity 3 — Formal Reassessment</a:t>
            </a:r>
            <a:endParaRPr sz="2000">
              <a:solidFill>
                <a:schemeClr val="lt1"/>
              </a:solidFill>
              <a:latin typeface="Poppins SemiBold"/>
              <a:ea typeface="Poppins SemiBold"/>
              <a:cs typeface="Poppins SemiBold"/>
              <a:sym typeface="Poppins SemiBold"/>
            </a:endParaRPr>
          </a:p>
        </p:txBody>
      </p:sp>
      <p:sp>
        <p:nvSpPr>
          <p:cNvPr id="174" name="Google Shape;174;p22"/>
          <p:cNvSpPr txBox="1"/>
          <p:nvPr/>
        </p:nvSpPr>
        <p:spPr>
          <a:xfrm>
            <a:off x="731799" y="1014300"/>
            <a:ext cx="6047400" cy="6804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Objective: sit a real Strict-mode Leveling interview and record the result.</a:t>
            </a:r>
            <a:endParaRPr>
              <a:solidFill>
                <a:schemeClr val="lt1"/>
              </a:solidFill>
              <a:latin typeface="Poppins"/>
              <a:ea typeface="Poppins"/>
              <a:cs typeface="Poppins"/>
              <a:sym typeface="Poppins"/>
            </a:endParaRPr>
          </a:p>
        </p:txBody>
      </p:sp>
      <p:sp>
        <p:nvSpPr>
          <p:cNvPr id="175" name="Google Shape;175;p22"/>
          <p:cNvSpPr/>
          <p:nvPr/>
        </p:nvSpPr>
        <p:spPr>
          <a:xfrm>
            <a:off x="795603" y="1648100"/>
            <a:ext cx="7237800" cy="27366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ctr" bIns="106375" lIns="106375" spcFirstLastPara="1" rIns="106375" wrap="square" tIns="106375">
            <a:noAutofit/>
          </a:bodyPr>
          <a:lstStyle/>
          <a:p>
            <a:pPr indent="-332039" lvl="0" marL="457200" rtl="0" algn="l">
              <a:spcBef>
                <a:spcPts val="0"/>
              </a:spcBef>
              <a:spcAft>
                <a:spcPts val="0"/>
              </a:spcAft>
              <a:buClr>
                <a:schemeClr val="lt1"/>
              </a:buClr>
              <a:buSzPts val="1629"/>
              <a:buAutoNum type="arabicPeriod"/>
            </a:pPr>
            <a:r>
              <a:rPr lang="en" sz="1629">
                <a:solidFill>
                  <a:schemeClr val="lt1"/>
                </a:solidFill>
              </a:rPr>
              <a:t>Sit the real Strict-mode Leveling interview.</a:t>
            </a:r>
            <a:endParaRPr sz="1629">
              <a:solidFill>
                <a:schemeClr val="lt1"/>
              </a:solidFill>
            </a:endParaRPr>
          </a:p>
          <a:p>
            <a:pPr indent="-332039" lvl="0" marL="457200" rtl="0" algn="l">
              <a:spcBef>
                <a:spcPts val="0"/>
              </a:spcBef>
              <a:spcAft>
                <a:spcPts val="0"/>
              </a:spcAft>
              <a:buClr>
                <a:schemeClr val="lt1"/>
              </a:buClr>
              <a:buSzPts val="1629"/>
              <a:buAutoNum type="arabicPeriod"/>
            </a:pPr>
            <a:r>
              <a:rPr lang="en" sz="1629">
                <a:solidFill>
                  <a:schemeClr val="lt1"/>
                </a:solidFill>
              </a:rPr>
              <a:t>Answer from real work across Weeks 1–4.</a:t>
            </a:r>
            <a:endParaRPr sz="1629">
              <a:solidFill>
                <a:schemeClr val="lt1"/>
              </a:solidFill>
            </a:endParaRPr>
          </a:p>
          <a:p>
            <a:pPr indent="-332039" lvl="0" marL="457200" rtl="0" algn="l">
              <a:spcBef>
                <a:spcPts val="0"/>
              </a:spcBef>
              <a:spcAft>
                <a:spcPts val="0"/>
              </a:spcAft>
              <a:buClr>
                <a:schemeClr val="lt1"/>
              </a:buClr>
              <a:buSzPts val="1629"/>
              <a:buAutoNum type="arabicPeriod"/>
            </a:pPr>
            <a:r>
              <a:rPr lang="en" sz="1629">
                <a:solidFill>
                  <a:schemeClr val="lt1"/>
                </a:solidFill>
              </a:rPr>
              <a:t>Interview is scored by the Full Scale AI Assessment skill.</a:t>
            </a:r>
            <a:endParaRPr sz="1629">
              <a:solidFill>
                <a:schemeClr val="lt1"/>
              </a:solidFill>
            </a:endParaRPr>
          </a:p>
          <a:p>
            <a:pPr indent="-332039" lvl="0" marL="457200" rtl="0" algn="l">
              <a:spcBef>
                <a:spcPts val="0"/>
              </a:spcBef>
              <a:spcAft>
                <a:spcPts val="0"/>
              </a:spcAft>
              <a:buClr>
                <a:schemeClr val="lt1"/>
              </a:buClr>
              <a:buSzPts val="1629"/>
              <a:buAutoNum type="arabicPeriod"/>
            </a:pPr>
            <a:r>
              <a:rPr lang="en" sz="1629">
                <a:solidFill>
                  <a:schemeClr val="lt1"/>
                </a:solidFill>
              </a:rPr>
              <a:t>Append the result to the assessment tracker.</a:t>
            </a:r>
            <a:endParaRPr sz="1629">
              <a:solidFill>
                <a:schemeClr val="lt1"/>
              </a:solidFill>
            </a:endParaRPr>
          </a:p>
          <a:p>
            <a:pPr indent="-332039" lvl="0" marL="457200" rtl="0" algn="l">
              <a:spcBef>
                <a:spcPts val="0"/>
              </a:spcBef>
              <a:spcAft>
                <a:spcPts val="0"/>
              </a:spcAft>
              <a:buClr>
                <a:schemeClr val="lt1"/>
              </a:buClr>
              <a:buSzPts val="1629"/>
              <a:buAutoNum type="arabicPeriod"/>
            </a:pPr>
            <a:r>
              <a:rPr lang="en" sz="1629">
                <a:solidFill>
                  <a:schemeClr val="lt1"/>
                </a:solidFill>
              </a:rPr>
              <a:t>The next dashboard build reflects the updated level and confidence.</a:t>
            </a:r>
            <a:endParaRPr sz="1629">
              <a:solidFill>
                <a:schemeClr val="lt1"/>
              </a:solidFill>
            </a:endParaRPr>
          </a:p>
          <a:p>
            <a:pPr indent="0" lvl="0" marL="0" rtl="0" algn="l">
              <a:spcBef>
                <a:spcPts val="0"/>
              </a:spcBef>
              <a:spcAft>
                <a:spcPts val="0"/>
              </a:spcAft>
              <a:buNone/>
            </a:pPr>
            <a:r>
              <a:t/>
            </a:r>
            <a:endParaRPr sz="1629">
              <a:solidFill>
                <a:schemeClr val="lt1"/>
              </a:solidFill>
            </a:endParaRPr>
          </a:p>
          <a:p>
            <a:pPr indent="0" lvl="0" marL="0" rtl="0" algn="l">
              <a:spcBef>
                <a:spcPts val="0"/>
              </a:spcBef>
              <a:spcAft>
                <a:spcPts val="0"/>
              </a:spcAft>
              <a:buNone/>
            </a:pPr>
            <a:r>
              <a:rPr i="1" lang="en" sz="1300">
                <a:solidFill>
                  <a:schemeClr val="lt1"/>
                </a:solidFill>
              </a:rPr>
              <a:t>DELIVERABLE: Completed Strict-mode Leveling interview transcript + tracker result.</a:t>
            </a:r>
            <a:endParaRPr i="1" sz="13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79" name="Shape 179"/>
        <p:cNvGrpSpPr/>
        <p:nvPr/>
      </p:nvGrpSpPr>
      <p:grpSpPr>
        <a:xfrm>
          <a:off x="0" y="0"/>
          <a:ext cx="0" cy="0"/>
          <a:chOff x="0" y="0"/>
          <a:chExt cx="0" cy="0"/>
        </a:xfrm>
      </p:grpSpPr>
      <p:pic>
        <p:nvPicPr>
          <p:cNvPr id="180" name="Google Shape;180;p23"/>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81" name="Google Shape;181;p23"/>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82" name="Google Shape;182;p23"/>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83" name="Google Shape;183;p23"/>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84" name="Google Shape;184;p23"/>
          <p:cNvSpPr txBox="1"/>
          <p:nvPr/>
        </p:nvSpPr>
        <p:spPr>
          <a:xfrm>
            <a:off x="731527" y="461950"/>
            <a:ext cx="7237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Poppins SemiBold"/>
                <a:ea typeface="Poppins SemiBold"/>
                <a:cs typeface="Poppins SemiBold"/>
                <a:sym typeface="Poppins SemiBold"/>
              </a:rPr>
              <a:t>Formal Reassessment — Evidence to Bring</a:t>
            </a:r>
            <a:endParaRPr sz="2100">
              <a:solidFill>
                <a:schemeClr val="lt1"/>
              </a:solidFill>
              <a:latin typeface="Poppins SemiBold"/>
              <a:ea typeface="Poppins SemiBold"/>
              <a:cs typeface="Poppins SemiBold"/>
              <a:sym typeface="Poppins SemiBold"/>
            </a:endParaRPr>
          </a:p>
        </p:txBody>
      </p:sp>
      <p:sp>
        <p:nvSpPr>
          <p:cNvPr id="185" name="Google Shape;185;p23"/>
          <p:cNvSpPr txBox="1"/>
          <p:nvPr/>
        </p:nvSpPr>
        <p:spPr>
          <a:xfrm>
            <a:off x="731799" y="1014300"/>
            <a:ext cx="6047400" cy="6804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Your strongest evidence comes from the actual work completed during the program.</a:t>
            </a:r>
            <a:endParaRPr>
              <a:solidFill>
                <a:schemeClr val="lt1"/>
              </a:solidFill>
              <a:latin typeface="Poppins"/>
              <a:ea typeface="Poppins"/>
              <a:cs typeface="Poppins"/>
              <a:sym typeface="Poppins"/>
            </a:endParaRPr>
          </a:p>
        </p:txBody>
      </p:sp>
      <p:sp>
        <p:nvSpPr>
          <p:cNvPr id="186" name="Google Shape;186;p23"/>
          <p:cNvSpPr/>
          <p:nvPr/>
        </p:nvSpPr>
        <p:spPr>
          <a:xfrm>
            <a:off x="1063513" y="1840700"/>
            <a:ext cx="1592700" cy="2084100"/>
          </a:xfrm>
          <a:prstGeom prst="roundRect">
            <a:avLst>
              <a:gd fmla="val 16667" name="adj"/>
            </a:avLst>
          </a:prstGeom>
          <a:solidFill>
            <a:srgbClr val="351C75"/>
          </a:solidFill>
          <a:ln cap="flat" cmpd="sng" w="9525">
            <a:solidFill>
              <a:srgbClr val="BF9000"/>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WEEK 1</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Real AI-assisted QA work</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Prompts and outputs</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Initial workflow</a:t>
            </a:r>
            <a:endParaRPr sz="1000">
              <a:solidFill>
                <a:schemeClr val="lt1"/>
              </a:solidFill>
              <a:latin typeface="Calibri"/>
              <a:ea typeface="Calibri"/>
              <a:cs typeface="Calibri"/>
              <a:sym typeface="Calibri"/>
            </a:endParaRPr>
          </a:p>
        </p:txBody>
      </p:sp>
      <p:sp>
        <p:nvSpPr>
          <p:cNvPr id="187" name="Google Shape;187;p23"/>
          <p:cNvSpPr/>
          <p:nvPr/>
        </p:nvSpPr>
        <p:spPr>
          <a:xfrm>
            <a:off x="2849652" y="1840700"/>
            <a:ext cx="1592700" cy="2084100"/>
          </a:xfrm>
          <a:prstGeom prst="roundRect">
            <a:avLst>
              <a:gd fmla="val 16667" name="adj"/>
            </a:avLst>
          </a:prstGeom>
          <a:solidFill>
            <a:srgbClr val="BF9000"/>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lt1"/>
                </a:solidFill>
              </a:rPr>
              <a:t>WEEK 2</a:t>
            </a:r>
            <a:endParaRPr b="1" sz="1200">
              <a:solidFill>
                <a:schemeClr val="lt1"/>
              </a:solidFill>
            </a:endParaRPr>
          </a:p>
          <a:p>
            <a:pPr indent="0" lvl="0" marL="0" rtl="0" algn="l">
              <a:spcBef>
                <a:spcPts val="0"/>
              </a:spcBef>
              <a:spcAft>
                <a:spcPts val="0"/>
              </a:spcAft>
              <a:buClr>
                <a:schemeClr val="dk1"/>
              </a:buClr>
              <a:buSzPts val="1100"/>
              <a:buFont typeface="Arial"/>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Validation checklist</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AI-wrong case</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Pre-acceptance</a:t>
            </a:r>
            <a:endParaRPr sz="1000">
              <a:solidFill>
                <a:schemeClr val="lt1"/>
              </a:solidFill>
              <a:latin typeface="Calibri"/>
              <a:ea typeface="Calibri"/>
              <a:cs typeface="Calibri"/>
              <a:sym typeface="Calibri"/>
            </a:endParaRPr>
          </a:p>
        </p:txBody>
      </p:sp>
      <p:sp>
        <p:nvSpPr>
          <p:cNvPr id="188" name="Google Shape;188;p23"/>
          <p:cNvSpPr/>
          <p:nvPr/>
        </p:nvSpPr>
        <p:spPr>
          <a:xfrm>
            <a:off x="4635821" y="1840700"/>
            <a:ext cx="1592700" cy="2084100"/>
          </a:xfrm>
          <a:prstGeom prst="roundRect">
            <a:avLst>
              <a:gd fmla="val 16667" name="adj"/>
            </a:avLst>
          </a:prstGeom>
          <a:solidFill>
            <a:srgbClr val="434343"/>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rPr>
              <a:t>WEEK 3</a:t>
            </a:r>
            <a:endParaRPr b="1" sz="1200">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Failure RCA</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Generated test</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Regression / coverage</a:t>
            </a:r>
            <a:endParaRPr sz="1000">
              <a:solidFill>
                <a:schemeClr val="lt1"/>
              </a:solidFill>
              <a:latin typeface="Calibri"/>
              <a:ea typeface="Calibri"/>
              <a:cs typeface="Calibri"/>
              <a:sym typeface="Calibri"/>
            </a:endParaRPr>
          </a:p>
        </p:txBody>
      </p:sp>
      <p:sp>
        <p:nvSpPr>
          <p:cNvPr id="189" name="Google Shape;189;p23"/>
          <p:cNvSpPr/>
          <p:nvPr/>
        </p:nvSpPr>
        <p:spPr>
          <a:xfrm>
            <a:off x="6487793" y="1840700"/>
            <a:ext cx="1592700" cy="2084100"/>
          </a:xfrm>
          <a:prstGeom prst="roundRect">
            <a:avLst>
              <a:gd fmla="val 16667" name="adj"/>
            </a:avLst>
          </a:prstGeom>
          <a:solidFill>
            <a:srgbClr val="C27BA0"/>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rPr>
              <a:t>WEEK 4</a:t>
            </a:r>
            <a:endParaRPr b="1" sz="1200">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lang="en" sz="1000">
                <a:solidFill>
                  <a:schemeClr val="lt1"/>
                </a:solidFill>
                <a:latin typeface="Calibri"/>
                <a:ea typeface="Calibri"/>
                <a:cs typeface="Calibri"/>
                <a:sym typeface="Calibri"/>
              </a:rPr>
              <a:t>Reusable asset</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Dry run</a:t>
            </a:r>
            <a:endParaRPr sz="1000">
              <a:solidFill>
                <a:schemeClr val="lt1"/>
              </a:solidFill>
              <a:latin typeface="Calibri"/>
              <a:ea typeface="Calibri"/>
              <a:cs typeface="Calibri"/>
              <a:sym typeface="Calibri"/>
            </a:endParaRPr>
          </a:p>
          <a:p>
            <a:pPr indent="0" lvl="0" marL="0" rtl="0" algn="l">
              <a:spcBef>
                <a:spcPts val="0"/>
              </a:spcBef>
              <a:spcAft>
                <a:spcPts val="0"/>
              </a:spcAft>
              <a:buNone/>
            </a:pPr>
            <a:r>
              <a:rPr lang="en" sz="1000">
                <a:solidFill>
                  <a:schemeClr val="lt1"/>
                </a:solidFill>
                <a:latin typeface="Calibri"/>
                <a:ea typeface="Calibri"/>
                <a:cs typeface="Calibri"/>
                <a:sym typeface="Calibri"/>
              </a:rPr>
              <a:t>Formal reassessment</a:t>
            </a:r>
            <a:endParaRPr sz="10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93" name="Shape 193"/>
        <p:cNvGrpSpPr/>
        <p:nvPr/>
      </p:nvGrpSpPr>
      <p:grpSpPr>
        <a:xfrm>
          <a:off x="0" y="0"/>
          <a:ext cx="0" cy="0"/>
          <a:chOff x="0" y="0"/>
          <a:chExt cx="0" cy="0"/>
        </a:xfrm>
      </p:grpSpPr>
      <p:pic>
        <p:nvPicPr>
          <p:cNvPr id="194" name="Google Shape;194;p24"/>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195" name="Google Shape;195;p24"/>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196" name="Google Shape;196;p24"/>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97" name="Google Shape;197;p24"/>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198" name="Google Shape;198;p24"/>
          <p:cNvSpPr txBox="1"/>
          <p:nvPr/>
        </p:nvSpPr>
        <p:spPr>
          <a:xfrm>
            <a:off x="731527" y="461950"/>
            <a:ext cx="7237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Poppins SemiBold"/>
                <a:ea typeface="Poppins SemiBold"/>
                <a:cs typeface="Poppins SemiBold"/>
                <a:sym typeface="Poppins SemiBold"/>
              </a:rPr>
              <a:t>Week 4 — Sustaining the Validation Habit</a:t>
            </a:r>
            <a:endParaRPr sz="2100">
              <a:solidFill>
                <a:schemeClr val="lt1"/>
              </a:solidFill>
              <a:latin typeface="Poppins SemiBold"/>
              <a:ea typeface="Poppins SemiBold"/>
              <a:cs typeface="Poppins SemiBold"/>
              <a:sym typeface="Poppins SemiBold"/>
            </a:endParaRPr>
          </a:p>
        </p:txBody>
      </p:sp>
      <p:sp>
        <p:nvSpPr>
          <p:cNvPr id="199" name="Google Shape;199;p24"/>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The program does not end with a single successful interview.</a:t>
            </a:r>
            <a:endParaRPr>
              <a:solidFill>
                <a:schemeClr val="lt1"/>
              </a:solidFill>
              <a:latin typeface="Poppins"/>
              <a:ea typeface="Poppins"/>
              <a:cs typeface="Poppins"/>
              <a:sym typeface="Poppins"/>
            </a:endParaRPr>
          </a:p>
        </p:txBody>
      </p:sp>
      <p:sp>
        <p:nvSpPr>
          <p:cNvPr id="200" name="Google Shape;200;p24"/>
          <p:cNvSpPr/>
          <p:nvPr/>
        </p:nvSpPr>
        <p:spPr>
          <a:xfrm>
            <a:off x="731525" y="1870600"/>
            <a:ext cx="2411400" cy="2338500"/>
          </a:xfrm>
          <a:prstGeom prst="roundRect">
            <a:avLst>
              <a:gd fmla="val 16667" name="adj"/>
            </a:avLst>
          </a:prstGeom>
          <a:solidFill>
            <a:srgbClr val="38761D"/>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VALIDATION</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Checklist use visible across Weeks 2–4</a:t>
            </a:r>
            <a:endParaRPr sz="1122">
              <a:solidFill>
                <a:schemeClr val="lt1"/>
              </a:solidFill>
              <a:latin typeface="Calibri"/>
              <a:ea typeface="Calibri"/>
              <a:cs typeface="Calibri"/>
              <a:sym typeface="Calibri"/>
            </a:endParaRPr>
          </a:p>
          <a:p>
            <a:pPr indent="0" lvl="0" marL="0" rtl="0" algn="l">
              <a:spcBef>
                <a:spcPts val="0"/>
              </a:spcBef>
              <a:spcAft>
                <a:spcPts val="0"/>
              </a:spcAft>
              <a:buNone/>
            </a:pPr>
            <a:r>
              <a:t/>
            </a:r>
            <a:endParaRPr sz="1122">
              <a:solidFill>
                <a:schemeClr val="lt1"/>
              </a:solidFill>
              <a:latin typeface="Calibri"/>
              <a:ea typeface="Calibri"/>
              <a:cs typeface="Calibri"/>
              <a:sym typeface="Calibri"/>
            </a:endParaRPr>
          </a:p>
          <a:p>
            <a:pPr indent="0" lvl="0" marL="0" rtl="0" algn="l">
              <a:spcBef>
                <a:spcPts val="0"/>
              </a:spcBef>
              <a:spcAft>
                <a:spcPts val="0"/>
              </a:spcAft>
              <a:buNone/>
            </a:pPr>
            <a:r>
              <a:rPr lang="en" sz="1122">
                <a:solidFill>
                  <a:schemeClr val="lt1"/>
                </a:solidFill>
                <a:latin typeface="Calibri"/>
                <a:ea typeface="Calibri"/>
                <a:cs typeface="Calibri"/>
                <a:sym typeface="Calibri"/>
              </a:rPr>
              <a:t>Not a one-time exercise.</a:t>
            </a:r>
            <a:endParaRPr sz="1122">
              <a:solidFill>
                <a:schemeClr val="lt1"/>
              </a:solidFill>
              <a:latin typeface="Calibri"/>
              <a:ea typeface="Calibri"/>
              <a:cs typeface="Calibri"/>
              <a:sym typeface="Calibri"/>
            </a:endParaRPr>
          </a:p>
        </p:txBody>
      </p:sp>
      <p:sp>
        <p:nvSpPr>
          <p:cNvPr id="201" name="Google Shape;201;p24"/>
          <p:cNvSpPr/>
          <p:nvPr/>
        </p:nvSpPr>
        <p:spPr>
          <a:xfrm>
            <a:off x="3435779" y="1870600"/>
            <a:ext cx="24114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Clr>
                <a:schemeClr val="dk1"/>
              </a:buClr>
              <a:buSzPts val="1234"/>
              <a:buFont typeface="Arial"/>
              <a:buNone/>
            </a:pPr>
            <a:r>
              <a:rPr b="1" lang="en" sz="1346">
                <a:solidFill>
                  <a:schemeClr val="lt1"/>
                </a:solidFill>
              </a:rPr>
              <a:t>REUSE</a:t>
            </a:r>
            <a:endParaRPr b="1" sz="1346">
              <a:solidFill>
                <a:schemeClr val="lt1"/>
              </a:solidFill>
            </a:endParaRPr>
          </a:p>
          <a:p>
            <a:pPr indent="0" lvl="0" marL="0" rtl="0" algn="l">
              <a:spcBef>
                <a:spcPts val="0"/>
              </a:spcBef>
              <a:spcAft>
                <a:spcPts val="0"/>
              </a:spcAft>
              <a:buClr>
                <a:schemeClr val="dk1"/>
              </a:buClr>
              <a:buSzPts val="1234"/>
              <a:buFont typeface="Arial"/>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Reusable asset is live in the team library.</a:t>
            </a:r>
            <a:endParaRPr sz="1122">
              <a:solidFill>
                <a:schemeClr val="lt1"/>
              </a:solidFill>
              <a:latin typeface="Calibri"/>
              <a:ea typeface="Calibri"/>
              <a:cs typeface="Calibri"/>
              <a:sym typeface="Calibri"/>
            </a:endParaRPr>
          </a:p>
          <a:p>
            <a:pPr indent="0" lvl="0" marL="0" rtl="0" algn="l">
              <a:spcBef>
                <a:spcPts val="0"/>
              </a:spcBef>
              <a:spcAft>
                <a:spcPts val="0"/>
              </a:spcAft>
              <a:buNone/>
            </a:pPr>
            <a:r>
              <a:t/>
            </a:r>
            <a:endParaRPr sz="1122">
              <a:solidFill>
                <a:schemeClr val="lt1"/>
              </a:solidFill>
              <a:latin typeface="Calibri"/>
              <a:ea typeface="Calibri"/>
              <a:cs typeface="Calibri"/>
              <a:sym typeface="Calibri"/>
            </a:endParaRPr>
          </a:p>
          <a:p>
            <a:pPr indent="0" lvl="0" marL="0" rtl="0" algn="l">
              <a:spcBef>
                <a:spcPts val="0"/>
              </a:spcBef>
              <a:spcAft>
                <a:spcPts val="0"/>
              </a:spcAft>
              <a:buNone/>
            </a:pPr>
            <a:r>
              <a:rPr lang="en" sz="1122">
                <a:solidFill>
                  <a:schemeClr val="lt1"/>
                </a:solidFill>
                <a:latin typeface="Calibri"/>
                <a:ea typeface="Calibri"/>
                <a:cs typeface="Calibri"/>
                <a:sym typeface="Calibri"/>
              </a:rPr>
              <a:t>Someone else can pick it up.</a:t>
            </a:r>
            <a:endParaRPr sz="1122">
              <a:solidFill>
                <a:schemeClr val="lt1"/>
              </a:solidFill>
              <a:latin typeface="Calibri"/>
              <a:ea typeface="Calibri"/>
              <a:cs typeface="Calibri"/>
              <a:sym typeface="Calibri"/>
            </a:endParaRPr>
          </a:p>
        </p:txBody>
      </p:sp>
      <p:sp>
        <p:nvSpPr>
          <p:cNvPr id="202" name="Google Shape;202;p24"/>
          <p:cNvSpPr/>
          <p:nvPr/>
        </p:nvSpPr>
        <p:spPr>
          <a:xfrm>
            <a:off x="6140050" y="1870600"/>
            <a:ext cx="2411400" cy="2338500"/>
          </a:xfrm>
          <a:prstGeom prst="roundRect">
            <a:avLst>
              <a:gd fmla="val 16667" name="adj"/>
            </a:avLst>
          </a:prstGeom>
          <a:solidFill>
            <a:srgbClr val="0C343D"/>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AI Gap Report</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Strict-mode result is recorded.</a:t>
            </a:r>
            <a:endParaRPr sz="1122">
              <a:solidFill>
                <a:schemeClr val="lt1"/>
              </a:solidFill>
              <a:latin typeface="Calibri"/>
              <a:ea typeface="Calibri"/>
              <a:cs typeface="Calibri"/>
              <a:sym typeface="Calibri"/>
            </a:endParaRPr>
          </a:p>
          <a:p>
            <a:pPr indent="0" lvl="0" marL="0" rtl="0" algn="l">
              <a:spcBef>
                <a:spcPts val="0"/>
              </a:spcBef>
              <a:spcAft>
                <a:spcPts val="0"/>
              </a:spcAft>
              <a:buNone/>
            </a:pPr>
            <a:r>
              <a:t/>
            </a:r>
            <a:endParaRPr sz="1122">
              <a:solidFill>
                <a:schemeClr val="lt1"/>
              </a:solidFill>
              <a:latin typeface="Calibri"/>
              <a:ea typeface="Calibri"/>
              <a:cs typeface="Calibri"/>
              <a:sym typeface="Calibri"/>
            </a:endParaRPr>
          </a:p>
          <a:p>
            <a:pPr indent="0" lvl="0" marL="0" rtl="0" algn="l">
              <a:spcBef>
                <a:spcPts val="0"/>
              </a:spcBef>
              <a:spcAft>
                <a:spcPts val="0"/>
              </a:spcAft>
              <a:buNone/>
            </a:pPr>
            <a:r>
              <a:rPr lang="en" sz="1122">
                <a:solidFill>
                  <a:schemeClr val="lt1"/>
                </a:solidFill>
                <a:latin typeface="Calibri"/>
                <a:ea typeface="Calibri"/>
                <a:cs typeface="Calibri"/>
                <a:sym typeface="Calibri"/>
              </a:rPr>
              <a:t>Tracker and dashboard are updated.</a:t>
            </a:r>
            <a:endParaRPr sz="1122">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06" name="Shape 206"/>
        <p:cNvGrpSpPr/>
        <p:nvPr/>
      </p:nvGrpSpPr>
      <p:grpSpPr>
        <a:xfrm>
          <a:off x="0" y="0"/>
          <a:ext cx="0" cy="0"/>
          <a:chOff x="0" y="0"/>
          <a:chExt cx="0" cy="0"/>
        </a:xfrm>
      </p:grpSpPr>
      <p:pic>
        <p:nvPicPr>
          <p:cNvPr id="207" name="Google Shape;207;p25"/>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08" name="Google Shape;208;p25"/>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09" name="Google Shape;209;p25"/>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10" name="Google Shape;210;p25"/>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11" name="Google Shape;211;p25"/>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oppins SemiBold"/>
                <a:ea typeface="Poppins SemiBold"/>
                <a:cs typeface="Poppins SemiBold"/>
                <a:sym typeface="Poppins SemiBold"/>
              </a:rPr>
              <a:t>Week 4 Gate</a:t>
            </a:r>
            <a:endParaRPr sz="1900">
              <a:solidFill>
                <a:schemeClr val="lt1"/>
              </a:solidFill>
              <a:latin typeface="Poppins SemiBold"/>
              <a:ea typeface="Poppins SemiBold"/>
              <a:cs typeface="Poppins SemiBold"/>
              <a:sym typeface="Poppins SemiBold"/>
            </a:endParaRPr>
          </a:p>
        </p:txBody>
      </p:sp>
      <p:sp>
        <p:nvSpPr>
          <p:cNvPr id="212" name="Google Shape;212;p25"/>
          <p:cNvSpPr txBox="1"/>
          <p:nvPr/>
        </p:nvSpPr>
        <p:spPr>
          <a:xfrm>
            <a:off x="731800" y="1014300"/>
            <a:ext cx="7050600" cy="384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sz="1300">
                <a:solidFill>
                  <a:schemeClr val="lt1"/>
                </a:solidFill>
                <a:latin typeface="Poppins"/>
                <a:ea typeface="Poppins"/>
                <a:cs typeface="Poppins"/>
                <a:sym typeface="Poppins"/>
              </a:rPr>
              <a:t>Objective: confirm the Level 3 habit is sustained, not just true for one interview.</a:t>
            </a:r>
            <a:endParaRPr sz="1300">
              <a:solidFill>
                <a:schemeClr val="lt1"/>
              </a:solidFill>
              <a:latin typeface="Poppins"/>
              <a:ea typeface="Poppins"/>
              <a:cs typeface="Poppins"/>
              <a:sym typeface="Poppins"/>
            </a:endParaRPr>
          </a:p>
        </p:txBody>
      </p:sp>
      <p:sp>
        <p:nvSpPr>
          <p:cNvPr id="213" name="Google Shape;213;p25"/>
          <p:cNvSpPr/>
          <p:nvPr/>
        </p:nvSpPr>
        <p:spPr>
          <a:xfrm>
            <a:off x="860475" y="1568525"/>
            <a:ext cx="7050600" cy="3030000"/>
          </a:xfrm>
          <a:prstGeom prst="roundRect">
            <a:avLst>
              <a:gd fmla="val 16667" name="adj"/>
            </a:avLst>
          </a:prstGeom>
          <a:solidFill>
            <a:srgbClr val="B45F06"/>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ctr" bIns="106375" lIns="106375" spcFirstLastPara="1" rIns="106375" wrap="square" tIns="106375">
            <a:noAutofit/>
          </a:bodyPr>
          <a:lstStyle/>
          <a:p>
            <a:pPr indent="0" lvl="0" marL="0" rtl="0" algn="l">
              <a:lnSpc>
                <a:spcPct val="115000"/>
              </a:lnSpc>
              <a:spcBef>
                <a:spcPts val="0"/>
              </a:spcBef>
              <a:spcAft>
                <a:spcPts val="0"/>
              </a:spcAft>
              <a:buNone/>
            </a:pPr>
            <a:r>
              <a:rPr lang="en">
                <a:solidFill>
                  <a:schemeClr val="lt1"/>
                </a:solidFill>
              </a:rPr>
              <a:t>1. Tracker shows Validation Checklist use across Weeks 2–4.</a:t>
            </a:r>
            <a:endParaRPr>
              <a:solidFill>
                <a:schemeClr val="lt1"/>
              </a:solidFill>
            </a:endParaRPr>
          </a:p>
          <a:p>
            <a:pPr indent="0" lvl="0" marL="0" rtl="0" algn="l">
              <a:lnSpc>
                <a:spcPct val="115000"/>
              </a:lnSpc>
              <a:spcBef>
                <a:spcPts val="1000"/>
              </a:spcBef>
              <a:spcAft>
                <a:spcPts val="0"/>
              </a:spcAft>
              <a:buNone/>
            </a:pPr>
            <a:r>
              <a:rPr lang="en">
                <a:solidFill>
                  <a:schemeClr val="lt1"/>
                </a:solidFill>
              </a:rPr>
              <a:t>2. Strict-mode Leveling interview is completed.</a:t>
            </a:r>
            <a:endParaRPr>
              <a:solidFill>
                <a:schemeClr val="lt1"/>
              </a:solidFill>
            </a:endParaRPr>
          </a:p>
          <a:p>
            <a:pPr indent="0" lvl="0" marL="0" rtl="0" algn="l">
              <a:lnSpc>
                <a:spcPct val="115000"/>
              </a:lnSpc>
              <a:spcBef>
                <a:spcPts val="1000"/>
              </a:spcBef>
              <a:spcAft>
                <a:spcPts val="0"/>
              </a:spcAft>
              <a:buNone/>
            </a:pPr>
            <a:r>
              <a:rPr lang="en">
                <a:solidFill>
                  <a:schemeClr val="lt1"/>
                </a:solidFill>
              </a:rPr>
              <a:t>3. Reusable asset is live in the team library.</a:t>
            </a:r>
            <a:endParaRPr>
              <a:solidFill>
                <a:schemeClr val="lt1"/>
              </a:solidFill>
            </a:endParaRPr>
          </a:p>
          <a:p>
            <a:pPr indent="0" lvl="0" marL="0" rtl="0" algn="l">
              <a:lnSpc>
                <a:spcPct val="115000"/>
              </a:lnSpc>
              <a:spcBef>
                <a:spcPts val="1000"/>
              </a:spcBef>
              <a:spcAft>
                <a:spcPts val="0"/>
              </a:spcAft>
              <a:buNone/>
            </a:pPr>
            <a:r>
              <a:rPr lang="en">
                <a:solidFill>
                  <a:schemeClr val="lt1"/>
                </a:solidFill>
              </a:rPr>
              <a:t>4. Reassessment result is appended to the assessment tracker.</a:t>
            </a:r>
            <a:endParaRPr>
              <a:solidFill>
                <a:schemeClr val="lt1"/>
              </a:solidFill>
            </a:endParaRPr>
          </a:p>
          <a:p>
            <a:pPr indent="0" lvl="0" marL="0" rtl="0" algn="l">
              <a:lnSpc>
                <a:spcPct val="115000"/>
              </a:lnSpc>
              <a:spcBef>
                <a:spcPts val="1000"/>
              </a:spcBef>
              <a:spcAft>
                <a:spcPts val="1000"/>
              </a:spcAft>
              <a:buNone/>
            </a:pPr>
            <a:r>
              <a:rPr lang="en">
                <a:solidFill>
                  <a:schemeClr val="lt1"/>
                </a:solidFill>
              </a:rPr>
              <a:t>5. Next dashboard build reflects the updated level and confidence.</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1"/>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1"/>
                                        <p:tgtEl>
                                          <p:spTgt spid="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Effect filter="fade" transition="in">
                                      <p:cBhvr>
                                        <p:cTn dur="1"/>
                                        <p:tgtEl>
                                          <p:spTgt spid="2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Effect filter="fade" transition="in">
                                      <p:cBhvr>
                                        <p:cTn dur="1"/>
                                        <p:tgtEl>
                                          <p:spTgt spid="2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Effect filter="fade" transition="in">
                                      <p:cBhvr>
                                        <p:cTn dur="1"/>
                                        <p:tgtEl>
                                          <p:spTgt spid="21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17" name="Shape 217"/>
        <p:cNvGrpSpPr/>
        <p:nvPr/>
      </p:nvGrpSpPr>
      <p:grpSpPr>
        <a:xfrm>
          <a:off x="0" y="0"/>
          <a:ext cx="0" cy="0"/>
          <a:chOff x="0" y="0"/>
          <a:chExt cx="0" cy="0"/>
        </a:xfrm>
      </p:grpSpPr>
      <p:pic>
        <p:nvPicPr>
          <p:cNvPr id="218" name="Google Shape;218;p26"/>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19" name="Google Shape;219;p26"/>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20" name="Google Shape;220;p26"/>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21" name="Google Shape;221;p26"/>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22" name="Google Shape;222;p26"/>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oppins SemiBold"/>
                <a:ea typeface="Poppins SemiBold"/>
                <a:cs typeface="Poppins SemiBold"/>
                <a:sym typeface="Poppins SemiBold"/>
              </a:rPr>
              <a:t>Pass the Gate</a:t>
            </a:r>
            <a:endParaRPr sz="1900">
              <a:solidFill>
                <a:schemeClr val="lt1"/>
              </a:solidFill>
              <a:latin typeface="Poppins SemiBold"/>
              <a:ea typeface="Poppins SemiBold"/>
              <a:cs typeface="Poppins SemiBold"/>
              <a:sym typeface="Poppins SemiBold"/>
            </a:endParaRPr>
          </a:p>
        </p:txBody>
      </p:sp>
      <p:sp>
        <p:nvSpPr>
          <p:cNvPr id="223" name="Google Shape;223;p26"/>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All listed conditions must be satisfied.</a:t>
            </a:r>
            <a:endParaRPr>
              <a:solidFill>
                <a:schemeClr val="lt1"/>
              </a:solidFill>
              <a:latin typeface="Poppins"/>
              <a:ea typeface="Poppins"/>
              <a:cs typeface="Poppins"/>
              <a:sym typeface="Poppins"/>
            </a:endParaRPr>
          </a:p>
        </p:txBody>
      </p:sp>
      <p:sp>
        <p:nvSpPr>
          <p:cNvPr id="224" name="Google Shape;224;p26"/>
          <p:cNvSpPr/>
          <p:nvPr/>
        </p:nvSpPr>
        <p:spPr>
          <a:xfrm>
            <a:off x="651775" y="1668665"/>
            <a:ext cx="3762900" cy="2700900"/>
          </a:xfrm>
          <a:prstGeom prst="roundRect">
            <a:avLst>
              <a:gd fmla="val 16667" name="adj"/>
            </a:avLst>
          </a:prstGeom>
          <a:solidFill>
            <a:srgbClr val="B45F06"/>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t" bIns="106375" lIns="106375" spcFirstLastPara="1" rIns="106375" wrap="square" tIns="106375">
            <a:noAutofit/>
          </a:bodyPr>
          <a:lstStyle/>
          <a:p>
            <a:pPr indent="0" lvl="0" marL="0" rtl="0" algn="l">
              <a:lnSpc>
                <a:spcPct val="115000"/>
              </a:lnSpc>
              <a:spcBef>
                <a:spcPts val="0"/>
              </a:spcBef>
              <a:spcAft>
                <a:spcPts val="0"/>
              </a:spcAft>
              <a:buNone/>
            </a:pPr>
            <a:r>
              <a:rPr b="1" lang="en">
                <a:solidFill>
                  <a:schemeClr val="lt1"/>
                </a:solidFill>
              </a:rPr>
              <a:t>ASSESSMENT</a:t>
            </a:r>
            <a:endParaRPr b="1">
              <a:solidFill>
                <a:schemeClr val="lt1"/>
              </a:solidFill>
            </a:endParaRPr>
          </a:p>
          <a:p>
            <a:pPr indent="0" lvl="0" marL="0" rtl="0" algn="l">
              <a:lnSpc>
                <a:spcPct val="115000"/>
              </a:lnSpc>
              <a:spcBef>
                <a:spcPts val="0"/>
              </a:spcBef>
              <a:spcAft>
                <a:spcPts val="0"/>
              </a:spcAft>
              <a:buNone/>
            </a:pPr>
            <a:r>
              <a:t/>
            </a:r>
            <a:endParaRPr>
              <a:solidFill>
                <a:schemeClr val="lt1"/>
              </a:solidFill>
            </a:endParaRPr>
          </a:p>
          <a:p>
            <a:pPr indent="0" lvl="0" marL="0" rtl="0" algn="l">
              <a:lnSpc>
                <a:spcPct val="115000"/>
              </a:lnSpc>
              <a:spcBef>
                <a:spcPts val="0"/>
              </a:spcBef>
              <a:spcAft>
                <a:spcPts val="0"/>
              </a:spcAft>
              <a:buNone/>
            </a:pPr>
            <a:r>
              <a:rPr lang="en" sz="1200">
                <a:solidFill>
                  <a:schemeClr val="lt2"/>
                </a:solidFill>
              </a:rPr>
              <a:t>✓ Level 3</a:t>
            </a:r>
            <a:endParaRPr sz="1200">
              <a:solidFill>
                <a:schemeClr val="lt2"/>
              </a:solidFill>
            </a:endParaRPr>
          </a:p>
          <a:p>
            <a:pPr indent="0" lvl="0" marL="0" rtl="0" algn="l">
              <a:lnSpc>
                <a:spcPct val="115000"/>
              </a:lnSpc>
              <a:spcBef>
                <a:spcPts val="1000"/>
              </a:spcBef>
              <a:spcAft>
                <a:spcPts val="0"/>
              </a:spcAft>
              <a:buNone/>
            </a:pPr>
            <a:r>
              <a:rPr lang="en" sz="1200">
                <a:solidFill>
                  <a:schemeClr val="lt2"/>
                </a:solidFill>
              </a:rPr>
              <a:t>✓ Medium or higher confidence</a:t>
            </a:r>
            <a:endParaRPr sz="1200">
              <a:solidFill>
                <a:schemeClr val="lt2"/>
              </a:solidFill>
            </a:endParaRPr>
          </a:p>
          <a:p>
            <a:pPr indent="0" lvl="0" marL="0" rtl="0" algn="l">
              <a:lnSpc>
                <a:spcPct val="115000"/>
              </a:lnSpc>
              <a:spcBef>
                <a:spcPts val="1000"/>
              </a:spcBef>
              <a:spcAft>
                <a:spcPts val="0"/>
              </a:spcAft>
              <a:buNone/>
            </a:pPr>
            <a:r>
              <a:rPr lang="en" sz="1200">
                <a:solidFill>
                  <a:schemeClr val="lt2"/>
                </a:solidFill>
              </a:rPr>
              <a:t>✓ Workflow Integration ≥3</a:t>
            </a:r>
            <a:endParaRPr sz="1200">
              <a:solidFill>
                <a:schemeClr val="lt2"/>
              </a:solidFill>
            </a:endParaRPr>
          </a:p>
          <a:p>
            <a:pPr indent="0" lvl="0" marL="0" rtl="0" algn="l">
              <a:lnSpc>
                <a:spcPct val="115000"/>
              </a:lnSpc>
              <a:spcBef>
                <a:spcPts val="1000"/>
              </a:spcBef>
              <a:spcAft>
                <a:spcPts val="0"/>
              </a:spcAft>
              <a:buNone/>
            </a:pPr>
            <a:r>
              <a:rPr lang="en" sz="1200">
                <a:solidFill>
                  <a:schemeClr val="lt2"/>
                </a:solidFill>
              </a:rPr>
              <a:t>✓ Validation ≥3</a:t>
            </a:r>
            <a:endParaRPr sz="1200">
              <a:solidFill>
                <a:schemeClr val="lt2"/>
              </a:solidFill>
            </a:endParaRPr>
          </a:p>
          <a:p>
            <a:pPr indent="0" lvl="0" marL="0" rtl="0" algn="l">
              <a:lnSpc>
                <a:spcPct val="115000"/>
              </a:lnSpc>
              <a:spcBef>
                <a:spcPts val="1000"/>
              </a:spcBef>
              <a:spcAft>
                <a:spcPts val="1000"/>
              </a:spcAft>
              <a:buNone/>
            </a:pPr>
            <a:r>
              <a:rPr lang="en" sz="1200">
                <a:solidFill>
                  <a:schemeClr val="lt2"/>
                </a:solidFill>
              </a:rPr>
              <a:t>✓ At least 1 concrete “yesterday” example</a:t>
            </a:r>
            <a:endParaRPr sz="1200">
              <a:solidFill>
                <a:schemeClr val="lt2"/>
              </a:solidFill>
            </a:endParaRPr>
          </a:p>
        </p:txBody>
      </p:sp>
      <p:sp>
        <p:nvSpPr>
          <p:cNvPr id="225" name="Google Shape;225;p26"/>
          <p:cNvSpPr/>
          <p:nvPr/>
        </p:nvSpPr>
        <p:spPr>
          <a:xfrm>
            <a:off x="4729329" y="1668650"/>
            <a:ext cx="3762900" cy="2700900"/>
          </a:xfrm>
          <a:prstGeom prst="roundRect">
            <a:avLst>
              <a:gd fmla="val 16667" name="adj"/>
            </a:avLst>
          </a:prstGeom>
          <a:solidFill>
            <a:srgbClr val="4C1130"/>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t" bIns="106375" lIns="106375" spcFirstLastPara="1" rIns="106375" wrap="square" tIns="106375">
            <a:noAutofit/>
          </a:bodyPr>
          <a:lstStyle/>
          <a:p>
            <a:pPr indent="0" lvl="0" marL="0" rtl="0" algn="l">
              <a:lnSpc>
                <a:spcPct val="115000"/>
              </a:lnSpc>
              <a:spcBef>
                <a:spcPts val="0"/>
              </a:spcBef>
              <a:spcAft>
                <a:spcPts val="0"/>
              </a:spcAft>
              <a:buNone/>
            </a:pPr>
            <a:r>
              <a:rPr b="1" lang="en">
                <a:solidFill>
                  <a:schemeClr val="lt1"/>
                </a:solidFill>
              </a:rPr>
              <a:t>SUSTAINED HABIT</a:t>
            </a:r>
            <a:endParaRPr b="1">
              <a:solidFill>
                <a:schemeClr val="lt1"/>
              </a:solidFill>
            </a:endParaRPr>
          </a:p>
          <a:p>
            <a:pPr indent="0" lvl="0" marL="0" rtl="0" algn="l">
              <a:lnSpc>
                <a:spcPct val="115000"/>
              </a:lnSpc>
              <a:spcBef>
                <a:spcPts val="0"/>
              </a:spcBef>
              <a:spcAft>
                <a:spcPts val="0"/>
              </a:spcAft>
              <a:buNone/>
            </a:pPr>
            <a:r>
              <a:t/>
            </a:r>
            <a:endParaRPr b="1">
              <a:solidFill>
                <a:schemeClr val="lt1"/>
              </a:solidFill>
            </a:endParaRPr>
          </a:p>
          <a:p>
            <a:pPr indent="0" lvl="0" marL="0" rtl="0" algn="l">
              <a:lnSpc>
                <a:spcPct val="150000"/>
              </a:lnSpc>
              <a:spcBef>
                <a:spcPts val="0"/>
              </a:spcBef>
              <a:spcAft>
                <a:spcPts val="0"/>
              </a:spcAft>
              <a:buNone/>
            </a:pPr>
            <a:r>
              <a:rPr lang="en" sz="1200">
                <a:solidFill>
                  <a:schemeClr val="lt1"/>
                </a:solidFill>
              </a:rPr>
              <a:t>✓ No Rule-5 red-flag phrase</a:t>
            </a:r>
            <a:endParaRPr sz="1200">
              <a:solidFill>
                <a:schemeClr val="lt1"/>
              </a:solidFill>
            </a:endParaRPr>
          </a:p>
          <a:p>
            <a:pPr indent="0" lvl="0" marL="0" rtl="0" algn="l">
              <a:lnSpc>
                <a:spcPct val="150000"/>
              </a:lnSpc>
              <a:spcBef>
                <a:spcPts val="0"/>
              </a:spcBef>
              <a:spcAft>
                <a:spcPts val="0"/>
              </a:spcAft>
              <a:buNone/>
            </a:pPr>
            <a:r>
              <a:rPr lang="en" sz="1200">
                <a:solidFill>
                  <a:schemeClr val="lt1"/>
                </a:solidFill>
              </a:rPr>
              <a:t>✓ Validation checklist visible across Weeks 2–4</a:t>
            </a:r>
            <a:endParaRPr sz="1200">
              <a:solidFill>
                <a:schemeClr val="lt1"/>
              </a:solidFill>
            </a:endParaRPr>
          </a:p>
          <a:p>
            <a:pPr indent="0" lvl="0" marL="0" rtl="0" algn="l">
              <a:lnSpc>
                <a:spcPct val="150000"/>
              </a:lnSpc>
              <a:spcBef>
                <a:spcPts val="0"/>
              </a:spcBef>
              <a:spcAft>
                <a:spcPts val="0"/>
              </a:spcAft>
              <a:buNone/>
            </a:pPr>
            <a:r>
              <a:rPr lang="en" sz="1200">
                <a:solidFill>
                  <a:schemeClr val="lt1"/>
                </a:solidFill>
              </a:rPr>
              <a:t>✓ Reusable asset live</a:t>
            </a:r>
            <a:endParaRPr sz="1200">
              <a:solidFill>
                <a:schemeClr val="lt1"/>
              </a:solidFill>
            </a:endParaRPr>
          </a:p>
          <a:p>
            <a:pPr indent="0" lvl="0" marL="0" rtl="0" algn="l">
              <a:lnSpc>
                <a:spcPct val="150000"/>
              </a:lnSpc>
              <a:spcBef>
                <a:spcPts val="0"/>
              </a:spcBef>
              <a:spcAft>
                <a:spcPts val="0"/>
              </a:spcAft>
              <a:buNone/>
            </a:pPr>
            <a:r>
              <a:rPr lang="en" sz="1200">
                <a:solidFill>
                  <a:schemeClr val="lt1"/>
                </a:solidFill>
              </a:rPr>
              <a:t>✓ Tracker updated</a:t>
            </a:r>
            <a:endParaRPr sz="1200">
              <a:solidFill>
                <a:schemeClr val="lt1"/>
              </a:solidFill>
            </a:endParaRPr>
          </a:p>
          <a:p>
            <a:pPr indent="0" lvl="0" marL="0" rtl="0" algn="l">
              <a:lnSpc>
                <a:spcPct val="150000"/>
              </a:lnSpc>
              <a:spcBef>
                <a:spcPts val="0"/>
              </a:spcBef>
              <a:spcAft>
                <a:spcPts val="0"/>
              </a:spcAft>
              <a:buNone/>
            </a:pPr>
            <a:r>
              <a:rPr lang="en" sz="1200">
                <a:solidFill>
                  <a:schemeClr val="lt1"/>
                </a:solidFill>
              </a:rPr>
              <a:t>✓ QA Coach gate review passed</a:t>
            </a:r>
            <a:endParaRPr sz="12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1"/>
                                        <p:tgtEl>
                                          <p:spTgt spid="2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29" name="Shape 229"/>
        <p:cNvGrpSpPr/>
        <p:nvPr/>
      </p:nvGrpSpPr>
      <p:grpSpPr>
        <a:xfrm>
          <a:off x="0" y="0"/>
          <a:ext cx="0" cy="0"/>
          <a:chOff x="0" y="0"/>
          <a:chExt cx="0" cy="0"/>
        </a:xfrm>
      </p:grpSpPr>
      <p:pic>
        <p:nvPicPr>
          <p:cNvPr id="230" name="Google Shape;230;p27"/>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31" name="Google Shape;231;p27"/>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32" name="Google Shape;232;p27"/>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33" name="Google Shape;233;p27"/>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34" name="Google Shape;234;p27"/>
          <p:cNvSpPr txBox="1"/>
          <p:nvPr/>
        </p:nvSpPr>
        <p:spPr>
          <a:xfrm>
            <a:off x="731527" y="461950"/>
            <a:ext cx="7237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Poppins SemiBold"/>
                <a:ea typeface="Poppins SemiBold"/>
                <a:cs typeface="Poppins SemiBold"/>
                <a:sym typeface="Poppins SemiBold"/>
              </a:rPr>
              <a:t>If the Gate Is Missed</a:t>
            </a:r>
            <a:endParaRPr sz="2100">
              <a:solidFill>
                <a:schemeClr val="lt1"/>
              </a:solidFill>
              <a:latin typeface="Poppins SemiBold"/>
              <a:ea typeface="Poppins SemiBold"/>
              <a:cs typeface="Poppins SemiBold"/>
              <a:sym typeface="Poppins SemiBold"/>
            </a:endParaRPr>
          </a:p>
        </p:txBody>
      </p:sp>
      <p:sp>
        <p:nvSpPr>
          <p:cNvPr id="235" name="Google Shape;235;p27"/>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No automatic pass.</a:t>
            </a:r>
            <a:endParaRPr>
              <a:solidFill>
                <a:schemeClr val="lt1"/>
              </a:solidFill>
              <a:latin typeface="Poppins"/>
              <a:ea typeface="Poppins"/>
              <a:cs typeface="Poppins"/>
              <a:sym typeface="Poppins"/>
            </a:endParaRPr>
          </a:p>
        </p:txBody>
      </p:sp>
      <p:sp>
        <p:nvSpPr>
          <p:cNvPr id="236" name="Google Shape;236;p27"/>
          <p:cNvSpPr/>
          <p:nvPr/>
        </p:nvSpPr>
        <p:spPr>
          <a:xfrm>
            <a:off x="731525" y="1502500"/>
            <a:ext cx="2411400" cy="2945700"/>
          </a:xfrm>
          <a:prstGeom prst="roundRect">
            <a:avLst>
              <a:gd fmla="val 16667" name="adj"/>
            </a:avLst>
          </a:prstGeom>
          <a:solidFill>
            <a:srgbClr val="38761D"/>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1 • IDENTIFY</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Which requirement or signal was missed?</a:t>
            </a:r>
            <a:endParaRPr sz="1122">
              <a:solidFill>
                <a:schemeClr val="lt1"/>
              </a:solidFill>
              <a:latin typeface="Calibri"/>
              <a:ea typeface="Calibri"/>
              <a:cs typeface="Calibri"/>
              <a:sym typeface="Calibri"/>
            </a:endParaRPr>
          </a:p>
        </p:txBody>
      </p:sp>
      <p:sp>
        <p:nvSpPr>
          <p:cNvPr id="237" name="Google Shape;237;p27"/>
          <p:cNvSpPr/>
          <p:nvPr/>
        </p:nvSpPr>
        <p:spPr>
          <a:xfrm>
            <a:off x="3435778" y="1502500"/>
            <a:ext cx="2411400" cy="29457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Clr>
                <a:schemeClr val="dk1"/>
              </a:buClr>
              <a:buSzPts val="1234"/>
              <a:buFont typeface="Arial"/>
              <a:buNone/>
            </a:pPr>
            <a:r>
              <a:rPr b="1" lang="en" sz="1346">
                <a:solidFill>
                  <a:schemeClr val="lt1"/>
                </a:solidFill>
              </a:rPr>
              <a:t>2 • COACH</a:t>
            </a:r>
            <a:endParaRPr b="1" sz="1346">
              <a:solidFill>
                <a:schemeClr val="lt1"/>
              </a:solidFill>
            </a:endParaRPr>
          </a:p>
          <a:p>
            <a:pPr indent="0" lvl="0" marL="0" rtl="0" algn="l">
              <a:spcBef>
                <a:spcPts val="0"/>
              </a:spcBef>
              <a:spcAft>
                <a:spcPts val="0"/>
              </a:spcAft>
              <a:buClr>
                <a:schemeClr val="dk1"/>
              </a:buClr>
              <a:buSzPts val="1234"/>
              <a:buFont typeface="Arial"/>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Set a targeted follow-up coaching plan.</a:t>
            </a:r>
            <a:endParaRPr sz="1122">
              <a:solidFill>
                <a:schemeClr val="lt1"/>
              </a:solidFill>
              <a:latin typeface="Calibri"/>
              <a:ea typeface="Calibri"/>
              <a:cs typeface="Calibri"/>
              <a:sym typeface="Calibri"/>
            </a:endParaRPr>
          </a:p>
        </p:txBody>
      </p:sp>
      <p:sp>
        <p:nvSpPr>
          <p:cNvPr id="238" name="Google Shape;238;p27"/>
          <p:cNvSpPr/>
          <p:nvPr/>
        </p:nvSpPr>
        <p:spPr>
          <a:xfrm>
            <a:off x="6140050" y="1502500"/>
            <a:ext cx="2411400" cy="2945700"/>
          </a:xfrm>
          <a:prstGeom prst="roundRect">
            <a:avLst>
              <a:gd fmla="val 16667" name="adj"/>
            </a:avLst>
          </a:prstGeom>
          <a:solidFill>
            <a:srgbClr val="0C343D"/>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rtl="0" algn="l">
              <a:spcBef>
                <a:spcPts val="0"/>
              </a:spcBef>
              <a:spcAft>
                <a:spcPts val="0"/>
              </a:spcAft>
              <a:buNone/>
            </a:pPr>
            <a:r>
              <a:rPr b="1" lang="en" sz="1346">
                <a:solidFill>
                  <a:schemeClr val="lt1"/>
                </a:solidFill>
              </a:rPr>
              <a:t>3 • RE-INTERVIEW</a:t>
            </a:r>
            <a:endParaRPr b="1" sz="1346">
              <a:solidFill>
                <a:schemeClr val="lt1"/>
              </a:solidFill>
            </a:endParaRPr>
          </a:p>
          <a:p>
            <a:pPr indent="0" lvl="0" marL="0" rtl="0" algn="l">
              <a:spcBef>
                <a:spcPts val="0"/>
              </a:spcBef>
              <a:spcAft>
                <a:spcPts val="0"/>
              </a:spcAft>
              <a:buNone/>
            </a:pPr>
            <a:r>
              <a:t/>
            </a:r>
            <a:endParaRPr b="1" sz="1571">
              <a:solidFill>
                <a:schemeClr val="lt1"/>
              </a:solidFill>
            </a:endParaRPr>
          </a:p>
          <a:p>
            <a:pPr indent="0" lvl="0" marL="0" rtl="0" algn="l">
              <a:spcBef>
                <a:spcPts val="0"/>
              </a:spcBef>
              <a:spcAft>
                <a:spcPts val="0"/>
              </a:spcAft>
              <a:buNone/>
            </a:pPr>
            <a:r>
              <a:rPr lang="en" sz="1122">
                <a:solidFill>
                  <a:schemeClr val="lt1"/>
                </a:solidFill>
                <a:latin typeface="Calibri"/>
                <a:ea typeface="Calibri"/>
                <a:cs typeface="Calibri"/>
                <a:sym typeface="Calibri"/>
              </a:rPr>
              <a:t>Set the next reassessment date.</a:t>
            </a:r>
            <a:endParaRPr sz="1122">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42" name="Shape 242"/>
        <p:cNvGrpSpPr/>
        <p:nvPr/>
      </p:nvGrpSpPr>
      <p:grpSpPr>
        <a:xfrm>
          <a:off x="0" y="0"/>
          <a:ext cx="0" cy="0"/>
          <a:chOff x="0" y="0"/>
          <a:chExt cx="0" cy="0"/>
        </a:xfrm>
      </p:grpSpPr>
      <p:pic>
        <p:nvPicPr>
          <p:cNvPr id="243" name="Google Shape;243;p28"/>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44" name="Google Shape;244;p28"/>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45" name="Google Shape;245;p28"/>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46" name="Google Shape;246;p28"/>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47" name="Google Shape;247;p28"/>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oppins SemiBold"/>
                <a:ea typeface="Poppins SemiBold"/>
                <a:cs typeface="Poppins SemiBold"/>
                <a:sym typeface="Poppins SemiBold"/>
              </a:rPr>
              <a:t>1-Hour Synchronous Session</a:t>
            </a:r>
            <a:endParaRPr sz="1900">
              <a:solidFill>
                <a:schemeClr val="lt1"/>
              </a:solidFill>
              <a:latin typeface="Poppins SemiBold"/>
              <a:ea typeface="Poppins SemiBold"/>
              <a:cs typeface="Poppins SemiBold"/>
              <a:sym typeface="Poppins SemiBold"/>
            </a:endParaRPr>
          </a:p>
        </p:txBody>
      </p:sp>
      <p:sp>
        <p:nvSpPr>
          <p:cNvPr id="248" name="Google Shape;248;p28"/>
          <p:cNvSpPr txBox="1"/>
          <p:nvPr/>
        </p:nvSpPr>
        <p:spPr>
          <a:xfrm>
            <a:off x="731524" y="938950"/>
            <a:ext cx="6047400" cy="3693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sz="1200">
                <a:solidFill>
                  <a:schemeClr val="lt1"/>
                </a:solidFill>
                <a:latin typeface="Poppins"/>
                <a:ea typeface="Poppins"/>
                <a:cs typeface="Poppins"/>
                <a:sym typeface="Poppins"/>
              </a:rPr>
              <a:t>Suggested Week 4 live-class agenda</a:t>
            </a:r>
            <a:endParaRPr sz="1200">
              <a:solidFill>
                <a:schemeClr val="lt1"/>
              </a:solidFill>
              <a:latin typeface="Poppins"/>
              <a:ea typeface="Poppins"/>
              <a:cs typeface="Poppins"/>
              <a:sym typeface="Poppins"/>
            </a:endParaRPr>
          </a:p>
        </p:txBody>
      </p:sp>
      <p:sp>
        <p:nvSpPr>
          <p:cNvPr id="249" name="Google Shape;249;p28"/>
          <p:cNvSpPr/>
          <p:nvPr/>
        </p:nvSpPr>
        <p:spPr>
          <a:xfrm>
            <a:off x="814850" y="1308269"/>
            <a:ext cx="3678300" cy="713700"/>
          </a:xfrm>
          <a:prstGeom prst="roundRect">
            <a:avLst>
              <a:gd fmla="val 16667" name="adj"/>
            </a:avLst>
          </a:prstGeom>
          <a:solidFill>
            <a:srgbClr val="FFFF00"/>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t>0–5 min — Week 4 Kickoff</a:t>
            </a:r>
            <a:br>
              <a:rPr b="1" lang="en" sz="1000"/>
            </a:br>
            <a:r>
              <a:rPr lang="en" sz="1000">
                <a:solidFill>
                  <a:srgbClr val="666666"/>
                </a:solidFill>
              </a:rPr>
              <a:t>Review objectives, activities, deliverables, and connection to Weeks 1–3.</a:t>
            </a:r>
            <a:endParaRPr sz="1000">
              <a:solidFill>
                <a:srgbClr val="666666"/>
              </a:solidFill>
            </a:endParaRPr>
          </a:p>
        </p:txBody>
      </p:sp>
      <p:sp>
        <p:nvSpPr>
          <p:cNvPr id="250" name="Google Shape;250;p28"/>
          <p:cNvSpPr/>
          <p:nvPr/>
        </p:nvSpPr>
        <p:spPr>
          <a:xfrm>
            <a:off x="814850" y="2152165"/>
            <a:ext cx="3678300" cy="713700"/>
          </a:xfrm>
          <a:prstGeom prst="roundRect">
            <a:avLst>
              <a:gd fmla="val 16667" name="adj"/>
            </a:avLst>
          </a:prstGeom>
          <a:solidFill>
            <a:srgbClr val="A64D79"/>
          </a:solidFill>
          <a:ln cap="flat" cmpd="sng" w="9525">
            <a:solidFill>
              <a:srgbClr val="B4A7D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5–15 min — Build a Reusable Asset</a:t>
            </a:r>
            <a:endParaRPr b="1" sz="1000">
              <a:solidFill>
                <a:schemeClr val="lt1"/>
              </a:solidFill>
            </a:endParaRPr>
          </a:p>
          <a:p>
            <a:pPr indent="0" lvl="0" marL="0" rtl="0" algn="l">
              <a:spcBef>
                <a:spcPts val="0"/>
              </a:spcBef>
              <a:spcAft>
                <a:spcPts val="0"/>
              </a:spcAft>
              <a:buNone/>
            </a:pPr>
            <a:r>
              <a:rPr lang="en" sz="1000">
                <a:solidFill>
                  <a:schemeClr val="lt2"/>
                </a:solidFill>
              </a:rPr>
              <a:t>What makes an AI asset reusable + examples.</a:t>
            </a:r>
            <a:endParaRPr sz="1000">
              <a:solidFill>
                <a:schemeClr val="lt2"/>
              </a:solidFill>
            </a:endParaRPr>
          </a:p>
        </p:txBody>
      </p:sp>
      <p:sp>
        <p:nvSpPr>
          <p:cNvPr id="251" name="Google Shape;251;p28"/>
          <p:cNvSpPr/>
          <p:nvPr/>
        </p:nvSpPr>
        <p:spPr>
          <a:xfrm>
            <a:off x="814850" y="2955591"/>
            <a:ext cx="3678300" cy="713700"/>
          </a:xfrm>
          <a:prstGeom prst="roundRect">
            <a:avLst>
              <a:gd fmla="val 16667" name="adj"/>
            </a:avLst>
          </a:prstGeom>
          <a:solidFill>
            <a:srgbClr val="3D85C6"/>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15–25 min — Reusable Asset Walkthrough</a:t>
            </a:r>
            <a:br>
              <a:rPr b="1" lang="en" sz="1000">
                <a:solidFill>
                  <a:schemeClr val="lt1"/>
                </a:solidFill>
              </a:rPr>
            </a:br>
            <a:r>
              <a:rPr lang="en" sz="1000">
                <a:solidFill>
                  <a:schemeClr val="lt2"/>
                </a:solidFill>
              </a:rPr>
              <a:t>Build → test on second task → document → share.</a:t>
            </a:r>
            <a:endParaRPr sz="1000">
              <a:solidFill>
                <a:schemeClr val="lt2"/>
              </a:solidFill>
            </a:endParaRPr>
          </a:p>
        </p:txBody>
      </p:sp>
      <p:sp>
        <p:nvSpPr>
          <p:cNvPr id="252" name="Google Shape;252;p28"/>
          <p:cNvSpPr/>
          <p:nvPr/>
        </p:nvSpPr>
        <p:spPr>
          <a:xfrm>
            <a:off x="814850" y="3758948"/>
            <a:ext cx="3678300" cy="713700"/>
          </a:xfrm>
          <a:prstGeom prst="roundRect">
            <a:avLst>
              <a:gd fmla="val 16667" name="adj"/>
            </a:avLst>
          </a:prstGeom>
          <a:solidFill>
            <a:srgbClr val="666666"/>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25–35 min — Dry Run</a:t>
            </a:r>
            <a:br>
              <a:rPr b="1" lang="en" sz="1000">
                <a:solidFill>
                  <a:schemeClr val="lt1"/>
                </a:solidFill>
              </a:rPr>
            </a:br>
            <a:r>
              <a:rPr lang="en" sz="1000">
                <a:solidFill>
                  <a:schemeClr val="lt2"/>
                </a:solidFill>
              </a:rPr>
              <a:t>Interview format + how to answer from real work.</a:t>
            </a:r>
            <a:endParaRPr sz="1000">
              <a:solidFill>
                <a:schemeClr val="lt2"/>
              </a:solidFill>
            </a:endParaRPr>
          </a:p>
        </p:txBody>
      </p:sp>
      <p:sp>
        <p:nvSpPr>
          <p:cNvPr id="253" name="Google Shape;253;p28"/>
          <p:cNvSpPr/>
          <p:nvPr/>
        </p:nvSpPr>
        <p:spPr>
          <a:xfrm>
            <a:off x="4665000" y="1308249"/>
            <a:ext cx="3678300" cy="713700"/>
          </a:xfrm>
          <a:prstGeom prst="roundRect">
            <a:avLst>
              <a:gd fmla="val 16667" name="adj"/>
            </a:avLst>
          </a:prstGeom>
          <a:solidFill>
            <a:srgbClr val="CC0000"/>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35–43 min — Mock Interview Practice</a:t>
            </a:r>
            <a:br>
              <a:rPr b="1" lang="en" sz="1000">
                <a:solidFill>
                  <a:schemeClr val="lt1"/>
                </a:solidFill>
              </a:rPr>
            </a:br>
            <a:r>
              <a:rPr lang="en" sz="1000">
                <a:solidFill>
                  <a:schemeClr val="lt2"/>
                </a:solidFill>
              </a:rPr>
              <a:t>Practice questions using Weeks 1–4 evidence.</a:t>
            </a:r>
            <a:endParaRPr sz="1000">
              <a:solidFill>
                <a:schemeClr val="lt2"/>
              </a:solidFill>
            </a:endParaRPr>
          </a:p>
        </p:txBody>
      </p:sp>
      <p:sp>
        <p:nvSpPr>
          <p:cNvPr id="254" name="Google Shape;254;p28"/>
          <p:cNvSpPr/>
          <p:nvPr/>
        </p:nvSpPr>
        <p:spPr>
          <a:xfrm>
            <a:off x="4665000" y="2152134"/>
            <a:ext cx="3678300" cy="713700"/>
          </a:xfrm>
          <a:prstGeom prst="roundRect">
            <a:avLst>
              <a:gd fmla="val 16667" name="adj"/>
            </a:avLst>
          </a:prstGeom>
          <a:solidFill>
            <a:srgbClr val="073763"/>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43–48 min — Feedback &amp; Coaching</a:t>
            </a:r>
            <a:br>
              <a:rPr b="1" lang="en" sz="1000">
                <a:solidFill>
                  <a:schemeClr val="lt1"/>
                </a:solidFill>
              </a:rPr>
            </a:br>
            <a:r>
              <a:rPr lang="en" sz="1000">
                <a:solidFill>
                  <a:schemeClr val="lt2"/>
                </a:solidFill>
              </a:rPr>
              <a:t>Partner feedback + Coach expectations.</a:t>
            </a:r>
            <a:endParaRPr sz="1000">
              <a:solidFill>
                <a:schemeClr val="lt2"/>
              </a:solidFill>
            </a:endParaRPr>
          </a:p>
        </p:txBody>
      </p:sp>
      <p:sp>
        <p:nvSpPr>
          <p:cNvPr id="255" name="Google Shape;255;p28"/>
          <p:cNvSpPr/>
          <p:nvPr/>
        </p:nvSpPr>
        <p:spPr>
          <a:xfrm>
            <a:off x="4665000" y="3758950"/>
            <a:ext cx="3678300" cy="713700"/>
          </a:xfrm>
          <a:prstGeom prst="roundRect">
            <a:avLst>
              <a:gd fmla="val 16667" name="adj"/>
            </a:avLst>
          </a:prstGeom>
          <a:solidFill>
            <a:srgbClr val="D9EAD3"/>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48–55 min — Formal Reassessment</a:t>
            </a:r>
            <a:br>
              <a:rPr b="1" lang="en" sz="1000">
                <a:solidFill>
                  <a:schemeClr val="dk1"/>
                </a:solidFill>
              </a:rPr>
            </a:br>
            <a:r>
              <a:rPr lang="en" sz="1000">
                <a:solidFill>
                  <a:schemeClr val="dk1"/>
                </a:solidFill>
              </a:rPr>
              <a:t>Strict-mode interview + tracker + dashboard.</a:t>
            </a:r>
            <a:endParaRPr sz="1000">
              <a:solidFill>
                <a:schemeClr val="dk1"/>
              </a:solidFill>
            </a:endParaRPr>
          </a:p>
        </p:txBody>
      </p:sp>
      <p:sp>
        <p:nvSpPr>
          <p:cNvPr id="256" name="Google Shape;256;p28"/>
          <p:cNvSpPr/>
          <p:nvPr/>
        </p:nvSpPr>
        <p:spPr>
          <a:xfrm>
            <a:off x="4665000" y="2955600"/>
            <a:ext cx="3678300" cy="713700"/>
          </a:xfrm>
          <a:prstGeom prst="roundRect">
            <a:avLst>
              <a:gd fmla="val 16667" name="adj"/>
            </a:avLst>
          </a:prstGeom>
          <a:solidFill>
            <a:srgbClr val="FCE5CD"/>
          </a:solidFill>
          <a:ln cap="flat" cmpd="sng" w="9525">
            <a:solidFill>
              <a:srgbClr val="FFD966"/>
            </a:solidFill>
            <a:prstDash val="solid"/>
            <a:round/>
            <a:headEnd len="sm" w="sm" type="none"/>
            <a:tailEnd len="sm" w="sm" type="none"/>
          </a:ln>
          <a:effectLst>
            <a:outerShdw blurRad="57150" rotWithShape="0" algn="bl" dir="3540000" dist="66675">
              <a:srgbClr val="000000">
                <a:alpha val="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55–60 min — Gate &amp; Async Execution</a:t>
            </a:r>
            <a:endParaRPr b="1" sz="1000">
              <a:solidFill>
                <a:schemeClr val="dk1"/>
              </a:solidFill>
            </a:endParaRPr>
          </a:p>
          <a:p>
            <a:pPr indent="0" lvl="0" marL="0" rtl="0" algn="l">
              <a:spcBef>
                <a:spcPts val="0"/>
              </a:spcBef>
              <a:spcAft>
                <a:spcPts val="0"/>
              </a:spcAft>
              <a:buNone/>
            </a:pPr>
            <a:r>
              <a:rPr lang="en" sz="1000">
                <a:solidFill>
                  <a:schemeClr val="dk1"/>
                </a:solidFill>
              </a:rPr>
              <a:t>Pass criteria, deliverables, tracker, and next steps.</a:t>
            </a:r>
            <a:endParaRPr sz="1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60" name="Shape 260"/>
        <p:cNvGrpSpPr/>
        <p:nvPr/>
      </p:nvGrpSpPr>
      <p:grpSpPr>
        <a:xfrm>
          <a:off x="0" y="0"/>
          <a:ext cx="0" cy="0"/>
          <a:chOff x="0" y="0"/>
          <a:chExt cx="0" cy="0"/>
        </a:xfrm>
      </p:grpSpPr>
      <p:pic>
        <p:nvPicPr>
          <p:cNvPr id="261" name="Google Shape;261;p29"/>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62" name="Google Shape;262;p29"/>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63" name="Google Shape;263;p29"/>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64" name="Google Shape;264;p29"/>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65" name="Google Shape;265;p29"/>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oppins SemiBold"/>
                <a:ea typeface="Poppins SemiBold"/>
                <a:cs typeface="Poppins SemiBold"/>
                <a:sym typeface="Poppins SemiBold"/>
              </a:rPr>
              <a:t>Week 4 Deliverables Checklist</a:t>
            </a:r>
            <a:endParaRPr sz="1900">
              <a:solidFill>
                <a:schemeClr val="lt1"/>
              </a:solidFill>
              <a:latin typeface="Poppins SemiBold"/>
              <a:ea typeface="Poppins SemiBold"/>
              <a:cs typeface="Poppins SemiBold"/>
              <a:sym typeface="Poppins SemiBold"/>
            </a:endParaRPr>
          </a:p>
        </p:txBody>
      </p:sp>
      <p:sp>
        <p:nvSpPr>
          <p:cNvPr id="266" name="Google Shape;266;p29"/>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a:solidFill>
                  <a:schemeClr val="lt1"/>
                </a:solidFill>
                <a:latin typeface="Poppins"/>
                <a:ea typeface="Poppins"/>
                <a:cs typeface="Poppins"/>
                <a:sym typeface="Poppins"/>
              </a:rPr>
              <a:t>Complete the packet before the Gate review.</a:t>
            </a:r>
            <a:endParaRPr>
              <a:solidFill>
                <a:schemeClr val="lt1"/>
              </a:solidFill>
              <a:latin typeface="Poppins"/>
              <a:ea typeface="Poppins"/>
              <a:cs typeface="Poppins"/>
              <a:sym typeface="Poppins"/>
            </a:endParaRPr>
          </a:p>
        </p:txBody>
      </p:sp>
      <p:sp>
        <p:nvSpPr>
          <p:cNvPr id="267" name="Google Shape;267;p29"/>
          <p:cNvSpPr/>
          <p:nvPr/>
        </p:nvSpPr>
        <p:spPr>
          <a:xfrm>
            <a:off x="860475" y="1568525"/>
            <a:ext cx="7108800" cy="3030000"/>
          </a:xfrm>
          <a:prstGeom prst="roundRect">
            <a:avLst>
              <a:gd fmla="val 16667" name="adj"/>
            </a:avLst>
          </a:prstGeom>
          <a:solidFill>
            <a:srgbClr val="351C75"/>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ctr" bIns="106375" lIns="106375" spcFirstLastPara="1" rIns="106375" wrap="square" tIns="106375">
            <a:noAutofit/>
          </a:bodyPr>
          <a:lstStyle/>
          <a:p>
            <a:pPr indent="0" lvl="0" marL="0" rtl="0" algn="l">
              <a:lnSpc>
                <a:spcPct val="115000"/>
              </a:lnSpc>
              <a:spcBef>
                <a:spcPts val="0"/>
              </a:spcBef>
              <a:spcAft>
                <a:spcPts val="0"/>
              </a:spcAft>
              <a:buNone/>
            </a:pPr>
            <a:r>
              <a:rPr lang="en" sz="1300">
                <a:solidFill>
                  <a:schemeClr val="lt2"/>
                </a:solidFill>
              </a:rPr>
              <a:t>☐ Reusable asset in MD format</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Evidence of testing the asset on a second, different real task</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Asset shared to the team library</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Mock interview completed</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Partner feedback notes</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QA Coach feedback notes</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Strict-mode Leveling interview transcript</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Result appended to assessment tracker</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Full program tracker updated</a:t>
            </a:r>
            <a:endParaRPr sz="1300">
              <a:solidFill>
                <a:schemeClr val="lt2"/>
              </a:solidFill>
            </a:endParaRPr>
          </a:p>
          <a:p>
            <a:pPr indent="0" lvl="0" marL="0" rtl="0" algn="l">
              <a:lnSpc>
                <a:spcPct val="115000"/>
              </a:lnSpc>
              <a:spcBef>
                <a:spcPts val="0"/>
              </a:spcBef>
              <a:spcAft>
                <a:spcPts val="0"/>
              </a:spcAft>
              <a:buNone/>
            </a:pPr>
            <a:r>
              <a:rPr lang="en" sz="1300">
                <a:solidFill>
                  <a:schemeClr val="lt2"/>
                </a:solidFill>
              </a:rPr>
              <a:t>☐ Validation Checklist use visible across Weeks 2–4</a:t>
            </a:r>
            <a:endParaRPr sz="1300">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71" name="Shape 271"/>
        <p:cNvGrpSpPr/>
        <p:nvPr/>
      </p:nvGrpSpPr>
      <p:grpSpPr>
        <a:xfrm>
          <a:off x="0" y="0"/>
          <a:ext cx="0" cy="0"/>
          <a:chOff x="0" y="0"/>
          <a:chExt cx="0" cy="0"/>
        </a:xfrm>
      </p:grpSpPr>
      <p:pic>
        <p:nvPicPr>
          <p:cNvPr id="272" name="Google Shape;272;p30"/>
          <p:cNvPicPr preferRelativeResize="0"/>
          <p:nvPr/>
        </p:nvPicPr>
        <p:blipFill>
          <a:blip r:embed="rId3">
            <a:alphaModFix amt="5000"/>
          </a:blip>
          <a:stretch>
            <a:fillRect/>
          </a:stretch>
        </p:blipFill>
        <p:spPr>
          <a:xfrm>
            <a:off x="3592905" y="-647761"/>
            <a:ext cx="5662948" cy="6097674"/>
          </a:xfrm>
          <a:prstGeom prst="rect">
            <a:avLst/>
          </a:prstGeom>
          <a:noFill/>
          <a:ln>
            <a:noFill/>
          </a:ln>
        </p:spPr>
      </p:pic>
      <p:pic>
        <p:nvPicPr>
          <p:cNvPr id="273" name="Google Shape;273;p30"/>
          <p:cNvPicPr preferRelativeResize="0"/>
          <p:nvPr/>
        </p:nvPicPr>
        <p:blipFill>
          <a:blip r:embed="rId4">
            <a:alphaModFix/>
          </a:blip>
          <a:stretch>
            <a:fillRect/>
          </a:stretch>
        </p:blipFill>
        <p:spPr>
          <a:xfrm>
            <a:off x="147800" y="4833018"/>
            <a:ext cx="781539" cy="182880"/>
          </a:xfrm>
          <a:prstGeom prst="rect">
            <a:avLst/>
          </a:prstGeom>
          <a:noFill/>
          <a:ln>
            <a:noFill/>
          </a:ln>
        </p:spPr>
      </p:pic>
      <p:sp>
        <p:nvSpPr>
          <p:cNvPr id="274" name="Google Shape;274;p30"/>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75" name="Google Shape;275;p30"/>
          <p:cNvPicPr preferRelativeResize="0"/>
          <p:nvPr/>
        </p:nvPicPr>
        <p:blipFill>
          <a:blip r:embed="rId6">
            <a:alphaModFix/>
          </a:blip>
          <a:stretch>
            <a:fillRect/>
          </a:stretch>
        </p:blipFill>
        <p:spPr>
          <a:xfrm>
            <a:off x="8274176" y="74417"/>
            <a:ext cx="781550" cy="781550"/>
          </a:xfrm>
          <a:prstGeom prst="rect">
            <a:avLst/>
          </a:prstGeom>
          <a:noFill/>
          <a:ln>
            <a:noFill/>
          </a:ln>
        </p:spPr>
      </p:pic>
      <p:sp>
        <p:nvSpPr>
          <p:cNvPr id="276" name="Google Shape;276;p30"/>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oppins SemiBold"/>
                <a:ea typeface="Poppins SemiBold"/>
                <a:cs typeface="Poppins SemiBold"/>
                <a:sym typeface="Poppins SemiBold"/>
              </a:rPr>
              <a:t>Week 4 Takeaway</a:t>
            </a:r>
            <a:endParaRPr sz="1900">
              <a:solidFill>
                <a:schemeClr val="lt1"/>
              </a:solidFill>
              <a:latin typeface="Poppins SemiBold"/>
              <a:ea typeface="Poppins SemiBold"/>
              <a:cs typeface="Poppins SemiBold"/>
              <a:sym typeface="Poppins SemiBold"/>
            </a:endParaRPr>
          </a:p>
        </p:txBody>
      </p:sp>
      <p:sp>
        <p:nvSpPr>
          <p:cNvPr id="277" name="Google Shape;277;p30"/>
          <p:cNvSpPr txBox="1"/>
          <p:nvPr/>
        </p:nvSpPr>
        <p:spPr>
          <a:xfrm>
            <a:off x="731800" y="1014300"/>
            <a:ext cx="6899700" cy="609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 sz="1200">
                <a:solidFill>
                  <a:schemeClr val="lt1"/>
                </a:solidFill>
                <a:latin typeface="Poppins"/>
                <a:ea typeface="Poppins"/>
                <a:cs typeface="Poppins"/>
                <a:sym typeface="Poppins"/>
              </a:rPr>
              <a:t>Level 3 is not just knowing how to use AI — it is integrating, validating, reusing, and explaining the workflow.</a:t>
            </a:r>
            <a:endParaRPr sz="1200">
              <a:solidFill>
                <a:schemeClr val="lt1"/>
              </a:solidFill>
              <a:latin typeface="Poppins"/>
              <a:ea typeface="Poppins"/>
              <a:cs typeface="Poppins"/>
              <a:sym typeface="Poppins"/>
            </a:endParaRPr>
          </a:p>
        </p:txBody>
      </p:sp>
      <p:sp>
        <p:nvSpPr>
          <p:cNvPr id="278" name="Google Shape;278;p30"/>
          <p:cNvSpPr/>
          <p:nvPr/>
        </p:nvSpPr>
        <p:spPr>
          <a:xfrm>
            <a:off x="860475" y="1782150"/>
            <a:ext cx="7108800" cy="2816400"/>
          </a:xfrm>
          <a:prstGeom prst="roundRect">
            <a:avLst>
              <a:gd fmla="val 16667" name="adj"/>
            </a:avLst>
          </a:prstGeom>
          <a:solidFill>
            <a:srgbClr val="351C75"/>
          </a:solidFill>
          <a:ln cap="flat" cmpd="sng" w="11075">
            <a:solidFill>
              <a:srgbClr val="FFD966"/>
            </a:solidFill>
            <a:prstDash val="solid"/>
            <a:round/>
            <a:headEnd len="sm" w="sm" type="none"/>
            <a:tailEnd len="sm" w="sm" type="none"/>
          </a:ln>
          <a:effectLst>
            <a:outerShdw blurRad="99744" rotWithShape="0" algn="bl" dir="3900000" dist="55414">
              <a:srgbClr val="000000">
                <a:alpha val="21000"/>
              </a:srgbClr>
            </a:outerShdw>
          </a:effectLst>
        </p:spPr>
        <p:txBody>
          <a:bodyPr anchorCtr="0" anchor="ctr" bIns="106375" lIns="106375" spcFirstLastPara="1" rIns="106375" wrap="square" tIns="106375">
            <a:noAutofit/>
          </a:bodyPr>
          <a:lstStyle/>
          <a:p>
            <a:pPr indent="0" lvl="0" marL="0" rtl="0" algn="ctr">
              <a:lnSpc>
                <a:spcPct val="100000"/>
              </a:lnSpc>
              <a:spcBef>
                <a:spcPts val="0"/>
              </a:spcBef>
              <a:spcAft>
                <a:spcPts val="0"/>
              </a:spcAft>
              <a:buNone/>
            </a:pPr>
            <a:r>
              <a:rPr b="1" lang="en">
                <a:solidFill>
                  <a:schemeClr val="lt1"/>
                </a:solidFill>
              </a:rPr>
              <a:t>BUILD → TEST → SHARE</a:t>
            </a:r>
            <a:endParaRPr b="1">
              <a:solidFill>
                <a:schemeClr val="lt1"/>
              </a:solidFill>
            </a:endParaRPr>
          </a:p>
          <a:p>
            <a:pPr indent="0" lvl="0" marL="0" rtl="0" algn="ctr">
              <a:lnSpc>
                <a:spcPct val="100000"/>
              </a:lnSpc>
              <a:spcBef>
                <a:spcPts val="1000"/>
              </a:spcBef>
              <a:spcAft>
                <a:spcPts val="0"/>
              </a:spcAft>
              <a:buNone/>
            </a:pPr>
            <a:r>
              <a:rPr b="1" lang="en" sz="1600">
                <a:solidFill>
                  <a:srgbClr val="B6D7A8"/>
                </a:solidFill>
              </a:rPr>
              <a:t>PRACTICE → FEEDBACK → IMPROVE</a:t>
            </a:r>
            <a:endParaRPr b="1" sz="1600">
              <a:solidFill>
                <a:srgbClr val="B6D7A8"/>
              </a:solidFill>
            </a:endParaRPr>
          </a:p>
          <a:p>
            <a:pPr indent="0" lvl="0" marL="0" rtl="0" algn="ctr">
              <a:lnSpc>
                <a:spcPct val="100000"/>
              </a:lnSpc>
              <a:spcBef>
                <a:spcPts val="1000"/>
              </a:spcBef>
              <a:spcAft>
                <a:spcPts val="0"/>
              </a:spcAft>
              <a:buNone/>
            </a:pPr>
            <a:r>
              <a:rPr b="1" lang="en" sz="1600">
                <a:solidFill>
                  <a:srgbClr val="B6D7A8"/>
                </a:solidFill>
              </a:rPr>
              <a:t>REASSESS → SUSTAIN</a:t>
            </a:r>
            <a:endParaRPr b="1" sz="1600">
              <a:solidFill>
                <a:srgbClr val="B6D7A8"/>
              </a:solidFill>
            </a:endParaRPr>
          </a:p>
          <a:p>
            <a:pPr indent="0" lvl="0" marL="0" rtl="0" algn="ctr">
              <a:lnSpc>
                <a:spcPct val="100000"/>
              </a:lnSpc>
              <a:spcBef>
                <a:spcPts val="1000"/>
              </a:spcBef>
              <a:spcAft>
                <a:spcPts val="0"/>
              </a:spcAft>
              <a:buNone/>
            </a:pPr>
            <a:r>
              <a:t/>
            </a:r>
            <a:endParaRPr b="1" sz="1600">
              <a:solidFill>
                <a:srgbClr val="B6D7A8"/>
              </a:solidFill>
            </a:endParaRPr>
          </a:p>
          <a:p>
            <a:pPr indent="0" lvl="0" marL="0" rtl="0" algn="ctr">
              <a:lnSpc>
                <a:spcPct val="100000"/>
              </a:lnSpc>
              <a:spcBef>
                <a:spcPts val="1000"/>
              </a:spcBef>
              <a:spcAft>
                <a:spcPts val="0"/>
              </a:spcAft>
              <a:buNone/>
            </a:pPr>
            <a:r>
              <a:rPr lang="en">
                <a:solidFill>
                  <a:srgbClr val="D9D9D9"/>
                </a:solidFill>
              </a:rPr>
              <a:t>The Level 3 habit should survive beyond Week 4.</a:t>
            </a:r>
            <a:endParaRPr>
              <a:solidFill>
                <a:srgbClr val="D9D9D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